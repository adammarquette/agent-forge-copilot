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One line: this is an AI copilot embedded in OpenEMR for one narrow user — an outpatient cardiologist in the 90 seconds between rooms. It's a sidecar over OpenEMR v8, .NET 10, integrating through SMART-on-FHIR. I'll spend the 5 minutes on the three decisions that carry the design, not a feature tour.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[0:25–1:05] The user defines everything. A cardiologist has ~90 seconds between rooms to reconstruct a longitudinal patient. The job is 'what changed + what matters today', not generic Q&amp;A. The hard constraint that shapes the whole architecture: a confident hallucination can harm a patient, so grounding is non-negotiable. And it's an agent, not a dashboard, because the value is prioritization plus a grounded follow-up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[1:05–1:55] The spine. Left: OpenEMR v8, forked but core untouched — we only add a thin module that iFrames the copilot. Right: the .NET sidecar with four parts — BFF for token custody, the orchestrator running the multi-turn loop, MCP tools over FHIR, and the verification layer. All PHI is read through OpenEMR's FHIR API using the clinician's own token. The sidecar never touches the database directly. Point to the two arrows: SMART launch establishes identity; every data read is a clinician-scoped FHIR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[1:55–2:45] My strongest decision. Every PHI read uses the clinician's own OAuth identity via SMART launch — confirmed supported in the fork. So the copilot can never see more than the requesting user could; OpenEMR's ACLs do the enforcing. Critically, that enforcement is below the model, so prompt injection can't widen access. Tokens stay server-side in a BFF, never in the iFrame. The alternative — a service account with broad scope — would collapse both the access model and per-user audit. Passthrough gives me ACL fidelity and audit attribution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[2:45–3:35] Verification is the trust core, and it's two layers. One: source attribution — every claim must resolve to a FHIR resource a tool actually pulled, or it's dropped. Two — and this is the cardiology payoff — a domain-constraint rules layer: INR ranges, QT combos, renal dosing, potassium on ACE inhibitors. Both run in the sidecar before anything reaches the clinician. Be honest about the gap: citation checking catches unsupported claims, but not a subtly wrong synthesis like a stale med reconciliation. I mitigate with extractive framing and 'data as of' stamps, and I document it rather than hide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[3:35–4:15] Decision three ties integration and governance together. Sidecar not fork: we only touch OpenEMR through its certified FHIR/OAuth/SMART surfaces, so the core stays upgrade-safe and certifiable. The MCP tool layer is deliberate — narrow, read-only tools express HIPAA minimum-necessary as tool design, and it's my single audit and provenance choke point, with strict schemas as the contract of record. And it's a genuine multi-turn agent: the grounded follow-up loop is exactly what justifies 'agent' over a report generator.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[4:15–4:55] The honest slide, since this is a defense. Deliberate tradeoffs: I favor a fast verified core over completeness within the window; one provider behind a seam; and I explicitly deferred the morning-triage batch to Phase-2 because it introduces headless auth and a new PHI store. Where I'm genuinely unsure: demo data quality, extracting EF/echo/device from narrative reports, and the exact ACL granularity for a supervised fellow. Those are the provisional items I'd close with the running audit. Happy to go deeper on any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for Q&amp;A, not the 5-min clock] Flip here if the room goes quiet or to pre-empt. These are the four most likely probes: failure handling, MCP-vs-API, scale, and my worst failure mode. Answer briefly, invite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3F"/>
        </a:solidFill>
      </p:bgPr>
    </p:bg>
    <p:spTree>
      <p:nvGrpSpPr>
        <p:cNvPr id="1" name=""/>
        <p:cNvGrpSpPr/>
        <p:nvPr/>
      </p:nvGrpSpPr>
      <p:grpSpPr>
        <a:xfrm>
          <a:off x="0" y="0"/>
          <a:ext cx="0" cy="0"/>
          <a:chOff x="0" y="0"/>
          <a:chExt cx="0" cy="0"/>
        </a:xfrm>
      </p:grpSpPr>
      <p:sp>
        <p:nvSpPr>
          <p:cNvPr id="2" name="Shape 0"/>
          <p:cNvSpPr/>
          <p:nvPr/>
        </p:nvSpPr>
        <p:spPr>
          <a:xfrm>
            <a:off x="9509760" y="-1463040"/>
            <a:ext cx="4754880" cy="4754880"/>
          </a:xfrm>
          <a:prstGeom prst="ellipse">
            <a:avLst/>
          </a:prstGeom>
          <a:solidFill>
            <a:srgbClr val="028090">
              <a:alpha val="22000"/>
            </a:srgbClr>
          </a:solidFill>
          <a:ln/>
        </p:spPr>
      </p:sp>
      <p:sp>
        <p:nvSpPr>
          <p:cNvPr id="3" name="Shape 1"/>
          <p:cNvSpPr/>
          <p:nvPr/>
        </p:nvSpPr>
        <p:spPr>
          <a:xfrm>
            <a:off x="10607040" y="3474720"/>
            <a:ext cx="3840480" cy="3840480"/>
          </a:xfrm>
          <a:prstGeom prst="ellipse">
            <a:avLst/>
          </a:prstGeom>
          <a:solidFill>
            <a:srgbClr val="02C39A">
              <a:alpha val="16000"/>
            </a:srgbClr>
          </a:solidFill>
          <a:ln/>
        </p:spPr>
      </p:sp>
      <p:sp>
        <p:nvSpPr>
          <p:cNvPr id="4" name="Shape 2"/>
          <p:cNvSpPr/>
          <p:nvPr/>
        </p:nvSpPr>
        <p:spPr>
          <a:xfrm>
            <a:off x="914400" y="1371600"/>
            <a:ext cx="960120" cy="960120"/>
          </a:xfrm>
          <a:prstGeom prst="ellipse">
            <a:avLst/>
          </a:prstGeom>
          <a:solidFill>
            <a:srgbClr val="028090"/>
          </a:solidFill>
          <a:ln/>
        </p:spPr>
      </p:sp>
      <p:pic>
        <p:nvPicPr>
          <p:cNvPr id="5" name="Image 0" descr="preencoded.png">    </p:cNvPr>
          <p:cNvPicPr>
            <a:picLocks noChangeAspect="1"/>
          </p:cNvPicPr>
          <p:nvPr/>
        </p:nvPicPr>
        <p:blipFill>
          <a:blip r:embed="rId1"/>
          <a:stretch>
            <a:fillRect/>
          </a:stretch>
        </p:blipFill>
        <p:spPr>
          <a:xfrm>
            <a:off x="1144829" y="1602029"/>
            <a:ext cx="499262" cy="499262"/>
          </a:xfrm>
          <a:prstGeom prst="rect">
            <a:avLst/>
          </a:prstGeom>
        </p:spPr>
      </p:pic>
      <p:sp>
        <p:nvSpPr>
          <p:cNvPr id="6" name="Text 3"/>
          <p:cNvSpPr/>
          <p:nvPr/>
        </p:nvSpPr>
        <p:spPr>
          <a:xfrm>
            <a:off x="914400" y="2514600"/>
            <a:ext cx="10058400" cy="365760"/>
          </a:xfrm>
          <a:prstGeom prst="rect">
            <a:avLst/>
          </a:prstGeom>
          <a:noFill/>
          <a:ln/>
        </p:spPr>
        <p:txBody>
          <a:bodyPr wrap="square" rtlCol="0" anchor="ctr"/>
          <a:lstStyle/>
          <a:p>
            <a:pPr indent="0" marL="0">
              <a:buNone/>
            </a:pPr>
            <a:r>
              <a:rPr lang="en-US" sz="1400" b="1" spc="300" kern="0" dirty="0">
                <a:solidFill>
                  <a:srgbClr val="02C39A"/>
                </a:solidFill>
                <a:latin typeface="Calibri" pitchFamily="34" charset="0"/>
                <a:ea typeface="Calibri" pitchFamily="34" charset="-122"/>
                <a:cs typeface="Calibri" pitchFamily="34" charset="-120"/>
              </a:rPr>
              <a:t>Architecture Defense</a:t>
            </a:r>
            <a:endParaRPr lang="en-US" sz="1400" dirty="0"/>
          </a:p>
        </p:txBody>
      </p:sp>
      <p:sp>
        <p:nvSpPr>
          <p:cNvPr id="7" name="Text 4"/>
          <p:cNvSpPr/>
          <p:nvPr/>
        </p:nvSpPr>
        <p:spPr>
          <a:xfrm>
            <a:off x="914400" y="2880360"/>
            <a:ext cx="10424160" cy="86868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AgentForge Clinical Co-Pilot</a:t>
            </a:r>
            <a:endParaRPr lang="en-US" sz="4600" dirty="0"/>
          </a:p>
        </p:txBody>
      </p:sp>
      <p:sp>
        <p:nvSpPr>
          <p:cNvPr id="8" name="Text 5"/>
          <p:cNvSpPr/>
          <p:nvPr/>
        </p:nvSpPr>
        <p:spPr>
          <a:xfrm>
            <a:off x="914400" y="3794760"/>
            <a:ext cx="10058400" cy="457200"/>
          </a:xfrm>
          <a:prstGeom prst="rect">
            <a:avLst/>
          </a:prstGeom>
          <a:noFill/>
          <a:ln/>
        </p:spPr>
        <p:txBody>
          <a:bodyPr wrap="square" rtlCol="0" anchor="ctr"/>
          <a:lstStyle/>
          <a:p>
            <a:pPr indent="0" marL="0">
              <a:buNone/>
            </a:pPr>
            <a:r>
              <a:rPr lang="en-US" sz="1800" dirty="0">
                <a:solidFill>
                  <a:srgbClr val="CFE6E6"/>
                </a:solidFill>
                <a:latin typeface="Calibri" pitchFamily="34" charset="0"/>
                <a:ea typeface="Calibri" pitchFamily="34" charset="-122"/>
                <a:cs typeface="Calibri" pitchFamily="34" charset="-120"/>
              </a:rPr>
              <a:t>An AI agent embedded in OpenEMR for the outpatient cardiologist</a:t>
            </a:r>
            <a:endParaRPr lang="en-US" sz="1800" dirty="0"/>
          </a:p>
        </p:txBody>
      </p:sp>
      <p:sp>
        <p:nvSpPr>
          <p:cNvPr id="9" name="Text 6"/>
          <p:cNvSpPr/>
          <p:nvPr/>
        </p:nvSpPr>
        <p:spPr>
          <a:xfrm>
            <a:off x="914400" y="4709160"/>
            <a:ext cx="100584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Sidecar over OpenEMR v8</a:t>
            </a:r>
            <a:pPr indent="0" marL="0">
              <a:buNone/>
            </a:pPr>
            <a:r>
              <a:rPr lang="en-US" sz="1400" b="1" dirty="0">
                <a:solidFill>
                  <a:srgbClr val="CFE6E6"/>
                </a:solidFill>
                <a:latin typeface="Calibri" pitchFamily="34" charset="0"/>
                <a:ea typeface="Calibri" pitchFamily="34" charset="-122"/>
                <a:cs typeface="Calibri" pitchFamily="34" charset="-120"/>
              </a:rPr>
              <a:t>   ·   .NET 10 LTS</a:t>
            </a:r>
            <a:pPr indent="0" marL="0">
              <a:buNone/>
            </a:pPr>
            <a:r>
              <a:rPr lang="en-US" sz="1400" b="1" dirty="0">
                <a:solidFill>
                  <a:srgbClr val="CFE6E6"/>
                </a:solidFill>
                <a:latin typeface="Calibri" pitchFamily="34" charset="0"/>
                <a:ea typeface="Calibri" pitchFamily="34" charset="-122"/>
                <a:cs typeface="Calibri" pitchFamily="34" charset="-120"/>
              </a:rPr>
              <a:t>   ·   SMART-on-FHIR + MCP</a:t>
            </a:r>
            <a:endParaRPr lang="en-US" sz="1400" dirty="0"/>
          </a:p>
        </p:txBody>
      </p:sp>
      <p:sp>
        <p:nvSpPr>
          <p:cNvPr id="10" name="Text 7"/>
          <p:cNvSpPr/>
          <p:nvPr/>
        </p:nvSpPr>
        <p:spPr>
          <a:xfrm>
            <a:off x="914400" y="5852160"/>
            <a:ext cx="5486400" cy="365760"/>
          </a:xfrm>
          <a:prstGeom prst="rect">
            <a:avLst/>
          </a:prstGeom>
          <a:noFill/>
          <a:ln/>
        </p:spPr>
        <p:txBody>
          <a:bodyPr wrap="square" rtlCol="0" anchor="ctr"/>
          <a:lstStyle/>
          <a:p>
            <a:pPr indent="0" marL="0">
              <a:buNone/>
            </a:pPr>
            <a:r>
              <a:rPr lang="en-US" sz="1300" dirty="0">
                <a:solidFill>
                  <a:srgbClr val="9CC3C3"/>
                </a:solidFill>
                <a:latin typeface="Calibri" pitchFamily="34" charset="0"/>
                <a:ea typeface="Calibri" pitchFamily="34" charset="-122"/>
                <a:cs typeface="Calibri" pitchFamily="34" charset="-120"/>
              </a:rPr>
              <a:t>Adam Marquette</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502920" cy="502920"/>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806501" y="577901"/>
            <a:ext cx="261518" cy="261518"/>
          </a:xfrm>
          <a:prstGeom prst="rect">
            <a:avLst/>
          </a:prstGeom>
        </p:spPr>
      </p:pic>
      <p:sp>
        <p:nvSpPr>
          <p:cNvPr id="4" name="Text 1"/>
          <p:cNvSpPr/>
          <p:nvPr/>
        </p:nvSpPr>
        <p:spPr>
          <a:xfrm>
            <a:off x="1325880" y="502920"/>
            <a:ext cx="9144000" cy="320040"/>
          </a:xfrm>
          <a:prstGeom prst="rect">
            <a:avLst/>
          </a:prstGeom>
          <a:noFill/>
          <a:ln/>
        </p:spPr>
        <p:txBody>
          <a:bodyPr wrap="square" lIns="0" tIns="0" rIns="0" bIns="0"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THE CORE PROBLEM</a:t>
            </a:r>
            <a:endParaRPr lang="en-US" sz="1200" dirty="0"/>
          </a:p>
        </p:txBody>
      </p:sp>
      <p:sp>
        <p:nvSpPr>
          <p:cNvPr id="5" name="Text 2"/>
          <p:cNvSpPr/>
          <p:nvPr/>
        </p:nvSpPr>
        <p:spPr>
          <a:xfrm>
            <a:off x="1325880" y="786384"/>
            <a:ext cx="10241280" cy="777240"/>
          </a:xfrm>
          <a:prstGeom prst="rect">
            <a:avLst/>
          </a:prstGeom>
          <a:noFill/>
          <a:ln/>
        </p:spPr>
        <p:txBody>
          <a:bodyPr wrap="square" lIns="0" tIns="0" rIns="0" bIns="0" rtlCol="0" anchor="ctr"/>
          <a:lstStyle/>
          <a:p>
            <a:pPr indent="0" marL="0">
              <a:buNone/>
            </a:pPr>
            <a:r>
              <a:rPr lang="en-US" sz="3000" b="1" dirty="0">
                <a:solidFill>
                  <a:srgbClr val="13333A"/>
                </a:solidFill>
                <a:latin typeface="Cambria" pitchFamily="34" charset="0"/>
                <a:ea typeface="Cambria" pitchFamily="34" charset="-122"/>
                <a:cs typeface="Cambria" pitchFamily="34" charset="-120"/>
              </a:rPr>
              <a:t>Trust, under a 90-second clock</a:t>
            </a:r>
            <a:endParaRPr lang="en-US" sz="3000" dirty="0"/>
          </a:p>
        </p:txBody>
      </p:sp>
      <p:sp>
        <p:nvSpPr>
          <p:cNvPr id="6" name="Shape 3"/>
          <p:cNvSpPr/>
          <p:nvPr/>
        </p:nvSpPr>
        <p:spPr>
          <a:xfrm>
            <a:off x="685800" y="1874520"/>
            <a:ext cx="3200400" cy="4297680"/>
          </a:xfrm>
          <a:prstGeom prst="roundRect">
            <a:avLst>
              <a:gd name="adj" fmla="val 3429"/>
            </a:avLst>
          </a:prstGeom>
          <a:solidFill>
            <a:srgbClr val="0B3B3F"/>
          </a:solidFill>
          <a:ln/>
          <a:effectLst>
            <a:outerShdw sx="100000" sy="100000" kx="0" ky="0" algn="bl" rotWithShape="0" blurRad="88900" dist="38100" dir="5400000">
              <a:srgbClr val="0B3B3F">
                <a:alpha val="16000"/>
              </a:srgbClr>
            </a:outerShdw>
          </a:effectLst>
        </p:spPr>
      </p:sp>
      <p:sp>
        <p:nvSpPr>
          <p:cNvPr id="7" name="Text 4"/>
          <p:cNvSpPr/>
          <p:nvPr/>
        </p:nvSpPr>
        <p:spPr>
          <a:xfrm>
            <a:off x="685800" y="2514600"/>
            <a:ext cx="3200400" cy="1188720"/>
          </a:xfrm>
          <a:prstGeom prst="rect">
            <a:avLst/>
          </a:prstGeom>
          <a:noFill/>
          <a:ln/>
        </p:spPr>
        <p:txBody>
          <a:bodyPr wrap="square" lIns="0" tIns="0" rIns="0" bIns="0" rtlCol="0" anchor="ctr"/>
          <a:lstStyle/>
          <a:p>
            <a:pPr algn="ctr" indent="0" marL="0">
              <a:buNone/>
            </a:pPr>
            <a:r>
              <a:rPr lang="en-US" sz="8800" b="1" dirty="0">
                <a:solidFill>
                  <a:srgbClr val="02C39A"/>
                </a:solidFill>
                <a:latin typeface="Cambria" pitchFamily="34" charset="0"/>
                <a:ea typeface="Cambria" pitchFamily="34" charset="-122"/>
                <a:cs typeface="Cambria" pitchFamily="34" charset="-120"/>
              </a:rPr>
              <a:t>90</a:t>
            </a:r>
            <a:endParaRPr lang="en-US" sz="8800" dirty="0"/>
          </a:p>
        </p:txBody>
      </p:sp>
      <p:sp>
        <p:nvSpPr>
          <p:cNvPr id="8" name="Text 5"/>
          <p:cNvSpPr/>
          <p:nvPr/>
        </p:nvSpPr>
        <p:spPr>
          <a:xfrm>
            <a:off x="685800" y="3703320"/>
            <a:ext cx="3200400" cy="457200"/>
          </a:xfrm>
          <a:prstGeom prst="rect">
            <a:avLst/>
          </a:prstGeom>
          <a:noFill/>
          <a:ln/>
        </p:spPr>
        <p:txBody>
          <a:bodyPr wrap="square" rtlCol="0" anchor="ctr"/>
          <a:lstStyle/>
          <a:p>
            <a:pPr algn="ctr" indent="0" marL="0">
              <a:buNone/>
            </a:pPr>
            <a:r>
              <a:rPr lang="en-US" sz="1500" dirty="0">
                <a:solidFill>
                  <a:srgbClr val="CFE6E6"/>
                </a:solidFill>
                <a:latin typeface="Calibri" pitchFamily="34" charset="0"/>
                <a:ea typeface="Calibri" pitchFamily="34" charset="-122"/>
                <a:cs typeface="Calibri" pitchFamily="34" charset="-120"/>
              </a:rPr>
              <a:t>seconds between rooms</a:t>
            </a:r>
            <a:endParaRPr lang="en-US" sz="1500" dirty="0"/>
          </a:p>
        </p:txBody>
      </p:sp>
      <p:sp>
        <p:nvSpPr>
          <p:cNvPr id="9" name="Text 6"/>
          <p:cNvSpPr/>
          <p:nvPr/>
        </p:nvSpPr>
        <p:spPr>
          <a:xfrm>
            <a:off x="822960" y="4297680"/>
            <a:ext cx="2926080" cy="1280160"/>
          </a:xfrm>
          <a:prstGeom prst="rect">
            <a:avLst/>
          </a:prstGeom>
          <a:noFill/>
          <a:ln/>
        </p:spPr>
        <p:txBody>
          <a:bodyPr wrap="square" rtlCol="0" anchor="ctr"/>
          <a:lstStyle/>
          <a:p>
            <a:pPr algn="ctr" indent="0" marL="0">
              <a:buNone/>
            </a:pPr>
            <a:r>
              <a:rPr lang="en-US" sz="1300" dirty="0">
                <a:solidFill>
                  <a:srgbClr val="9CC3C3"/>
                </a:solidFill>
                <a:latin typeface="Calibri" pitchFamily="34" charset="0"/>
                <a:ea typeface="Calibri" pitchFamily="34" charset="-122"/>
                <a:cs typeface="Calibri" pitchFamily="34" charset="-120"/>
              </a:rPr>
              <a:t>to reconstruct a patient</a:t>
            </a:r>
            <a:endParaRPr lang="en-US" sz="1300" dirty="0"/>
          </a:p>
          <a:p>
            <a:pPr algn="ctr" indent="0" marL="0">
              <a:buNone/>
            </a:pPr>
            <a:r>
              <a:rPr lang="en-US" sz="1300" dirty="0">
                <a:solidFill>
                  <a:srgbClr val="9CC3C3"/>
                </a:solidFill>
                <a:latin typeface="Calibri" pitchFamily="34" charset="0"/>
                <a:ea typeface="Calibri" pitchFamily="34" charset="-122"/>
                <a:cs typeface="Calibri" pitchFamily="34" charset="-120"/>
              </a:rPr>
              <a:t>they last saw months ago</a:t>
            </a:r>
            <a:endParaRPr lang="en-US" sz="1300" dirty="0"/>
          </a:p>
        </p:txBody>
      </p:sp>
      <p:sp>
        <p:nvSpPr>
          <p:cNvPr id="10" name="Shape 7"/>
          <p:cNvSpPr/>
          <p:nvPr/>
        </p:nvSpPr>
        <p:spPr>
          <a:xfrm>
            <a:off x="4160520" y="1874520"/>
            <a:ext cx="7315200" cy="1325880"/>
          </a:xfrm>
          <a:prstGeom prst="roundRect">
            <a:avLst>
              <a:gd name="adj" fmla="val 5517"/>
            </a:avLst>
          </a:prstGeom>
          <a:solidFill>
            <a:srgbClr val="EEF6F6"/>
          </a:solidFill>
          <a:ln/>
        </p:spPr>
      </p:sp>
      <p:sp>
        <p:nvSpPr>
          <p:cNvPr id="11" name="Text 8"/>
          <p:cNvSpPr/>
          <p:nvPr/>
        </p:nvSpPr>
        <p:spPr>
          <a:xfrm>
            <a:off x="4389120" y="2002536"/>
            <a:ext cx="694944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job</a:t>
            </a:r>
            <a:endParaRPr lang="en-US" sz="1600" dirty="0"/>
          </a:p>
        </p:txBody>
      </p:sp>
      <p:sp>
        <p:nvSpPr>
          <p:cNvPr id="12" name="Text 9"/>
          <p:cNvSpPr/>
          <p:nvPr/>
        </p:nvSpPr>
        <p:spPr>
          <a:xfrm>
            <a:off x="4389120" y="2377440"/>
            <a:ext cx="6903720" cy="749808"/>
          </a:xfrm>
          <a:prstGeom prst="rect">
            <a:avLst/>
          </a:prstGeom>
          <a:noFill/>
          <a:ln/>
        </p:spPr>
        <p:txBody>
          <a:bodyPr wrap="square" lIns="0" tIns="0" rIns="0" bIns="0" rtlCol="0" anchor="ctr"/>
          <a:lstStyle/>
          <a:p>
            <a:pPr indent="0" marL="0">
              <a:buNone/>
            </a:pPr>
            <a:r>
              <a:rPr lang="en-US" sz="1300" dirty="0">
                <a:solidFill>
                  <a:srgbClr val="13333A"/>
                </a:solidFill>
                <a:latin typeface="Calibri" pitchFamily="34" charset="0"/>
                <a:ea typeface="Calibri" pitchFamily="34" charset="-122"/>
                <a:cs typeface="Calibri" pitchFamily="34" charset="-120"/>
              </a:rPr>
              <a:t>Not Q&amp;A — surface what changed since last visit and what matters today: interval events, med changes, out-of-range cardiac labs, safety flags.</a:t>
            </a:r>
            <a:endParaRPr lang="en-US" sz="1300" dirty="0"/>
          </a:p>
        </p:txBody>
      </p:sp>
      <p:sp>
        <p:nvSpPr>
          <p:cNvPr id="13" name="Shape 10"/>
          <p:cNvSpPr/>
          <p:nvPr/>
        </p:nvSpPr>
        <p:spPr>
          <a:xfrm>
            <a:off x="4160520" y="3355848"/>
            <a:ext cx="7315200" cy="1325880"/>
          </a:xfrm>
          <a:prstGeom prst="roundRect">
            <a:avLst>
              <a:gd name="adj" fmla="val 5517"/>
            </a:avLst>
          </a:prstGeom>
          <a:solidFill>
            <a:srgbClr val="EEF6F6"/>
          </a:solidFill>
          <a:ln/>
        </p:spPr>
      </p:sp>
      <p:sp>
        <p:nvSpPr>
          <p:cNvPr id="14" name="Text 11"/>
          <p:cNvSpPr/>
          <p:nvPr/>
        </p:nvSpPr>
        <p:spPr>
          <a:xfrm>
            <a:off x="4389120" y="3483864"/>
            <a:ext cx="694944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The constraint</a:t>
            </a:r>
            <a:endParaRPr lang="en-US" sz="1600" dirty="0"/>
          </a:p>
        </p:txBody>
      </p:sp>
      <p:sp>
        <p:nvSpPr>
          <p:cNvPr id="15" name="Text 12"/>
          <p:cNvSpPr/>
          <p:nvPr/>
        </p:nvSpPr>
        <p:spPr>
          <a:xfrm>
            <a:off x="4389120" y="3858768"/>
            <a:ext cx="6903720" cy="749808"/>
          </a:xfrm>
          <a:prstGeom prst="rect">
            <a:avLst/>
          </a:prstGeom>
          <a:noFill/>
          <a:ln/>
        </p:spPr>
        <p:txBody>
          <a:bodyPr wrap="square" lIns="0" tIns="0" rIns="0" bIns="0" rtlCol="0" anchor="ctr"/>
          <a:lstStyle/>
          <a:p>
            <a:pPr indent="0" marL="0">
              <a:buNone/>
            </a:pPr>
            <a:r>
              <a:rPr lang="en-US" sz="1300" dirty="0">
                <a:solidFill>
                  <a:srgbClr val="13333A"/>
                </a:solidFill>
                <a:latin typeface="Calibri" pitchFamily="34" charset="0"/>
                <a:ea typeface="Calibri" pitchFamily="34" charset="-122"/>
                <a:cs typeface="Calibri" pitchFamily="34" charset="-120"/>
              </a:rPr>
              <a:t>A confidently stated hallucination is a patient-safety event, not a UX bug. Every claim must trace to the record or not be said.</a:t>
            </a:r>
            <a:endParaRPr lang="en-US" sz="1300" dirty="0"/>
          </a:p>
        </p:txBody>
      </p:sp>
      <p:sp>
        <p:nvSpPr>
          <p:cNvPr id="16" name="Shape 13"/>
          <p:cNvSpPr/>
          <p:nvPr/>
        </p:nvSpPr>
        <p:spPr>
          <a:xfrm>
            <a:off x="4160520" y="4837176"/>
            <a:ext cx="7315200" cy="1325880"/>
          </a:xfrm>
          <a:prstGeom prst="roundRect">
            <a:avLst>
              <a:gd name="adj" fmla="val 5517"/>
            </a:avLst>
          </a:prstGeom>
          <a:solidFill>
            <a:srgbClr val="EEF6F6"/>
          </a:solidFill>
          <a:ln/>
        </p:spPr>
      </p:sp>
      <p:sp>
        <p:nvSpPr>
          <p:cNvPr id="17" name="Text 14"/>
          <p:cNvSpPr/>
          <p:nvPr/>
        </p:nvSpPr>
        <p:spPr>
          <a:xfrm>
            <a:off x="4389120" y="4965192"/>
            <a:ext cx="694944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Why an agent</a:t>
            </a:r>
            <a:endParaRPr lang="en-US" sz="1600" dirty="0"/>
          </a:p>
        </p:txBody>
      </p:sp>
      <p:sp>
        <p:nvSpPr>
          <p:cNvPr id="18" name="Text 15"/>
          <p:cNvSpPr/>
          <p:nvPr/>
        </p:nvSpPr>
        <p:spPr>
          <a:xfrm>
            <a:off x="4389120" y="5340096"/>
            <a:ext cx="6903720" cy="749808"/>
          </a:xfrm>
          <a:prstGeom prst="rect">
            <a:avLst/>
          </a:prstGeom>
          <a:noFill/>
          <a:ln/>
        </p:spPr>
        <p:txBody>
          <a:bodyPr wrap="square" lIns="0" tIns="0" rIns="0" bIns="0" rtlCol="0" anchor="ctr"/>
          <a:lstStyle/>
          <a:p>
            <a:pPr indent="0" marL="0">
              <a:buNone/>
            </a:pPr>
            <a:r>
              <a:rPr lang="en-US" sz="1300" dirty="0">
                <a:solidFill>
                  <a:srgbClr val="13333A"/>
                </a:solidFill>
                <a:latin typeface="Calibri" pitchFamily="34" charset="0"/>
                <a:ea typeface="Calibri" pitchFamily="34" charset="-122"/>
                <a:cs typeface="Calibri" pitchFamily="34" charset="-120"/>
              </a:rPr>
              <a:t>Prioritization + a grounded multi-turn follow-up ('is her INR therapeutic?') — a dashboard shows everything and ranks nothing.</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502920" cy="502920"/>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806501" y="577901"/>
            <a:ext cx="261518" cy="261518"/>
          </a:xfrm>
          <a:prstGeom prst="rect">
            <a:avLst/>
          </a:prstGeom>
        </p:spPr>
      </p:pic>
      <p:sp>
        <p:nvSpPr>
          <p:cNvPr id="4" name="Text 1"/>
          <p:cNvSpPr/>
          <p:nvPr/>
        </p:nvSpPr>
        <p:spPr>
          <a:xfrm>
            <a:off x="1325880" y="502920"/>
            <a:ext cx="9144000" cy="320040"/>
          </a:xfrm>
          <a:prstGeom prst="rect">
            <a:avLst/>
          </a:prstGeom>
          <a:noFill/>
          <a:ln/>
        </p:spPr>
        <p:txBody>
          <a:bodyPr wrap="square" lIns="0" tIns="0" rIns="0" bIns="0"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MAJOR COMPONENTS</a:t>
            </a:r>
            <a:endParaRPr lang="en-US" sz="1200" dirty="0"/>
          </a:p>
        </p:txBody>
      </p:sp>
      <p:sp>
        <p:nvSpPr>
          <p:cNvPr id="5" name="Text 2"/>
          <p:cNvSpPr/>
          <p:nvPr/>
        </p:nvSpPr>
        <p:spPr>
          <a:xfrm>
            <a:off x="1325880" y="786384"/>
            <a:ext cx="10241280" cy="777240"/>
          </a:xfrm>
          <a:prstGeom prst="rect">
            <a:avLst/>
          </a:prstGeom>
          <a:noFill/>
          <a:ln/>
        </p:spPr>
        <p:txBody>
          <a:bodyPr wrap="square" lIns="0" tIns="0" rIns="0" bIns="0" rtlCol="0" anchor="ctr"/>
          <a:lstStyle/>
          <a:p>
            <a:pPr indent="0" marL="0">
              <a:buNone/>
            </a:pPr>
            <a:r>
              <a:rPr lang="en-US" sz="3000" b="1" dirty="0">
                <a:solidFill>
                  <a:srgbClr val="13333A"/>
                </a:solidFill>
                <a:latin typeface="Cambria" pitchFamily="34" charset="0"/>
                <a:ea typeface="Cambria" pitchFamily="34" charset="-122"/>
                <a:cs typeface="Cambria" pitchFamily="34" charset="-120"/>
              </a:rPr>
              <a:t>Sidecar over OpenEMR — core untouched</a:t>
            </a:r>
            <a:endParaRPr lang="en-US" sz="3000" dirty="0"/>
          </a:p>
        </p:txBody>
      </p:sp>
      <p:sp>
        <p:nvSpPr>
          <p:cNvPr id="6" name="Shape 3"/>
          <p:cNvSpPr/>
          <p:nvPr/>
        </p:nvSpPr>
        <p:spPr>
          <a:xfrm>
            <a:off x="685800" y="3017520"/>
            <a:ext cx="822960" cy="822960"/>
          </a:xfrm>
          <a:prstGeom prst="ellipse">
            <a:avLst/>
          </a:prstGeom>
          <a:solidFill>
            <a:srgbClr val="00A896"/>
          </a:solidFill>
          <a:ln/>
        </p:spPr>
      </p:sp>
      <p:pic>
        <p:nvPicPr>
          <p:cNvPr id="7" name="Image 1" descr="preencoded.png">    </p:cNvPr>
          <p:cNvPicPr>
            <a:picLocks noChangeAspect="1"/>
          </p:cNvPicPr>
          <p:nvPr/>
        </p:nvPicPr>
        <p:blipFill>
          <a:blip r:embed="rId2"/>
          <a:stretch>
            <a:fillRect/>
          </a:stretch>
        </p:blipFill>
        <p:spPr>
          <a:xfrm>
            <a:off x="883310" y="3215030"/>
            <a:ext cx="427939" cy="427939"/>
          </a:xfrm>
          <a:prstGeom prst="rect">
            <a:avLst/>
          </a:prstGeom>
        </p:spPr>
      </p:pic>
      <p:sp>
        <p:nvSpPr>
          <p:cNvPr id="8" name="Text 4"/>
          <p:cNvSpPr/>
          <p:nvPr/>
        </p:nvSpPr>
        <p:spPr>
          <a:xfrm>
            <a:off x="365760" y="3886200"/>
            <a:ext cx="1463040" cy="274320"/>
          </a:xfrm>
          <a:prstGeom prst="rect">
            <a:avLst/>
          </a:prstGeom>
          <a:noFill/>
          <a:ln/>
        </p:spPr>
        <p:txBody>
          <a:bodyPr wrap="square" lIns="0" tIns="0" rIns="0" bIns="0" rtlCol="0" anchor="ctr"/>
          <a:lstStyle/>
          <a:p>
            <a:pPr algn="ctr" indent="0" marL="0">
              <a:buNone/>
            </a:pPr>
            <a:r>
              <a:rPr lang="en-US" sz="1100" b="1" dirty="0">
                <a:solidFill>
                  <a:srgbClr val="13333A"/>
                </a:solidFill>
                <a:latin typeface="Calibri" pitchFamily="34" charset="0"/>
                <a:ea typeface="Calibri" pitchFamily="34" charset="-122"/>
                <a:cs typeface="Calibri" pitchFamily="34" charset="-120"/>
              </a:rPr>
              <a:t>Cardiologist</a:t>
            </a:r>
            <a:endParaRPr lang="en-US" sz="1100" dirty="0"/>
          </a:p>
        </p:txBody>
      </p:sp>
      <p:sp>
        <p:nvSpPr>
          <p:cNvPr id="9" name="Shape 5"/>
          <p:cNvSpPr/>
          <p:nvPr/>
        </p:nvSpPr>
        <p:spPr>
          <a:xfrm>
            <a:off x="2286000" y="1783080"/>
            <a:ext cx="3977640" cy="4343400"/>
          </a:xfrm>
          <a:prstGeom prst="roundRect">
            <a:avLst>
              <a:gd name="adj" fmla="val 2299"/>
            </a:avLst>
          </a:prstGeom>
          <a:solidFill>
            <a:srgbClr val="F4FAFA"/>
          </a:solidFill>
          <a:ln w="19050">
            <a:solidFill>
              <a:srgbClr val="00A896"/>
            </a:solidFill>
            <a:prstDash val="solid"/>
          </a:ln>
        </p:spPr>
      </p:sp>
      <p:sp>
        <p:nvSpPr>
          <p:cNvPr id="10" name="Text 6"/>
          <p:cNvSpPr/>
          <p:nvPr/>
        </p:nvSpPr>
        <p:spPr>
          <a:xfrm>
            <a:off x="2286000" y="1892808"/>
            <a:ext cx="3977640" cy="320040"/>
          </a:xfrm>
          <a:prstGeom prst="rect">
            <a:avLst/>
          </a:prstGeom>
          <a:noFill/>
          <a:ln/>
        </p:spPr>
        <p:txBody>
          <a:bodyPr wrap="square" lIns="0" tIns="0" rIns="0" bIns="0" rtlCol="0" anchor="ctr"/>
          <a:lstStyle/>
          <a:p>
            <a:pPr algn="ctr" indent="0" marL="0">
              <a:buNone/>
            </a:pPr>
            <a:r>
              <a:rPr lang="en-US" sz="1300" b="1" dirty="0">
                <a:solidFill>
                  <a:srgbClr val="028090"/>
                </a:solidFill>
                <a:latin typeface="Cambria" pitchFamily="34" charset="0"/>
                <a:ea typeface="Cambria" pitchFamily="34" charset="-122"/>
                <a:cs typeface="Cambria" pitchFamily="34" charset="-120"/>
              </a:rPr>
              <a:t>OpenEMR v8  ·  fork, core unmodified</a:t>
            </a:r>
            <a:endParaRPr lang="en-US" sz="1300" dirty="0"/>
          </a:p>
        </p:txBody>
      </p:sp>
      <p:sp>
        <p:nvSpPr>
          <p:cNvPr id="11" name="Shape 7"/>
          <p:cNvSpPr/>
          <p:nvPr/>
        </p:nvSpPr>
        <p:spPr>
          <a:xfrm>
            <a:off x="2560320" y="2350008"/>
            <a:ext cx="3429000" cy="566928"/>
          </a:xfrm>
          <a:prstGeom prst="roundRect">
            <a:avLst>
              <a:gd name="adj" fmla="val 9677"/>
            </a:avLst>
          </a:prstGeom>
          <a:solidFill>
            <a:srgbClr val="FFFFFF"/>
          </a:solidFill>
          <a:ln w="12700">
            <a:solidFill>
              <a:srgbClr val="CBE3E3"/>
            </a:solidFill>
            <a:prstDash val="solid"/>
          </a:ln>
        </p:spPr>
      </p:sp>
      <p:sp>
        <p:nvSpPr>
          <p:cNvPr id="12" name="Text 8"/>
          <p:cNvSpPr/>
          <p:nvPr/>
        </p:nvSpPr>
        <p:spPr>
          <a:xfrm>
            <a:off x="2697480" y="2350008"/>
            <a:ext cx="3200400" cy="566928"/>
          </a:xfrm>
          <a:prstGeom prst="rect">
            <a:avLst/>
          </a:prstGeom>
          <a:noFill/>
          <a:ln/>
        </p:spPr>
        <p:txBody>
          <a:bodyPr wrap="square" lIns="0" tIns="0" rIns="0" bIns="0" rtlCol="0" anchor="ctr"/>
          <a:lstStyle/>
          <a:p>
            <a:pPr indent="0" marL="0">
              <a:buNone/>
            </a:pPr>
            <a:r>
              <a:rPr lang="en-US" sz="1200" b="1" dirty="0">
                <a:solidFill>
                  <a:srgbClr val="13333A"/>
                </a:solidFill>
                <a:latin typeface="Calibri" pitchFamily="34" charset="0"/>
                <a:ea typeface="Calibri" pitchFamily="34" charset="-122"/>
                <a:cs typeface="Calibri" pitchFamily="34" charset="-120"/>
              </a:rPr>
              <a:t>SMART EHR Launch</a:t>
            </a:r>
            <a:endParaRPr lang="en-US" sz="1200" dirty="0"/>
          </a:p>
        </p:txBody>
      </p:sp>
      <p:sp>
        <p:nvSpPr>
          <p:cNvPr id="13" name="Shape 9"/>
          <p:cNvSpPr/>
          <p:nvPr/>
        </p:nvSpPr>
        <p:spPr>
          <a:xfrm>
            <a:off x="2560320" y="3063240"/>
            <a:ext cx="3429000" cy="566928"/>
          </a:xfrm>
          <a:prstGeom prst="roundRect">
            <a:avLst>
              <a:gd name="adj" fmla="val 9677"/>
            </a:avLst>
          </a:prstGeom>
          <a:solidFill>
            <a:srgbClr val="FFFFFF"/>
          </a:solidFill>
          <a:ln w="12700">
            <a:solidFill>
              <a:srgbClr val="CBE3E3"/>
            </a:solidFill>
            <a:prstDash val="solid"/>
          </a:ln>
        </p:spPr>
      </p:sp>
      <p:sp>
        <p:nvSpPr>
          <p:cNvPr id="14" name="Text 10"/>
          <p:cNvSpPr/>
          <p:nvPr/>
        </p:nvSpPr>
        <p:spPr>
          <a:xfrm>
            <a:off x="2697480" y="3063240"/>
            <a:ext cx="3200400" cy="566928"/>
          </a:xfrm>
          <a:prstGeom prst="rect">
            <a:avLst/>
          </a:prstGeom>
          <a:noFill/>
          <a:ln/>
        </p:spPr>
        <p:txBody>
          <a:bodyPr wrap="square" lIns="0" tIns="0" rIns="0" bIns="0" rtlCol="0" anchor="ctr"/>
          <a:lstStyle/>
          <a:p>
            <a:pPr indent="0" marL="0">
              <a:buNone/>
            </a:pPr>
            <a:r>
              <a:rPr lang="en-US" sz="1200" b="1" dirty="0">
                <a:solidFill>
                  <a:srgbClr val="13333A"/>
                </a:solidFill>
                <a:latin typeface="Calibri" pitchFamily="34" charset="0"/>
                <a:ea typeface="Calibri" pitchFamily="34" charset="-122"/>
                <a:cs typeface="Calibri" pitchFamily="34" charset="-120"/>
              </a:rPr>
              <a:t>OAuth2 Server + Scopes</a:t>
            </a:r>
            <a:endParaRPr lang="en-US" sz="1200" dirty="0"/>
          </a:p>
        </p:txBody>
      </p:sp>
      <p:sp>
        <p:nvSpPr>
          <p:cNvPr id="15" name="Shape 11"/>
          <p:cNvSpPr/>
          <p:nvPr/>
        </p:nvSpPr>
        <p:spPr>
          <a:xfrm>
            <a:off x="2560320" y="3776472"/>
            <a:ext cx="3429000" cy="566928"/>
          </a:xfrm>
          <a:prstGeom prst="roundRect">
            <a:avLst>
              <a:gd name="adj" fmla="val 9677"/>
            </a:avLst>
          </a:prstGeom>
          <a:solidFill>
            <a:srgbClr val="FFFFFF"/>
          </a:solidFill>
          <a:ln w="12700">
            <a:solidFill>
              <a:srgbClr val="CBE3E3"/>
            </a:solidFill>
            <a:prstDash val="solid"/>
          </a:ln>
        </p:spPr>
      </p:sp>
      <p:sp>
        <p:nvSpPr>
          <p:cNvPr id="16" name="Text 12"/>
          <p:cNvSpPr/>
          <p:nvPr/>
        </p:nvSpPr>
        <p:spPr>
          <a:xfrm>
            <a:off x="2697480" y="3776472"/>
            <a:ext cx="3200400" cy="566928"/>
          </a:xfrm>
          <a:prstGeom prst="rect">
            <a:avLst/>
          </a:prstGeom>
          <a:noFill/>
          <a:ln/>
        </p:spPr>
        <p:txBody>
          <a:bodyPr wrap="square" lIns="0" tIns="0" rIns="0" bIns="0" rtlCol="0" anchor="ctr"/>
          <a:lstStyle/>
          <a:p>
            <a:pPr indent="0" marL="0">
              <a:buNone/>
            </a:pPr>
            <a:r>
              <a:rPr lang="en-US" sz="1200" b="1" dirty="0">
                <a:solidFill>
                  <a:srgbClr val="13333A"/>
                </a:solidFill>
                <a:latin typeface="Calibri" pitchFamily="34" charset="0"/>
                <a:ea typeface="Calibri" pitchFamily="34" charset="-122"/>
                <a:cs typeface="Calibri" pitchFamily="34" charset="-120"/>
              </a:rPr>
              <a:t>FHIR R4 API (US Core)</a:t>
            </a:r>
            <a:endParaRPr lang="en-US" sz="1200" dirty="0"/>
          </a:p>
        </p:txBody>
      </p:sp>
      <p:sp>
        <p:nvSpPr>
          <p:cNvPr id="17" name="Shape 13"/>
          <p:cNvSpPr/>
          <p:nvPr/>
        </p:nvSpPr>
        <p:spPr>
          <a:xfrm>
            <a:off x="2560320" y="4489704"/>
            <a:ext cx="3429000" cy="566928"/>
          </a:xfrm>
          <a:prstGeom prst="roundRect">
            <a:avLst>
              <a:gd name="adj" fmla="val 9677"/>
            </a:avLst>
          </a:prstGeom>
          <a:solidFill>
            <a:srgbClr val="FFFFFF"/>
          </a:solidFill>
          <a:ln w="12700">
            <a:solidFill>
              <a:srgbClr val="CBE3E3"/>
            </a:solidFill>
            <a:prstDash val="solid"/>
          </a:ln>
        </p:spPr>
      </p:sp>
      <p:sp>
        <p:nvSpPr>
          <p:cNvPr id="18" name="Text 14"/>
          <p:cNvSpPr/>
          <p:nvPr/>
        </p:nvSpPr>
        <p:spPr>
          <a:xfrm>
            <a:off x="2697480" y="4489704"/>
            <a:ext cx="3200400" cy="566928"/>
          </a:xfrm>
          <a:prstGeom prst="rect">
            <a:avLst/>
          </a:prstGeom>
          <a:noFill/>
          <a:ln/>
        </p:spPr>
        <p:txBody>
          <a:bodyPr wrap="square" lIns="0" tIns="0" rIns="0" bIns="0" rtlCol="0" anchor="ctr"/>
          <a:lstStyle/>
          <a:p>
            <a:pPr indent="0" marL="0">
              <a:buNone/>
            </a:pPr>
            <a:r>
              <a:rPr lang="en-US" sz="1200" b="1" dirty="0">
                <a:solidFill>
                  <a:srgbClr val="13333A"/>
                </a:solidFill>
                <a:latin typeface="Calibri" pitchFamily="34" charset="0"/>
                <a:ea typeface="Calibri" pitchFamily="34" charset="-122"/>
                <a:cs typeface="Calibri" pitchFamily="34" charset="-120"/>
              </a:rPr>
              <a:t>EventAuditLogger</a:t>
            </a:r>
            <a:endParaRPr lang="en-US" sz="1200" dirty="0"/>
          </a:p>
        </p:txBody>
      </p:sp>
      <p:sp>
        <p:nvSpPr>
          <p:cNvPr id="19" name="Shape 15"/>
          <p:cNvSpPr/>
          <p:nvPr/>
        </p:nvSpPr>
        <p:spPr>
          <a:xfrm>
            <a:off x="2560320" y="5202936"/>
            <a:ext cx="3429000" cy="566928"/>
          </a:xfrm>
          <a:prstGeom prst="roundRect">
            <a:avLst>
              <a:gd name="adj" fmla="val 9677"/>
            </a:avLst>
          </a:prstGeom>
          <a:solidFill>
            <a:srgbClr val="FFFFFF"/>
          </a:solidFill>
          <a:ln w="12700">
            <a:solidFill>
              <a:srgbClr val="CBE3E3"/>
            </a:solidFill>
            <a:prstDash val="solid"/>
          </a:ln>
        </p:spPr>
      </p:sp>
      <p:sp>
        <p:nvSpPr>
          <p:cNvPr id="20" name="Text 16"/>
          <p:cNvSpPr/>
          <p:nvPr/>
        </p:nvSpPr>
        <p:spPr>
          <a:xfrm>
            <a:off x="2697480" y="5202936"/>
            <a:ext cx="3200400" cy="566928"/>
          </a:xfrm>
          <a:prstGeom prst="rect">
            <a:avLst/>
          </a:prstGeom>
          <a:noFill/>
          <a:ln/>
        </p:spPr>
        <p:txBody>
          <a:bodyPr wrap="square" lIns="0" tIns="0" rIns="0" bIns="0" rtlCol="0" anchor="ctr"/>
          <a:lstStyle/>
          <a:p>
            <a:pPr indent="0" marL="0">
              <a:buNone/>
            </a:pPr>
            <a:r>
              <a:rPr lang="en-US" sz="1200" b="1" dirty="0">
                <a:solidFill>
                  <a:srgbClr val="13333A"/>
                </a:solidFill>
                <a:latin typeface="Calibri" pitchFamily="34" charset="0"/>
                <a:ea typeface="Calibri" pitchFamily="34" charset="-122"/>
                <a:cs typeface="Calibri" pitchFamily="34" charset="-120"/>
              </a:rPr>
              <a:t>Thin custom module (iFrame)</a:t>
            </a:r>
            <a:endParaRPr lang="en-US" sz="1200" dirty="0"/>
          </a:p>
        </p:txBody>
      </p:sp>
      <p:sp>
        <p:nvSpPr>
          <p:cNvPr id="21" name="Shape 17"/>
          <p:cNvSpPr/>
          <p:nvPr/>
        </p:nvSpPr>
        <p:spPr>
          <a:xfrm>
            <a:off x="6903720" y="1783080"/>
            <a:ext cx="3977640" cy="4343400"/>
          </a:xfrm>
          <a:prstGeom prst="roundRect">
            <a:avLst>
              <a:gd name="adj" fmla="val 2299"/>
            </a:avLst>
          </a:prstGeom>
          <a:solidFill>
            <a:srgbClr val="0B3B3F"/>
          </a:solidFill>
          <a:ln/>
          <a:effectLst>
            <a:outerShdw sx="100000" sy="100000" kx="0" ky="0" algn="bl" rotWithShape="0" blurRad="88900" dist="38100" dir="5400000">
              <a:srgbClr val="0B3B3F">
                <a:alpha val="16000"/>
              </a:srgbClr>
            </a:outerShdw>
          </a:effectLst>
        </p:spPr>
      </p:sp>
      <p:sp>
        <p:nvSpPr>
          <p:cNvPr id="22" name="Text 18"/>
          <p:cNvSpPr/>
          <p:nvPr/>
        </p:nvSpPr>
        <p:spPr>
          <a:xfrm>
            <a:off x="6903720" y="1892808"/>
            <a:ext cx="3977640" cy="320040"/>
          </a:xfrm>
          <a:prstGeom prst="rect">
            <a:avLst/>
          </a:prstGeom>
          <a:noFill/>
          <a:ln/>
        </p:spPr>
        <p:txBody>
          <a:bodyPr wrap="square" lIns="0" tIns="0" rIns="0" bIns="0" rtlCol="0" anchor="ctr"/>
          <a:lstStyle/>
          <a:p>
            <a:pPr algn="ctr" indent="0" marL="0">
              <a:buNone/>
            </a:pPr>
            <a:r>
              <a:rPr lang="en-US" sz="1300" b="1" dirty="0">
                <a:solidFill>
                  <a:srgbClr val="02C39A"/>
                </a:solidFill>
                <a:latin typeface="Cambria" pitchFamily="34" charset="0"/>
                <a:ea typeface="Cambria" pitchFamily="34" charset="-122"/>
                <a:cs typeface="Cambria" pitchFamily="34" charset="-120"/>
              </a:rPr>
              <a:t>.NET 10 Sidecar  ·  agent-forge-copilot</a:t>
            </a:r>
            <a:endParaRPr lang="en-US" sz="1300" dirty="0"/>
          </a:p>
        </p:txBody>
      </p:sp>
      <p:sp>
        <p:nvSpPr>
          <p:cNvPr id="23" name="Shape 19"/>
          <p:cNvSpPr/>
          <p:nvPr/>
        </p:nvSpPr>
        <p:spPr>
          <a:xfrm>
            <a:off x="7178040" y="2350008"/>
            <a:ext cx="3429000" cy="841248"/>
          </a:xfrm>
          <a:prstGeom prst="roundRect">
            <a:avLst>
              <a:gd name="adj" fmla="val 6522"/>
            </a:avLst>
          </a:prstGeom>
          <a:solidFill>
            <a:srgbClr val="12474C"/>
          </a:solidFill>
          <a:ln/>
        </p:spPr>
      </p:sp>
      <p:sp>
        <p:nvSpPr>
          <p:cNvPr id="24" name="Text 20"/>
          <p:cNvSpPr/>
          <p:nvPr/>
        </p:nvSpPr>
        <p:spPr>
          <a:xfrm>
            <a:off x="7315200" y="2350008"/>
            <a:ext cx="3200400" cy="8412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Backend-for-Frontend
</a:t>
            </a:r>
            <a:pPr indent="0" marL="0">
              <a:buNone/>
            </a:pPr>
            <a:r>
              <a:rPr lang="en-US" sz="1050" dirty="0">
                <a:solidFill>
                  <a:srgbClr val="9CC3C3"/>
                </a:solidFill>
                <a:latin typeface="Calibri" pitchFamily="34" charset="0"/>
                <a:ea typeface="Calibri" pitchFamily="34" charset="-122"/>
                <a:cs typeface="Calibri" pitchFamily="34" charset="-120"/>
              </a:rPr>
              <a:t>server-side token custody</a:t>
            </a:r>
            <a:endParaRPr lang="en-US" sz="1250" dirty="0"/>
          </a:p>
        </p:txBody>
      </p:sp>
      <p:sp>
        <p:nvSpPr>
          <p:cNvPr id="25" name="Shape 21"/>
          <p:cNvSpPr/>
          <p:nvPr/>
        </p:nvSpPr>
        <p:spPr>
          <a:xfrm>
            <a:off x="7178040" y="3291840"/>
            <a:ext cx="3429000" cy="841248"/>
          </a:xfrm>
          <a:prstGeom prst="roundRect">
            <a:avLst>
              <a:gd name="adj" fmla="val 6522"/>
            </a:avLst>
          </a:prstGeom>
          <a:solidFill>
            <a:srgbClr val="12474C"/>
          </a:solidFill>
          <a:ln/>
        </p:spPr>
      </p:sp>
      <p:sp>
        <p:nvSpPr>
          <p:cNvPr id="26" name="Text 22"/>
          <p:cNvSpPr/>
          <p:nvPr/>
        </p:nvSpPr>
        <p:spPr>
          <a:xfrm>
            <a:off x="7315200" y="3291840"/>
            <a:ext cx="3200400" cy="8412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Agent Orchestrator
</a:t>
            </a:r>
            <a:pPr indent="0" marL="0">
              <a:buNone/>
            </a:pPr>
            <a:r>
              <a:rPr lang="en-US" sz="1050" dirty="0">
                <a:solidFill>
                  <a:srgbClr val="9CC3C3"/>
                </a:solidFill>
                <a:latin typeface="Calibri" pitchFamily="34" charset="0"/>
                <a:ea typeface="Calibri" pitchFamily="34" charset="-122"/>
                <a:cs typeface="Calibri" pitchFamily="34" charset="-120"/>
              </a:rPr>
              <a:t>multi-turn loop + tool chaining</a:t>
            </a:r>
            <a:endParaRPr lang="en-US" sz="1250" dirty="0"/>
          </a:p>
        </p:txBody>
      </p:sp>
      <p:sp>
        <p:nvSpPr>
          <p:cNvPr id="27" name="Shape 23"/>
          <p:cNvSpPr/>
          <p:nvPr/>
        </p:nvSpPr>
        <p:spPr>
          <a:xfrm>
            <a:off x="7178040" y="4233672"/>
            <a:ext cx="3429000" cy="841248"/>
          </a:xfrm>
          <a:prstGeom prst="roundRect">
            <a:avLst>
              <a:gd name="adj" fmla="val 6522"/>
            </a:avLst>
          </a:prstGeom>
          <a:solidFill>
            <a:srgbClr val="12474C"/>
          </a:solidFill>
          <a:ln/>
        </p:spPr>
      </p:sp>
      <p:sp>
        <p:nvSpPr>
          <p:cNvPr id="28" name="Text 24"/>
          <p:cNvSpPr/>
          <p:nvPr/>
        </p:nvSpPr>
        <p:spPr>
          <a:xfrm>
            <a:off x="7315200" y="4233672"/>
            <a:ext cx="3200400" cy="8412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MCP Tool Server
</a:t>
            </a:r>
            <a:pPr indent="0" marL="0">
              <a:buNone/>
            </a:pPr>
            <a:r>
              <a:rPr lang="en-US" sz="1050" dirty="0">
                <a:solidFill>
                  <a:srgbClr val="9CC3C3"/>
                </a:solidFill>
                <a:latin typeface="Calibri" pitchFamily="34" charset="0"/>
                <a:ea typeface="Calibri" pitchFamily="34" charset="-122"/>
                <a:cs typeface="Calibri" pitchFamily="34" charset="-120"/>
              </a:rPr>
              <a:t>read-only FHIR, min-necessary</a:t>
            </a:r>
            <a:endParaRPr lang="en-US" sz="1250" dirty="0"/>
          </a:p>
        </p:txBody>
      </p:sp>
      <p:sp>
        <p:nvSpPr>
          <p:cNvPr id="29" name="Shape 25"/>
          <p:cNvSpPr/>
          <p:nvPr/>
        </p:nvSpPr>
        <p:spPr>
          <a:xfrm>
            <a:off x="7178040" y="5175504"/>
            <a:ext cx="3429000" cy="841248"/>
          </a:xfrm>
          <a:prstGeom prst="roundRect">
            <a:avLst>
              <a:gd name="adj" fmla="val 6522"/>
            </a:avLst>
          </a:prstGeom>
          <a:solidFill>
            <a:srgbClr val="12474C"/>
          </a:solidFill>
          <a:ln/>
        </p:spPr>
      </p:sp>
      <p:sp>
        <p:nvSpPr>
          <p:cNvPr id="30" name="Text 26"/>
          <p:cNvSpPr/>
          <p:nvPr/>
        </p:nvSpPr>
        <p:spPr>
          <a:xfrm>
            <a:off x="7315200" y="5175504"/>
            <a:ext cx="3200400" cy="84124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Verification Layer
</a:t>
            </a:r>
            <a:pPr indent="0" marL="0">
              <a:buNone/>
            </a:pPr>
            <a:r>
              <a:rPr lang="en-US" sz="1050" dirty="0">
                <a:solidFill>
                  <a:srgbClr val="9CC3C3"/>
                </a:solidFill>
                <a:latin typeface="Calibri" pitchFamily="34" charset="0"/>
                <a:ea typeface="Calibri" pitchFamily="34" charset="-122"/>
                <a:cs typeface="Calibri" pitchFamily="34" charset="-120"/>
              </a:rPr>
              <a:t>attribution + domain rules</a:t>
            </a:r>
            <a:endParaRPr lang="en-US" sz="1250" dirty="0"/>
          </a:p>
        </p:txBody>
      </p:sp>
      <p:sp>
        <p:nvSpPr>
          <p:cNvPr id="31" name="Shape 27"/>
          <p:cNvSpPr/>
          <p:nvPr/>
        </p:nvSpPr>
        <p:spPr>
          <a:xfrm>
            <a:off x="11109960" y="2880360"/>
            <a:ext cx="960120" cy="2103120"/>
          </a:xfrm>
          <a:prstGeom prst="roundRect">
            <a:avLst>
              <a:gd name="adj" fmla="val 7619"/>
            </a:avLst>
          </a:prstGeom>
          <a:solidFill>
            <a:srgbClr val="028090"/>
          </a:solidFill>
          <a:ln/>
        </p:spPr>
      </p:sp>
      <p:sp>
        <p:nvSpPr>
          <p:cNvPr id="32" name="Text 28"/>
          <p:cNvSpPr/>
          <p:nvPr/>
        </p:nvSpPr>
        <p:spPr>
          <a:xfrm>
            <a:off x="11109960" y="2880360"/>
            <a:ext cx="960120" cy="21031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LLM</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provider</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(BAA)</a:t>
            </a:r>
            <a:endParaRPr lang="en-US" sz="1100" dirty="0"/>
          </a:p>
        </p:txBody>
      </p:sp>
      <p:sp>
        <p:nvSpPr>
          <p:cNvPr id="33" name="Shape 29"/>
          <p:cNvSpPr/>
          <p:nvPr/>
        </p:nvSpPr>
        <p:spPr>
          <a:xfrm>
            <a:off x="1508760" y="3429000"/>
            <a:ext cx="777240" cy="0"/>
          </a:xfrm>
          <a:prstGeom prst="line">
            <a:avLst/>
          </a:prstGeom>
          <a:noFill/>
          <a:ln w="19050">
            <a:solidFill>
              <a:srgbClr val="51636B"/>
            </a:solidFill>
            <a:prstDash val="solid"/>
            <a:tailEnd type="triangle"/>
          </a:ln>
        </p:spPr>
      </p:sp>
      <p:sp>
        <p:nvSpPr>
          <p:cNvPr id="34" name="Shape 30"/>
          <p:cNvSpPr/>
          <p:nvPr/>
        </p:nvSpPr>
        <p:spPr>
          <a:xfrm>
            <a:off x="1508760" y="3703320"/>
            <a:ext cx="5394960" cy="0"/>
          </a:xfrm>
          <a:prstGeom prst="line">
            <a:avLst/>
          </a:prstGeom>
          <a:noFill/>
          <a:ln w="19050">
            <a:solidFill>
              <a:srgbClr val="51636B"/>
            </a:solidFill>
            <a:prstDash val="solid"/>
            <a:tailEnd type="triangle"/>
          </a:ln>
        </p:spPr>
      </p:sp>
      <p:sp>
        <p:nvSpPr>
          <p:cNvPr id="35" name="Shape 31"/>
          <p:cNvSpPr/>
          <p:nvPr/>
        </p:nvSpPr>
        <p:spPr>
          <a:xfrm>
            <a:off x="6903720" y="3931920"/>
            <a:ext cx="-640080" cy="0"/>
          </a:xfrm>
          <a:prstGeom prst="line">
            <a:avLst/>
          </a:prstGeom>
          <a:noFill/>
          <a:ln w="19050">
            <a:solidFill>
              <a:srgbClr val="51636B"/>
            </a:solidFill>
            <a:prstDash val="solid"/>
            <a:tailEnd type="triangle"/>
          </a:ln>
        </p:spPr>
      </p:sp>
      <p:sp>
        <p:nvSpPr>
          <p:cNvPr id="36" name="Shape 32"/>
          <p:cNvSpPr/>
          <p:nvPr/>
        </p:nvSpPr>
        <p:spPr>
          <a:xfrm>
            <a:off x="10881360" y="3931920"/>
            <a:ext cx="228600" cy="0"/>
          </a:xfrm>
          <a:prstGeom prst="line">
            <a:avLst/>
          </a:prstGeom>
          <a:noFill/>
          <a:ln w="19050">
            <a:solidFill>
              <a:srgbClr val="51636B"/>
            </a:solidFill>
            <a:prstDash val="solid"/>
            <a:tailEnd type="triangle"/>
          </a:ln>
        </p:spPr>
      </p:sp>
      <p:sp>
        <p:nvSpPr>
          <p:cNvPr id="37" name="Text 33"/>
          <p:cNvSpPr/>
          <p:nvPr/>
        </p:nvSpPr>
        <p:spPr>
          <a:xfrm>
            <a:off x="1371600" y="3127248"/>
            <a:ext cx="1280160" cy="228600"/>
          </a:xfrm>
          <a:prstGeom prst="rect">
            <a:avLst/>
          </a:prstGeom>
          <a:noFill/>
          <a:ln/>
        </p:spPr>
        <p:txBody>
          <a:bodyPr wrap="square" lIns="0" tIns="0" rIns="0" bIns="0" rtlCol="0" anchor="ctr"/>
          <a:lstStyle/>
          <a:p>
            <a:pPr algn="ctr" indent="0" marL="0">
              <a:buNone/>
            </a:pPr>
            <a:r>
              <a:rPr lang="en-US" sz="850" i="1" dirty="0">
                <a:solidFill>
                  <a:srgbClr val="51636B"/>
                </a:solidFill>
                <a:latin typeface="Calibri" pitchFamily="34" charset="0"/>
                <a:ea typeface="Calibri" pitchFamily="34" charset="-122"/>
                <a:cs typeface="Calibri" pitchFamily="34" charset="-120"/>
              </a:rPr>
              <a:t>SMART launch</a:t>
            </a:r>
            <a:endParaRPr lang="en-US" sz="850" dirty="0"/>
          </a:p>
        </p:txBody>
      </p:sp>
      <p:sp>
        <p:nvSpPr>
          <p:cNvPr id="38" name="Text 34"/>
          <p:cNvSpPr/>
          <p:nvPr/>
        </p:nvSpPr>
        <p:spPr>
          <a:xfrm>
            <a:off x="4754880" y="3950208"/>
            <a:ext cx="2194560" cy="228600"/>
          </a:xfrm>
          <a:prstGeom prst="rect">
            <a:avLst/>
          </a:prstGeom>
          <a:noFill/>
          <a:ln/>
        </p:spPr>
        <p:txBody>
          <a:bodyPr wrap="square" lIns="0" tIns="0" rIns="0" bIns="0" rtlCol="0" anchor="ctr"/>
          <a:lstStyle/>
          <a:p>
            <a:pPr algn="ctr" indent="0" marL="0">
              <a:buNone/>
            </a:pPr>
            <a:r>
              <a:rPr lang="en-US" sz="850" i="1" dirty="0">
                <a:solidFill>
                  <a:srgbClr val="51636B"/>
                </a:solidFill>
                <a:latin typeface="Calibri" pitchFamily="34" charset="0"/>
                <a:ea typeface="Calibri" pitchFamily="34" charset="-122"/>
                <a:cs typeface="Calibri" pitchFamily="34" charset="-120"/>
              </a:rPr>
              <a:t>FHIR · clinician-scoped token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502920" cy="502920"/>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806501" y="577901"/>
            <a:ext cx="261518" cy="261518"/>
          </a:xfrm>
          <a:prstGeom prst="rect">
            <a:avLst/>
          </a:prstGeom>
        </p:spPr>
      </p:pic>
      <p:sp>
        <p:nvSpPr>
          <p:cNvPr id="4" name="Text 1"/>
          <p:cNvSpPr/>
          <p:nvPr/>
        </p:nvSpPr>
        <p:spPr>
          <a:xfrm>
            <a:off x="1325880" y="502920"/>
            <a:ext cx="9144000" cy="320040"/>
          </a:xfrm>
          <a:prstGeom prst="rect">
            <a:avLst/>
          </a:prstGeom>
          <a:noFill/>
          <a:ln/>
        </p:spPr>
        <p:txBody>
          <a:bodyPr wrap="square" lIns="0" tIns="0" rIns="0" bIns="0"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KEY DECISION 1  ·  THE TRUST BOUNDARY</a:t>
            </a:r>
            <a:endParaRPr lang="en-US" sz="1200" dirty="0"/>
          </a:p>
        </p:txBody>
      </p:sp>
      <p:sp>
        <p:nvSpPr>
          <p:cNvPr id="5" name="Text 2"/>
          <p:cNvSpPr/>
          <p:nvPr/>
        </p:nvSpPr>
        <p:spPr>
          <a:xfrm>
            <a:off x="1325880" y="786384"/>
            <a:ext cx="10241280" cy="777240"/>
          </a:xfrm>
          <a:prstGeom prst="rect">
            <a:avLst/>
          </a:prstGeom>
          <a:noFill/>
          <a:ln/>
        </p:spPr>
        <p:txBody>
          <a:bodyPr wrap="square" lIns="0" tIns="0" rIns="0" bIns="0" rtlCol="0" anchor="ctr"/>
          <a:lstStyle/>
          <a:p>
            <a:pPr indent="0" marL="0">
              <a:buNone/>
            </a:pPr>
            <a:r>
              <a:rPr lang="en-US" sz="3000" b="1" dirty="0">
                <a:solidFill>
                  <a:srgbClr val="13333A"/>
                </a:solidFill>
                <a:latin typeface="Cambria" pitchFamily="34" charset="0"/>
                <a:ea typeface="Cambria" pitchFamily="34" charset="-122"/>
                <a:cs typeface="Cambria" pitchFamily="34" charset="-120"/>
              </a:rPr>
              <a:t>The agent sees exactly what the user sees</a:t>
            </a:r>
            <a:endParaRPr lang="en-US" sz="3000" dirty="0"/>
          </a:p>
        </p:txBody>
      </p:sp>
      <p:sp>
        <p:nvSpPr>
          <p:cNvPr id="6" name="Shape 3"/>
          <p:cNvSpPr/>
          <p:nvPr/>
        </p:nvSpPr>
        <p:spPr>
          <a:xfrm>
            <a:off x="685800" y="1828800"/>
            <a:ext cx="6995160" cy="1325880"/>
          </a:xfrm>
          <a:prstGeom prst="roundRect">
            <a:avLst>
              <a:gd name="adj" fmla="val 5517"/>
            </a:avLst>
          </a:prstGeom>
          <a:solidFill>
            <a:srgbClr val="EEF6F6"/>
          </a:solidFill>
          <a:ln/>
        </p:spPr>
      </p:sp>
      <p:sp>
        <p:nvSpPr>
          <p:cNvPr id="7" name="Text 4"/>
          <p:cNvSpPr/>
          <p:nvPr/>
        </p:nvSpPr>
        <p:spPr>
          <a:xfrm>
            <a:off x="914400" y="1965960"/>
            <a:ext cx="658368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Clinician OAuth passthrough</a:t>
            </a:r>
            <a:endParaRPr lang="en-US" sz="1600" dirty="0"/>
          </a:p>
        </p:txBody>
      </p:sp>
      <p:sp>
        <p:nvSpPr>
          <p:cNvPr id="8" name="Text 5"/>
          <p:cNvSpPr/>
          <p:nvPr/>
        </p:nvSpPr>
        <p:spPr>
          <a:xfrm>
            <a:off x="914400" y="2340864"/>
            <a:ext cx="6583680" cy="749808"/>
          </a:xfrm>
          <a:prstGeom prst="rect">
            <a:avLst/>
          </a:prstGeom>
          <a:noFill/>
          <a:ln/>
        </p:spPr>
        <p:txBody>
          <a:bodyPr wrap="square" lIns="0" tIns="0" rIns="0" bIns="0" rtlCol="0" anchor="ctr"/>
          <a:lstStyle/>
          <a:p>
            <a:pPr indent="0" marL="0">
              <a:buNone/>
            </a:pPr>
            <a:r>
              <a:rPr lang="en-US" sz="1250" dirty="0">
                <a:solidFill>
                  <a:srgbClr val="13333A"/>
                </a:solidFill>
                <a:latin typeface="Calibri" pitchFamily="34" charset="0"/>
                <a:ea typeface="Calibri" pitchFamily="34" charset="-122"/>
                <a:cs typeface="Calibri" pitchFamily="34" charset="-120"/>
              </a:rPr>
              <a:t>PHI is read via OpenEMR's FHIR API using the clinician's own identity (SMART EHR launch, auth-code flow) — never a broad service account. OpenEMR enforces its ACLs/scopes server-side.</a:t>
            </a:r>
            <a:endParaRPr lang="en-US" sz="1250" dirty="0"/>
          </a:p>
        </p:txBody>
      </p:sp>
      <p:sp>
        <p:nvSpPr>
          <p:cNvPr id="9" name="Shape 6"/>
          <p:cNvSpPr/>
          <p:nvPr/>
        </p:nvSpPr>
        <p:spPr>
          <a:xfrm>
            <a:off x="685800" y="3291840"/>
            <a:ext cx="6995160" cy="1325880"/>
          </a:xfrm>
          <a:prstGeom prst="roundRect">
            <a:avLst>
              <a:gd name="adj" fmla="val 5517"/>
            </a:avLst>
          </a:prstGeom>
          <a:solidFill>
            <a:srgbClr val="EEF6F6"/>
          </a:solidFill>
          <a:ln/>
        </p:spPr>
      </p:sp>
      <p:sp>
        <p:nvSpPr>
          <p:cNvPr id="10" name="Text 7"/>
          <p:cNvSpPr/>
          <p:nvPr/>
        </p:nvSpPr>
        <p:spPr>
          <a:xfrm>
            <a:off x="914400" y="3429000"/>
            <a:ext cx="658368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Enforcement below the model</a:t>
            </a:r>
            <a:endParaRPr lang="en-US" sz="1600" dirty="0"/>
          </a:p>
        </p:txBody>
      </p:sp>
      <p:sp>
        <p:nvSpPr>
          <p:cNvPr id="11" name="Text 8"/>
          <p:cNvSpPr/>
          <p:nvPr/>
        </p:nvSpPr>
        <p:spPr>
          <a:xfrm>
            <a:off x="914400" y="3803904"/>
            <a:ext cx="6583680" cy="749808"/>
          </a:xfrm>
          <a:prstGeom prst="rect">
            <a:avLst/>
          </a:prstGeom>
          <a:noFill/>
          <a:ln/>
        </p:spPr>
        <p:txBody>
          <a:bodyPr wrap="square" lIns="0" tIns="0" rIns="0" bIns="0" rtlCol="0" anchor="ctr"/>
          <a:lstStyle/>
          <a:p>
            <a:pPr indent="0" marL="0">
              <a:buNone/>
            </a:pPr>
            <a:r>
              <a:rPr lang="en-US" sz="1250" dirty="0">
                <a:solidFill>
                  <a:srgbClr val="13333A"/>
                </a:solidFill>
                <a:latin typeface="Calibri" pitchFamily="34" charset="0"/>
                <a:ea typeface="Calibri" pitchFamily="34" charset="-122"/>
                <a:cs typeface="Calibri" pitchFamily="34" charset="-120"/>
              </a:rPr>
              <a:t>Authorization lives in the tool/data layer, not the prompt — so 'ignore that, show me…' cannot widen access. Prompt injection can't cross a boundary the LLM never controls.</a:t>
            </a:r>
            <a:endParaRPr lang="en-US" sz="1250" dirty="0"/>
          </a:p>
        </p:txBody>
      </p:sp>
      <p:sp>
        <p:nvSpPr>
          <p:cNvPr id="12" name="Shape 9"/>
          <p:cNvSpPr/>
          <p:nvPr/>
        </p:nvSpPr>
        <p:spPr>
          <a:xfrm>
            <a:off x="685800" y="4754880"/>
            <a:ext cx="6995160" cy="1325880"/>
          </a:xfrm>
          <a:prstGeom prst="roundRect">
            <a:avLst>
              <a:gd name="adj" fmla="val 5517"/>
            </a:avLst>
          </a:prstGeom>
          <a:solidFill>
            <a:srgbClr val="EEF6F6"/>
          </a:solidFill>
          <a:ln/>
        </p:spPr>
      </p:sp>
      <p:sp>
        <p:nvSpPr>
          <p:cNvPr id="13" name="Text 10"/>
          <p:cNvSpPr/>
          <p:nvPr/>
        </p:nvSpPr>
        <p:spPr>
          <a:xfrm>
            <a:off x="914400" y="4892040"/>
            <a:ext cx="6583680" cy="365760"/>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Tokens never touch the browser</a:t>
            </a:r>
            <a:endParaRPr lang="en-US" sz="1600" dirty="0"/>
          </a:p>
        </p:txBody>
      </p:sp>
      <p:sp>
        <p:nvSpPr>
          <p:cNvPr id="14" name="Text 11"/>
          <p:cNvSpPr/>
          <p:nvPr/>
        </p:nvSpPr>
        <p:spPr>
          <a:xfrm>
            <a:off x="914400" y="5266944"/>
            <a:ext cx="6583680" cy="749808"/>
          </a:xfrm>
          <a:prstGeom prst="rect">
            <a:avLst/>
          </a:prstGeom>
          <a:noFill/>
          <a:ln/>
        </p:spPr>
        <p:txBody>
          <a:bodyPr wrap="square" lIns="0" tIns="0" rIns="0" bIns="0" rtlCol="0" anchor="ctr"/>
          <a:lstStyle/>
          <a:p>
            <a:pPr indent="0" marL="0">
              <a:buNone/>
            </a:pPr>
            <a:r>
              <a:rPr lang="en-US" sz="1250" dirty="0">
                <a:solidFill>
                  <a:srgbClr val="13333A"/>
                </a:solidFill>
                <a:latin typeface="Calibri" pitchFamily="34" charset="0"/>
                <a:ea typeface="Calibri" pitchFamily="34" charset="-122"/>
                <a:cs typeface="Calibri" pitchFamily="34" charset="-120"/>
              </a:rPr>
              <a:t>A backend-for-frontend holds tokens server-side, keyed to the session; the iFrame SPA never sees a bearer token.</a:t>
            </a:r>
            <a:endParaRPr lang="en-US" sz="1250" dirty="0"/>
          </a:p>
        </p:txBody>
      </p:sp>
      <p:sp>
        <p:nvSpPr>
          <p:cNvPr id="15" name="Shape 12"/>
          <p:cNvSpPr/>
          <p:nvPr/>
        </p:nvSpPr>
        <p:spPr>
          <a:xfrm>
            <a:off x="7955280" y="1828800"/>
            <a:ext cx="3520440" cy="4251960"/>
          </a:xfrm>
          <a:prstGeom prst="roundRect">
            <a:avLst>
              <a:gd name="adj" fmla="val 2597"/>
            </a:avLst>
          </a:prstGeom>
          <a:solidFill>
            <a:srgbClr val="0B3B3F"/>
          </a:solidFill>
          <a:ln/>
          <a:effectLst>
            <a:outerShdw sx="100000" sy="100000" kx="0" ky="0" algn="bl" rotWithShape="0" blurRad="88900" dist="38100" dir="5400000">
              <a:srgbClr val="0B3B3F">
                <a:alpha val="16000"/>
              </a:srgbClr>
            </a:outerShdw>
          </a:effectLst>
        </p:spPr>
      </p:sp>
      <p:sp>
        <p:nvSpPr>
          <p:cNvPr id="16" name="Shape 13"/>
          <p:cNvSpPr/>
          <p:nvPr/>
        </p:nvSpPr>
        <p:spPr>
          <a:xfrm>
            <a:off x="8229600" y="2057400"/>
            <a:ext cx="548640" cy="548640"/>
          </a:xfrm>
          <a:prstGeom prst="ellipse">
            <a:avLst/>
          </a:prstGeom>
          <a:solidFill>
            <a:srgbClr val="028090"/>
          </a:solidFill>
          <a:ln/>
        </p:spPr>
      </p:sp>
      <p:pic>
        <p:nvPicPr>
          <p:cNvPr id="17" name="Image 1" descr="preencoded.png">    </p:cNvPr>
          <p:cNvPicPr>
            <a:picLocks noChangeAspect="1"/>
          </p:cNvPicPr>
          <p:nvPr/>
        </p:nvPicPr>
        <p:blipFill>
          <a:blip r:embed="rId2"/>
          <a:stretch>
            <a:fillRect/>
          </a:stretch>
        </p:blipFill>
        <p:spPr>
          <a:xfrm>
            <a:off x="8361274" y="2189074"/>
            <a:ext cx="285293" cy="285293"/>
          </a:xfrm>
          <a:prstGeom prst="rect">
            <a:avLst/>
          </a:prstGeom>
        </p:spPr>
      </p:pic>
      <p:sp>
        <p:nvSpPr>
          <p:cNvPr id="18" name="Text 14"/>
          <p:cNvSpPr/>
          <p:nvPr/>
        </p:nvSpPr>
        <p:spPr>
          <a:xfrm>
            <a:off x="8915400" y="2084832"/>
            <a:ext cx="2377440" cy="5486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Why over a service account?</a:t>
            </a:r>
            <a:endParaRPr lang="en-US" sz="1400" dirty="0"/>
          </a:p>
        </p:txBody>
      </p:sp>
      <p:sp>
        <p:nvSpPr>
          <p:cNvPr id="19" name="Text 15"/>
          <p:cNvSpPr/>
          <p:nvPr/>
        </p:nvSpPr>
        <p:spPr>
          <a:xfrm>
            <a:off x="8229600" y="2788920"/>
            <a:ext cx="3017520" cy="3108960"/>
          </a:xfrm>
          <a:prstGeom prst="rect">
            <a:avLst/>
          </a:prstGeom>
          <a:noFill/>
          <a:ln/>
        </p:spPr>
        <p:txBody>
          <a:bodyPr wrap="square" lIns="0" tIns="0" rIns="0" bIns="0" rtlCol="0" anchor="t"/>
          <a:lstStyle/>
          <a:p>
            <a:pPr indent="0" marL="0">
              <a:buNone/>
            </a:pPr>
            <a:r>
              <a:rPr lang="en-US" sz="1250" dirty="0">
                <a:solidFill>
                  <a:srgbClr val="CFE6E6"/>
                </a:solidFill>
                <a:latin typeface="Calibri" pitchFamily="34" charset="0"/>
                <a:ea typeface="Calibri" pitchFamily="34" charset="-122"/>
                <a:cs typeface="Calibri" pitchFamily="34" charset="-120"/>
              </a:rPr>
              <a:t>A broad service token would let the copilot read more than the requesting user — collapsing the ACL model and the audit story.</a:t>
            </a:r>
            <a:endParaRPr lang="en-US" sz="1250" dirty="0"/>
          </a:p>
          <a:p>
            <a:pPr indent="0" marL="0">
              <a:buNone/>
            </a:pPr>
            <a:endParaRPr lang="en-US" sz="1250" dirty="0"/>
          </a:p>
          <a:p>
            <a:pPr indent="0" marL="0">
              <a:buNone/>
            </a:pPr>
            <a:r>
              <a:rPr lang="en-US" sz="1250" b="1" dirty="0">
                <a:solidFill>
                  <a:srgbClr val="02C39A"/>
                </a:solidFill>
                <a:latin typeface="Calibri" pitchFamily="34" charset="0"/>
                <a:ea typeface="Calibri" pitchFamily="34" charset="-122"/>
                <a:cs typeface="Calibri" pitchFamily="34" charset="-120"/>
              </a:rPr>
              <a:t>Passthrough gives per-user access fidelity + per-user audit attribution — for free.</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502920" cy="502920"/>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806501" y="577901"/>
            <a:ext cx="261518" cy="261518"/>
          </a:xfrm>
          <a:prstGeom prst="rect">
            <a:avLst/>
          </a:prstGeom>
        </p:spPr>
      </p:pic>
      <p:sp>
        <p:nvSpPr>
          <p:cNvPr id="4" name="Text 1"/>
          <p:cNvSpPr/>
          <p:nvPr/>
        </p:nvSpPr>
        <p:spPr>
          <a:xfrm>
            <a:off x="1325880" y="502920"/>
            <a:ext cx="9144000" cy="320040"/>
          </a:xfrm>
          <a:prstGeom prst="rect">
            <a:avLst/>
          </a:prstGeom>
          <a:noFill/>
          <a:ln/>
        </p:spPr>
        <p:txBody>
          <a:bodyPr wrap="square" lIns="0" tIns="0" rIns="0" bIns="0"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KEY DECISION 2  ·  THE TRUST CORE</a:t>
            </a:r>
            <a:endParaRPr lang="en-US" sz="1200" dirty="0"/>
          </a:p>
        </p:txBody>
      </p:sp>
      <p:sp>
        <p:nvSpPr>
          <p:cNvPr id="5" name="Text 2"/>
          <p:cNvSpPr/>
          <p:nvPr/>
        </p:nvSpPr>
        <p:spPr>
          <a:xfrm>
            <a:off x="1325880" y="786384"/>
            <a:ext cx="10241280" cy="777240"/>
          </a:xfrm>
          <a:prstGeom prst="rect">
            <a:avLst/>
          </a:prstGeom>
          <a:noFill/>
          <a:ln/>
        </p:spPr>
        <p:txBody>
          <a:bodyPr wrap="square" lIns="0" tIns="0" rIns="0" bIns="0" rtlCol="0" anchor="ctr"/>
          <a:lstStyle/>
          <a:p>
            <a:pPr indent="0" marL="0">
              <a:buNone/>
            </a:pPr>
            <a:r>
              <a:rPr lang="en-US" sz="3000" b="1" dirty="0">
                <a:solidFill>
                  <a:srgbClr val="13333A"/>
                </a:solidFill>
                <a:latin typeface="Cambria" pitchFamily="34" charset="0"/>
                <a:ea typeface="Cambria" pitchFamily="34" charset="-122"/>
                <a:cs typeface="Cambria" pitchFamily="34" charset="-120"/>
              </a:rPr>
              <a:t>Verification is two layers, not one</a:t>
            </a:r>
            <a:endParaRPr lang="en-US" sz="3000" dirty="0"/>
          </a:p>
        </p:txBody>
      </p:sp>
      <p:sp>
        <p:nvSpPr>
          <p:cNvPr id="6" name="Shape 3"/>
          <p:cNvSpPr/>
          <p:nvPr/>
        </p:nvSpPr>
        <p:spPr>
          <a:xfrm>
            <a:off x="685800" y="1828800"/>
            <a:ext cx="5257800" cy="2743200"/>
          </a:xfrm>
          <a:prstGeom prst="roundRect">
            <a:avLst>
              <a:gd name="adj" fmla="val 3333"/>
            </a:avLst>
          </a:prstGeom>
          <a:solidFill>
            <a:srgbClr val="EEF6F6"/>
          </a:solidFill>
          <a:ln/>
          <a:effectLst>
            <a:outerShdw sx="100000" sy="100000" kx="0" ky="0" algn="bl" rotWithShape="0" blurRad="88900" dist="38100" dir="5400000">
              <a:srgbClr val="0B3B3F">
                <a:alpha val="16000"/>
              </a:srgbClr>
            </a:outerShdw>
          </a:effectLst>
        </p:spPr>
      </p:sp>
      <p:sp>
        <p:nvSpPr>
          <p:cNvPr id="7" name="Shape 4"/>
          <p:cNvSpPr/>
          <p:nvPr/>
        </p:nvSpPr>
        <p:spPr>
          <a:xfrm>
            <a:off x="1005840" y="2103120"/>
            <a:ext cx="640080" cy="640080"/>
          </a:xfrm>
          <a:prstGeom prst="ellipse">
            <a:avLst/>
          </a:prstGeom>
          <a:solidFill>
            <a:srgbClr val="028090"/>
          </a:solidFill>
          <a:ln/>
        </p:spPr>
      </p:sp>
      <p:pic>
        <p:nvPicPr>
          <p:cNvPr id="8" name="Image 1" descr="preencoded.png">    </p:cNvPr>
          <p:cNvPicPr>
            <a:picLocks noChangeAspect="1"/>
          </p:cNvPicPr>
          <p:nvPr/>
        </p:nvPicPr>
        <p:blipFill>
          <a:blip r:embed="rId2"/>
          <a:stretch>
            <a:fillRect/>
          </a:stretch>
        </p:blipFill>
        <p:spPr>
          <a:xfrm>
            <a:off x="1159459" y="2256739"/>
            <a:ext cx="332842" cy="332842"/>
          </a:xfrm>
          <a:prstGeom prst="rect">
            <a:avLst/>
          </a:prstGeom>
        </p:spPr>
      </p:pic>
      <p:sp>
        <p:nvSpPr>
          <p:cNvPr id="9" name="Text 5"/>
          <p:cNvSpPr/>
          <p:nvPr/>
        </p:nvSpPr>
        <p:spPr>
          <a:xfrm>
            <a:off x="1783080" y="2148840"/>
            <a:ext cx="3977640" cy="548640"/>
          </a:xfrm>
          <a:prstGeom prst="rect">
            <a:avLst/>
          </a:prstGeom>
          <a:noFill/>
          <a:ln/>
        </p:spPr>
        <p:txBody>
          <a:bodyPr wrap="square" lIns="0" tIns="0" rIns="0" bIns="0" rtlCol="0" anchor="ctr"/>
          <a:lstStyle/>
          <a:p>
            <a:pPr indent="0" marL="0">
              <a:buNone/>
            </a:pPr>
            <a:r>
              <a:rPr lang="en-US" sz="1650" b="1" dirty="0">
                <a:solidFill>
                  <a:srgbClr val="13333A"/>
                </a:solidFill>
                <a:latin typeface="Cambria" pitchFamily="34" charset="0"/>
                <a:ea typeface="Cambria" pitchFamily="34" charset="-122"/>
                <a:cs typeface="Cambria" pitchFamily="34" charset="-120"/>
              </a:rPr>
              <a:t>1 · Source attribution</a:t>
            </a:r>
            <a:endParaRPr lang="en-US" sz="1650" dirty="0"/>
          </a:p>
        </p:txBody>
      </p:sp>
      <p:sp>
        <p:nvSpPr>
          <p:cNvPr id="10" name="Text 6"/>
          <p:cNvSpPr/>
          <p:nvPr/>
        </p:nvSpPr>
        <p:spPr>
          <a:xfrm>
            <a:off x="1005840" y="2926080"/>
            <a:ext cx="4663440" cy="1508760"/>
          </a:xfrm>
          <a:prstGeom prst="rect">
            <a:avLst/>
          </a:prstGeom>
          <a:noFill/>
          <a:ln/>
        </p:spPr>
        <p:txBody>
          <a:bodyPr wrap="square" lIns="0" tIns="0" rIns="0" bIns="0" rtlCol="0" anchor="ctr"/>
          <a:lstStyle/>
          <a:p>
            <a:pPr indent="0" marL="0">
              <a:buNone/>
            </a:pPr>
            <a:r>
              <a:rPr lang="en-US" sz="1300" dirty="0">
                <a:solidFill>
                  <a:srgbClr val="13333A"/>
                </a:solidFill>
                <a:latin typeface="Calibri" pitchFamily="34" charset="0"/>
                <a:ea typeface="Calibri" pitchFamily="34" charset="-122"/>
                <a:cs typeface="Calibri" pitchFamily="34" charset="-120"/>
              </a:rPr>
              <a:t>Every asserted fact must resolve to a specific FHIR resource a tool pulled this session. Unresolvable claims are dropped or regenerated. Citations surface so the clinician trusts at a glance.</a:t>
            </a:r>
            <a:endParaRPr lang="en-US" sz="1300" dirty="0"/>
          </a:p>
        </p:txBody>
      </p:sp>
      <p:sp>
        <p:nvSpPr>
          <p:cNvPr id="11" name="Shape 7"/>
          <p:cNvSpPr/>
          <p:nvPr/>
        </p:nvSpPr>
        <p:spPr>
          <a:xfrm>
            <a:off x="6217920" y="1828800"/>
            <a:ext cx="5257800" cy="2743200"/>
          </a:xfrm>
          <a:prstGeom prst="roundRect">
            <a:avLst>
              <a:gd name="adj" fmla="val 3333"/>
            </a:avLst>
          </a:prstGeom>
          <a:solidFill>
            <a:srgbClr val="EEF6F6"/>
          </a:solidFill>
          <a:ln/>
          <a:effectLst>
            <a:outerShdw sx="100000" sy="100000" kx="0" ky="0" algn="bl" rotWithShape="0" blurRad="88900" dist="38100" dir="5400000">
              <a:srgbClr val="0B3B3F">
                <a:alpha val="16000"/>
              </a:srgbClr>
            </a:outerShdw>
          </a:effectLst>
        </p:spPr>
      </p:sp>
      <p:sp>
        <p:nvSpPr>
          <p:cNvPr id="12" name="Shape 8"/>
          <p:cNvSpPr/>
          <p:nvPr/>
        </p:nvSpPr>
        <p:spPr>
          <a:xfrm>
            <a:off x="6537960" y="2103120"/>
            <a:ext cx="640080" cy="640080"/>
          </a:xfrm>
          <a:prstGeom prst="ellipse">
            <a:avLst/>
          </a:prstGeom>
          <a:solidFill>
            <a:srgbClr val="028090"/>
          </a:solidFill>
          <a:ln/>
        </p:spPr>
      </p:sp>
      <p:pic>
        <p:nvPicPr>
          <p:cNvPr id="13" name="Image 2" descr="preencoded.png">    </p:cNvPr>
          <p:cNvPicPr>
            <a:picLocks noChangeAspect="1"/>
          </p:cNvPicPr>
          <p:nvPr/>
        </p:nvPicPr>
        <p:blipFill>
          <a:blip r:embed="rId3"/>
          <a:stretch>
            <a:fillRect/>
          </a:stretch>
        </p:blipFill>
        <p:spPr>
          <a:xfrm>
            <a:off x="6691579" y="2256739"/>
            <a:ext cx="332842" cy="332842"/>
          </a:xfrm>
          <a:prstGeom prst="rect">
            <a:avLst/>
          </a:prstGeom>
        </p:spPr>
      </p:pic>
      <p:sp>
        <p:nvSpPr>
          <p:cNvPr id="14" name="Text 9"/>
          <p:cNvSpPr/>
          <p:nvPr/>
        </p:nvSpPr>
        <p:spPr>
          <a:xfrm>
            <a:off x="7315200" y="2148840"/>
            <a:ext cx="3977640" cy="548640"/>
          </a:xfrm>
          <a:prstGeom prst="rect">
            <a:avLst/>
          </a:prstGeom>
          <a:noFill/>
          <a:ln/>
        </p:spPr>
        <p:txBody>
          <a:bodyPr wrap="square" lIns="0" tIns="0" rIns="0" bIns="0" rtlCol="0" anchor="ctr"/>
          <a:lstStyle/>
          <a:p>
            <a:pPr indent="0" marL="0">
              <a:buNone/>
            </a:pPr>
            <a:r>
              <a:rPr lang="en-US" sz="1650" b="1" dirty="0">
                <a:solidFill>
                  <a:srgbClr val="13333A"/>
                </a:solidFill>
                <a:latin typeface="Cambria" pitchFamily="34" charset="0"/>
                <a:ea typeface="Cambria" pitchFamily="34" charset="-122"/>
                <a:cs typeface="Cambria" pitchFamily="34" charset="-120"/>
              </a:rPr>
              <a:t>2 · Cardiology domain constraints</a:t>
            </a:r>
            <a:endParaRPr lang="en-US" sz="1650" dirty="0"/>
          </a:p>
        </p:txBody>
      </p:sp>
      <p:sp>
        <p:nvSpPr>
          <p:cNvPr id="15" name="Text 10"/>
          <p:cNvSpPr/>
          <p:nvPr/>
        </p:nvSpPr>
        <p:spPr>
          <a:xfrm>
            <a:off x="6537960" y="2926080"/>
            <a:ext cx="4663440" cy="1508760"/>
          </a:xfrm>
          <a:prstGeom prst="rect">
            <a:avLst/>
          </a:prstGeom>
          <a:noFill/>
          <a:ln/>
        </p:spPr>
        <p:txBody>
          <a:bodyPr wrap="square" lIns="0" tIns="0" rIns="0" bIns="0" rtlCol="0" anchor="ctr"/>
          <a:lstStyle/>
          <a:p>
            <a:pPr indent="0" marL="0">
              <a:buNone/>
            </a:pPr>
            <a:r>
              <a:rPr lang="en-US" sz="1300" dirty="0">
                <a:solidFill>
                  <a:srgbClr val="13333A"/>
                </a:solidFill>
                <a:latin typeface="Calibri" pitchFamily="34" charset="0"/>
                <a:ea typeface="Calibri" pitchFamily="34" charset="-122"/>
                <a:cs typeface="Calibri" pitchFamily="34" charset="-120"/>
              </a:rPr>
              <a:t>A versioned rules layer flags responses that violate clinical constraints: INR range for the indication, QT-prolonging combos, renal dosing, K⁺/creatinine on ACEi/ARB. This is where narrowing to cardiology pays off.</a:t>
            </a:r>
            <a:endParaRPr lang="en-US" sz="1300" dirty="0"/>
          </a:p>
        </p:txBody>
      </p:sp>
      <p:sp>
        <p:nvSpPr>
          <p:cNvPr id="16" name="Shape 11"/>
          <p:cNvSpPr/>
          <p:nvPr/>
        </p:nvSpPr>
        <p:spPr>
          <a:xfrm>
            <a:off x="685800" y="4892040"/>
            <a:ext cx="10789920" cy="1234440"/>
          </a:xfrm>
          <a:prstGeom prst="roundRect">
            <a:avLst>
              <a:gd name="adj" fmla="val 5926"/>
            </a:avLst>
          </a:prstGeom>
          <a:solidFill>
            <a:srgbClr val="FBEDE6"/>
          </a:solidFill>
          <a:ln/>
        </p:spPr>
      </p:sp>
      <p:sp>
        <p:nvSpPr>
          <p:cNvPr id="17" name="Shape 12"/>
          <p:cNvSpPr/>
          <p:nvPr/>
        </p:nvSpPr>
        <p:spPr>
          <a:xfrm>
            <a:off x="960120" y="5138928"/>
            <a:ext cx="502920" cy="502920"/>
          </a:xfrm>
          <a:prstGeom prst="ellipse">
            <a:avLst/>
          </a:prstGeom>
          <a:solidFill>
            <a:srgbClr val="E0683B"/>
          </a:solidFill>
          <a:ln/>
        </p:spPr>
      </p:sp>
      <p:pic>
        <p:nvPicPr>
          <p:cNvPr id="18" name="Image 3" descr="preencoded.png">    </p:cNvPr>
          <p:cNvPicPr>
            <a:picLocks noChangeAspect="1"/>
          </p:cNvPicPr>
          <p:nvPr/>
        </p:nvPicPr>
        <p:blipFill>
          <a:blip r:embed="rId4"/>
          <a:stretch>
            <a:fillRect/>
          </a:stretch>
        </p:blipFill>
        <p:spPr>
          <a:xfrm>
            <a:off x="1080821" y="5259629"/>
            <a:ext cx="261518" cy="261518"/>
          </a:xfrm>
          <a:prstGeom prst="rect">
            <a:avLst/>
          </a:prstGeom>
        </p:spPr>
      </p:pic>
      <p:sp>
        <p:nvSpPr>
          <p:cNvPr id="19" name="Text 13"/>
          <p:cNvSpPr/>
          <p:nvPr/>
        </p:nvSpPr>
        <p:spPr>
          <a:xfrm>
            <a:off x="1691640" y="5029200"/>
            <a:ext cx="9601200" cy="960120"/>
          </a:xfrm>
          <a:prstGeom prst="rect">
            <a:avLst/>
          </a:prstGeom>
          <a:noFill/>
          <a:ln/>
        </p:spPr>
        <p:txBody>
          <a:bodyPr wrap="square" lIns="0" tIns="0" rIns="0" bIns="0" rtlCol="0" anchor="ctr"/>
          <a:lstStyle/>
          <a:p>
            <a:pPr indent="0" marL="0">
              <a:buNone/>
            </a:pPr>
            <a:r>
              <a:rPr lang="en-US" sz="1350" b="1" dirty="0">
                <a:solidFill>
                  <a:srgbClr val="E0683B"/>
                </a:solidFill>
                <a:latin typeface="Calibri" pitchFamily="34" charset="0"/>
                <a:ea typeface="Calibri" pitchFamily="34" charset="-122"/>
                <a:cs typeface="Calibri" pitchFamily="34" charset="-120"/>
              </a:rPr>
              <a:t>Known limit  </a:t>
            </a:r>
            <a:pPr indent="0" marL="0">
              <a:buNone/>
            </a:pPr>
            <a:r>
              <a:rPr lang="en-US" sz="1250" dirty="0">
                <a:solidFill>
                  <a:srgbClr val="13333A"/>
                </a:solidFill>
                <a:latin typeface="Calibri" pitchFamily="34" charset="0"/>
                <a:ea typeface="Calibri" pitchFamily="34" charset="-122"/>
                <a:cs typeface="Calibri" pitchFamily="34" charset="-120"/>
              </a:rPr>
              <a:t>citation resolution catches unsupported claims — not a subtly wrong synthesis (e.g. stale med reconciliation). Mitigations: low-temp extractive framing, recency weighting, visible 'data as of' stamps. Documented, not hidden.</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502920" cy="502920"/>
          </a:xfrm>
          <a:prstGeom prst="ellipse">
            <a:avLst/>
          </a:prstGeom>
          <a:solidFill>
            <a:srgbClr val="028090"/>
          </a:solidFill>
          <a:ln/>
        </p:spPr>
      </p:sp>
      <p:pic>
        <p:nvPicPr>
          <p:cNvPr id="3" name="Image 0" descr="preencoded.png">    </p:cNvPr>
          <p:cNvPicPr>
            <a:picLocks noChangeAspect="1"/>
          </p:cNvPicPr>
          <p:nvPr/>
        </p:nvPicPr>
        <p:blipFill>
          <a:blip r:embed="rId1"/>
          <a:stretch>
            <a:fillRect/>
          </a:stretch>
        </p:blipFill>
        <p:spPr>
          <a:xfrm>
            <a:off x="806501" y="577901"/>
            <a:ext cx="261518" cy="261518"/>
          </a:xfrm>
          <a:prstGeom prst="rect">
            <a:avLst/>
          </a:prstGeom>
        </p:spPr>
      </p:pic>
      <p:sp>
        <p:nvSpPr>
          <p:cNvPr id="4" name="Text 1"/>
          <p:cNvSpPr/>
          <p:nvPr/>
        </p:nvSpPr>
        <p:spPr>
          <a:xfrm>
            <a:off x="1325880" y="502920"/>
            <a:ext cx="9144000" cy="320040"/>
          </a:xfrm>
          <a:prstGeom prst="rect">
            <a:avLst/>
          </a:prstGeom>
          <a:noFill/>
          <a:ln/>
        </p:spPr>
        <p:txBody>
          <a:bodyPr wrap="square" lIns="0" tIns="0" rIns="0" bIns="0" rtlCol="0" anchor="ctr"/>
          <a:lstStyle/>
          <a:p>
            <a:pPr indent="0" marL="0">
              <a:buNone/>
            </a:pPr>
            <a:r>
              <a:rPr lang="en-US" sz="1200" b="1" spc="300" kern="0" dirty="0">
                <a:solidFill>
                  <a:srgbClr val="028090"/>
                </a:solidFill>
                <a:latin typeface="Calibri" pitchFamily="34" charset="0"/>
                <a:ea typeface="Calibri" pitchFamily="34" charset="-122"/>
                <a:cs typeface="Calibri" pitchFamily="34" charset="-120"/>
              </a:rPr>
              <a:t>KEY DECISION 3  ·  INTEGRATION + GOVERNANCE</a:t>
            </a:r>
            <a:endParaRPr lang="en-US" sz="1200" dirty="0"/>
          </a:p>
        </p:txBody>
      </p:sp>
      <p:sp>
        <p:nvSpPr>
          <p:cNvPr id="5" name="Text 2"/>
          <p:cNvSpPr/>
          <p:nvPr/>
        </p:nvSpPr>
        <p:spPr>
          <a:xfrm>
            <a:off x="1325880" y="786384"/>
            <a:ext cx="10241280" cy="777240"/>
          </a:xfrm>
          <a:prstGeom prst="rect">
            <a:avLst/>
          </a:prstGeom>
          <a:noFill/>
          <a:ln/>
        </p:spPr>
        <p:txBody>
          <a:bodyPr wrap="square" lIns="0" tIns="0" rIns="0" bIns="0" rtlCol="0" anchor="ctr"/>
          <a:lstStyle/>
          <a:p>
            <a:pPr indent="0" marL="0">
              <a:buNone/>
            </a:pPr>
            <a:r>
              <a:rPr lang="en-US" sz="3000" b="1" dirty="0">
                <a:solidFill>
                  <a:srgbClr val="13333A"/>
                </a:solidFill>
                <a:latin typeface="Cambria" pitchFamily="34" charset="0"/>
                <a:ea typeface="Cambria" pitchFamily="34" charset="-122"/>
                <a:cs typeface="Cambria" pitchFamily="34" charset="-120"/>
              </a:rPr>
              <a:t>Sidecar + MCP tool layer</a:t>
            </a:r>
            <a:endParaRPr lang="en-US" sz="3000" dirty="0"/>
          </a:p>
        </p:txBody>
      </p:sp>
      <p:sp>
        <p:nvSpPr>
          <p:cNvPr id="6" name="Shape 3"/>
          <p:cNvSpPr/>
          <p:nvPr/>
        </p:nvSpPr>
        <p:spPr>
          <a:xfrm>
            <a:off x="685800" y="1874520"/>
            <a:ext cx="3502152" cy="4023360"/>
          </a:xfrm>
          <a:prstGeom prst="roundRect">
            <a:avLst>
              <a:gd name="adj" fmla="val 2611"/>
            </a:avLst>
          </a:prstGeom>
          <a:solidFill>
            <a:srgbClr val="EEF6F6"/>
          </a:solidFill>
          <a:ln/>
          <a:effectLst>
            <a:outerShdw sx="100000" sy="100000" kx="0" ky="0" algn="bl" rotWithShape="0" blurRad="88900" dist="38100" dir="5400000">
              <a:srgbClr val="0B3B3F">
                <a:alpha val="16000"/>
              </a:srgbClr>
            </a:outerShdw>
          </a:effectLst>
        </p:spPr>
      </p:sp>
      <p:sp>
        <p:nvSpPr>
          <p:cNvPr id="7" name="Shape 4"/>
          <p:cNvSpPr/>
          <p:nvPr/>
        </p:nvSpPr>
        <p:spPr>
          <a:xfrm>
            <a:off x="1005840" y="2194560"/>
            <a:ext cx="685800" cy="685800"/>
          </a:xfrm>
          <a:prstGeom prst="ellipse">
            <a:avLst/>
          </a:prstGeom>
          <a:solidFill>
            <a:srgbClr val="028090"/>
          </a:solidFill>
          <a:ln/>
        </p:spPr>
      </p:sp>
      <p:pic>
        <p:nvPicPr>
          <p:cNvPr id="8" name="Image 1" descr="preencoded.png">    </p:cNvPr>
          <p:cNvPicPr>
            <a:picLocks noChangeAspect="1"/>
          </p:cNvPicPr>
          <p:nvPr/>
        </p:nvPicPr>
        <p:blipFill>
          <a:blip r:embed="rId2"/>
          <a:stretch>
            <a:fillRect/>
          </a:stretch>
        </p:blipFill>
        <p:spPr>
          <a:xfrm>
            <a:off x="1170432" y="2359152"/>
            <a:ext cx="356616" cy="356616"/>
          </a:xfrm>
          <a:prstGeom prst="rect">
            <a:avLst/>
          </a:prstGeom>
        </p:spPr>
      </p:pic>
      <p:sp>
        <p:nvSpPr>
          <p:cNvPr id="9" name="Text 5"/>
          <p:cNvSpPr/>
          <p:nvPr/>
        </p:nvSpPr>
        <p:spPr>
          <a:xfrm>
            <a:off x="978408" y="3063240"/>
            <a:ext cx="2926080" cy="640080"/>
          </a:xfrm>
          <a:prstGeom prst="rect">
            <a:avLst/>
          </a:prstGeom>
          <a:noFill/>
          <a:ln/>
        </p:spPr>
        <p:txBody>
          <a:bodyPr wrap="square" lIns="0" tIns="0" rIns="0" bIns="0" rtlCol="0" anchor="ctr"/>
          <a:lstStyle/>
          <a:p>
            <a:pPr indent="0" marL="0">
              <a:buNone/>
            </a:pPr>
            <a:r>
              <a:rPr lang="en-US" sz="1650" b="1" dirty="0">
                <a:solidFill>
                  <a:srgbClr val="13333A"/>
                </a:solidFill>
                <a:latin typeface="Cambria" pitchFamily="34" charset="0"/>
                <a:ea typeface="Cambria" pitchFamily="34" charset="-122"/>
                <a:cs typeface="Cambria" pitchFamily="34" charset="-120"/>
              </a:rPr>
              <a:t>Sidecar, not fork</a:t>
            </a:r>
            <a:endParaRPr lang="en-US" sz="1650" dirty="0"/>
          </a:p>
        </p:txBody>
      </p:sp>
      <p:sp>
        <p:nvSpPr>
          <p:cNvPr id="10" name="Text 6"/>
          <p:cNvSpPr/>
          <p:nvPr/>
        </p:nvSpPr>
        <p:spPr>
          <a:xfrm>
            <a:off x="978408" y="3703320"/>
            <a:ext cx="2971800" cy="2011680"/>
          </a:xfrm>
          <a:prstGeom prst="rect">
            <a:avLst/>
          </a:prstGeom>
          <a:noFill/>
          <a:ln/>
        </p:spPr>
        <p:txBody>
          <a:bodyPr wrap="square" lIns="0" tIns="0" rIns="0" bIns="0" rtlCol="0" anchor="ctr"/>
          <a:lstStyle/>
          <a:p>
            <a:pPr indent="0" marL="0">
              <a:buNone/>
            </a:pPr>
            <a:r>
              <a:rPr lang="en-US" sz="1250" dirty="0">
                <a:solidFill>
                  <a:srgbClr val="13333A"/>
                </a:solidFill>
                <a:latin typeface="Calibri" pitchFamily="34" charset="0"/>
                <a:ea typeface="Calibri" pitchFamily="34" charset="-122"/>
                <a:cs typeface="Calibri" pitchFamily="34" charset="-120"/>
              </a:rPr>
              <a:t>Integrate only through OpenEMR's certified FHIR/OAuth/SMART surfaces. Core untouched → upgrade-safe, cert-preserving, independently deployable.</a:t>
            </a:r>
            <a:endParaRPr lang="en-US" sz="1250" dirty="0"/>
          </a:p>
        </p:txBody>
      </p:sp>
      <p:sp>
        <p:nvSpPr>
          <p:cNvPr id="11" name="Shape 7"/>
          <p:cNvSpPr/>
          <p:nvPr/>
        </p:nvSpPr>
        <p:spPr>
          <a:xfrm>
            <a:off x="4361688" y="1874520"/>
            <a:ext cx="3502152" cy="4023360"/>
          </a:xfrm>
          <a:prstGeom prst="roundRect">
            <a:avLst>
              <a:gd name="adj" fmla="val 2611"/>
            </a:avLst>
          </a:prstGeom>
          <a:solidFill>
            <a:srgbClr val="EEF6F6"/>
          </a:solidFill>
          <a:ln/>
          <a:effectLst>
            <a:outerShdw sx="100000" sy="100000" kx="0" ky="0" algn="bl" rotWithShape="0" blurRad="88900" dist="38100" dir="5400000">
              <a:srgbClr val="0B3B3F">
                <a:alpha val="16000"/>
              </a:srgbClr>
            </a:outerShdw>
          </a:effectLst>
        </p:spPr>
      </p:sp>
      <p:sp>
        <p:nvSpPr>
          <p:cNvPr id="12" name="Shape 8"/>
          <p:cNvSpPr/>
          <p:nvPr/>
        </p:nvSpPr>
        <p:spPr>
          <a:xfrm>
            <a:off x="4681728" y="2194560"/>
            <a:ext cx="685800" cy="685800"/>
          </a:xfrm>
          <a:prstGeom prst="ellipse">
            <a:avLst/>
          </a:prstGeom>
          <a:solidFill>
            <a:srgbClr val="028090"/>
          </a:solidFill>
          <a:ln/>
        </p:spPr>
      </p:sp>
      <p:pic>
        <p:nvPicPr>
          <p:cNvPr id="13" name="Image 2" descr="preencoded.png">    </p:cNvPr>
          <p:cNvPicPr>
            <a:picLocks noChangeAspect="1"/>
          </p:cNvPicPr>
          <p:nvPr/>
        </p:nvPicPr>
        <p:blipFill>
          <a:blip r:embed="rId3"/>
          <a:stretch>
            <a:fillRect/>
          </a:stretch>
        </p:blipFill>
        <p:spPr>
          <a:xfrm>
            <a:off x="4846320" y="2359152"/>
            <a:ext cx="356616" cy="356616"/>
          </a:xfrm>
          <a:prstGeom prst="rect">
            <a:avLst/>
          </a:prstGeom>
        </p:spPr>
      </p:pic>
      <p:sp>
        <p:nvSpPr>
          <p:cNvPr id="14" name="Text 9"/>
          <p:cNvSpPr/>
          <p:nvPr/>
        </p:nvSpPr>
        <p:spPr>
          <a:xfrm>
            <a:off x="4654296" y="3063240"/>
            <a:ext cx="2926080" cy="640080"/>
          </a:xfrm>
          <a:prstGeom prst="rect">
            <a:avLst/>
          </a:prstGeom>
          <a:noFill/>
          <a:ln/>
        </p:spPr>
        <p:txBody>
          <a:bodyPr wrap="square" lIns="0" tIns="0" rIns="0" bIns="0" rtlCol="0" anchor="ctr"/>
          <a:lstStyle/>
          <a:p>
            <a:pPr indent="0" marL="0">
              <a:buNone/>
            </a:pPr>
            <a:r>
              <a:rPr lang="en-US" sz="1650" b="1" dirty="0">
                <a:solidFill>
                  <a:srgbClr val="13333A"/>
                </a:solidFill>
                <a:latin typeface="Cambria" pitchFamily="34" charset="0"/>
                <a:ea typeface="Cambria" pitchFamily="34" charset="-122"/>
                <a:cs typeface="Cambria" pitchFamily="34" charset="-120"/>
              </a:rPr>
              <a:t>MCP as the choke point</a:t>
            </a:r>
            <a:endParaRPr lang="en-US" sz="1650" dirty="0"/>
          </a:p>
        </p:txBody>
      </p:sp>
      <p:sp>
        <p:nvSpPr>
          <p:cNvPr id="15" name="Text 10"/>
          <p:cNvSpPr/>
          <p:nvPr/>
        </p:nvSpPr>
        <p:spPr>
          <a:xfrm>
            <a:off x="4654296" y="3703320"/>
            <a:ext cx="2971800" cy="2011680"/>
          </a:xfrm>
          <a:prstGeom prst="rect">
            <a:avLst/>
          </a:prstGeom>
          <a:noFill/>
          <a:ln/>
        </p:spPr>
        <p:txBody>
          <a:bodyPr wrap="square" lIns="0" tIns="0" rIns="0" bIns="0" rtlCol="0" anchor="ctr"/>
          <a:lstStyle/>
          <a:p>
            <a:pPr indent="0" marL="0">
              <a:buNone/>
            </a:pPr>
            <a:r>
              <a:rPr lang="en-US" sz="1250" dirty="0">
                <a:solidFill>
                  <a:srgbClr val="13333A"/>
                </a:solidFill>
                <a:latin typeface="Calibri" pitchFamily="34" charset="0"/>
                <a:ea typeface="Calibri" pitchFamily="34" charset="-122"/>
                <a:cs typeface="Calibri" pitchFamily="34" charset="-120"/>
              </a:rPr>
              <a:t>Read-only tools with narrow inputs (IDs, bounded windows) = HIPAA minimum-necessary as tool design. Single audit + provenance choke point; strict schemas are the contract.</a:t>
            </a:r>
            <a:endParaRPr lang="en-US" sz="1250" dirty="0"/>
          </a:p>
        </p:txBody>
      </p:sp>
      <p:sp>
        <p:nvSpPr>
          <p:cNvPr id="16" name="Shape 11"/>
          <p:cNvSpPr/>
          <p:nvPr/>
        </p:nvSpPr>
        <p:spPr>
          <a:xfrm>
            <a:off x="8037576" y="1874520"/>
            <a:ext cx="3502152" cy="4023360"/>
          </a:xfrm>
          <a:prstGeom prst="roundRect">
            <a:avLst>
              <a:gd name="adj" fmla="val 2611"/>
            </a:avLst>
          </a:prstGeom>
          <a:solidFill>
            <a:srgbClr val="EEF6F6"/>
          </a:solidFill>
          <a:ln/>
          <a:effectLst>
            <a:outerShdw sx="100000" sy="100000" kx="0" ky="0" algn="bl" rotWithShape="0" blurRad="88900" dist="38100" dir="5400000">
              <a:srgbClr val="0B3B3F">
                <a:alpha val="16000"/>
              </a:srgbClr>
            </a:outerShdw>
          </a:effectLst>
        </p:spPr>
      </p:sp>
      <p:sp>
        <p:nvSpPr>
          <p:cNvPr id="17" name="Shape 12"/>
          <p:cNvSpPr/>
          <p:nvPr/>
        </p:nvSpPr>
        <p:spPr>
          <a:xfrm>
            <a:off x="8357616" y="2194560"/>
            <a:ext cx="685800" cy="685800"/>
          </a:xfrm>
          <a:prstGeom prst="ellipse">
            <a:avLst/>
          </a:prstGeom>
          <a:solidFill>
            <a:srgbClr val="028090"/>
          </a:solidFill>
          <a:ln/>
        </p:spPr>
      </p:sp>
      <p:pic>
        <p:nvPicPr>
          <p:cNvPr id="18" name="Image 3" descr="preencoded.png">    </p:cNvPr>
          <p:cNvPicPr>
            <a:picLocks noChangeAspect="1"/>
          </p:cNvPicPr>
          <p:nvPr/>
        </p:nvPicPr>
        <p:blipFill>
          <a:blip r:embed="rId4"/>
          <a:stretch>
            <a:fillRect/>
          </a:stretch>
        </p:blipFill>
        <p:spPr>
          <a:xfrm>
            <a:off x="8522208" y="2359152"/>
            <a:ext cx="356616" cy="356616"/>
          </a:xfrm>
          <a:prstGeom prst="rect">
            <a:avLst/>
          </a:prstGeom>
        </p:spPr>
      </p:pic>
      <p:sp>
        <p:nvSpPr>
          <p:cNvPr id="19" name="Text 13"/>
          <p:cNvSpPr/>
          <p:nvPr/>
        </p:nvSpPr>
        <p:spPr>
          <a:xfrm>
            <a:off x="8330184" y="3063240"/>
            <a:ext cx="2926080" cy="640080"/>
          </a:xfrm>
          <a:prstGeom prst="rect">
            <a:avLst/>
          </a:prstGeom>
          <a:noFill/>
          <a:ln/>
        </p:spPr>
        <p:txBody>
          <a:bodyPr wrap="square" lIns="0" tIns="0" rIns="0" bIns="0" rtlCol="0" anchor="ctr"/>
          <a:lstStyle/>
          <a:p>
            <a:pPr indent="0" marL="0">
              <a:buNone/>
            </a:pPr>
            <a:r>
              <a:rPr lang="en-US" sz="1650" b="1" dirty="0">
                <a:solidFill>
                  <a:srgbClr val="13333A"/>
                </a:solidFill>
                <a:latin typeface="Cambria" pitchFamily="34" charset="0"/>
                <a:ea typeface="Cambria" pitchFamily="34" charset="-122"/>
                <a:cs typeface="Cambria" pitchFamily="34" charset="-120"/>
              </a:rPr>
              <a:t>Multi-turn agent, not a report</a:t>
            </a:r>
            <a:endParaRPr lang="en-US" sz="1650" dirty="0"/>
          </a:p>
        </p:txBody>
      </p:sp>
      <p:sp>
        <p:nvSpPr>
          <p:cNvPr id="20" name="Text 14"/>
          <p:cNvSpPr/>
          <p:nvPr/>
        </p:nvSpPr>
        <p:spPr>
          <a:xfrm>
            <a:off x="8330184" y="3703320"/>
            <a:ext cx="2971800" cy="2011680"/>
          </a:xfrm>
          <a:prstGeom prst="rect">
            <a:avLst/>
          </a:prstGeom>
          <a:noFill/>
          <a:ln/>
        </p:spPr>
        <p:txBody>
          <a:bodyPr wrap="square" lIns="0" tIns="0" rIns="0" bIns="0" rtlCol="0" anchor="ctr"/>
          <a:lstStyle/>
          <a:p>
            <a:pPr indent="0" marL="0">
              <a:buNone/>
            </a:pPr>
            <a:r>
              <a:rPr lang="en-US" sz="1250" dirty="0">
                <a:solidFill>
                  <a:srgbClr val="13333A"/>
                </a:solidFill>
                <a:latin typeface="Calibri" pitchFamily="34" charset="0"/>
                <a:ea typeface="Calibri" pitchFamily="34" charset="-122"/>
                <a:cs typeface="Calibri" pitchFamily="34" charset="-120"/>
              </a:rPr>
              <a:t>The follow-up loop ('when was that INR drawn?') is what earns the agent shape. Remove that use case and multi-turn + tool chaining get cut.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457200"/>
            <a:ext cx="502920" cy="502920"/>
          </a:xfrm>
          <a:prstGeom prst="ellipse">
            <a:avLst/>
          </a:prstGeom>
          <a:solidFill>
            <a:srgbClr val="E0683B"/>
          </a:solidFill>
          <a:ln/>
        </p:spPr>
      </p:sp>
      <p:pic>
        <p:nvPicPr>
          <p:cNvPr id="3" name="Image 0" descr="preencoded.png">    </p:cNvPr>
          <p:cNvPicPr>
            <a:picLocks noChangeAspect="1"/>
          </p:cNvPicPr>
          <p:nvPr/>
        </p:nvPicPr>
        <p:blipFill>
          <a:blip r:embed="rId1"/>
          <a:stretch>
            <a:fillRect/>
          </a:stretch>
        </p:blipFill>
        <p:spPr>
          <a:xfrm>
            <a:off x="806501" y="577901"/>
            <a:ext cx="261518" cy="261518"/>
          </a:xfrm>
          <a:prstGeom prst="rect">
            <a:avLst/>
          </a:prstGeom>
        </p:spPr>
      </p:pic>
      <p:sp>
        <p:nvSpPr>
          <p:cNvPr id="4" name="Text 1"/>
          <p:cNvSpPr/>
          <p:nvPr/>
        </p:nvSpPr>
        <p:spPr>
          <a:xfrm>
            <a:off x="1325880" y="502920"/>
            <a:ext cx="9144000" cy="320040"/>
          </a:xfrm>
          <a:prstGeom prst="rect">
            <a:avLst/>
          </a:prstGeom>
          <a:noFill/>
          <a:ln/>
        </p:spPr>
        <p:txBody>
          <a:bodyPr wrap="square" lIns="0" tIns="0" rIns="0" bIns="0" rtlCol="0" anchor="ctr"/>
          <a:lstStyle/>
          <a:p>
            <a:pPr indent="0" marL="0">
              <a:buNone/>
            </a:pPr>
            <a:r>
              <a:rPr lang="en-US" sz="1200" b="1" spc="300" kern="0" dirty="0">
                <a:solidFill>
                  <a:srgbClr val="E0683B"/>
                </a:solidFill>
                <a:latin typeface="Calibri" pitchFamily="34" charset="0"/>
                <a:ea typeface="Calibri" pitchFamily="34" charset="-122"/>
                <a:cs typeface="Calibri" pitchFamily="34" charset="-120"/>
              </a:rPr>
              <a:t>KNOWN TRADEOFFS &amp; OPEN QUESTIONS</a:t>
            </a:r>
            <a:endParaRPr lang="en-US" sz="1200" dirty="0"/>
          </a:p>
        </p:txBody>
      </p:sp>
      <p:sp>
        <p:nvSpPr>
          <p:cNvPr id="5" name="Text 2"/>
          <p:cNvSpPr/>
          <p:nvPr/>
        </p:nvSpPr>
        <p:spPr>
          <a:xfrm>
            <a:off x="1325880" y="786384"/>
            <a:ext cx="10241280" cy="777240"/>
          </a:xfrm>
          <a:prstGeom prst="rect">
            <a:avLst/>
          </a:prstGeom>
          <a:noFill/>
          <a:ln/>
        </p:spPr>
        <p:txBody>
          <a:bodyPr wrap="square" lIns="0" tIns="0" rIns="0" bIns="0" rtlCol="0" anchor="ctr"/>
          <a:lstStyle/>
          <a:p>
            <a:pPr indent="0" marL="0">
              <a:buNone/>
            </a:pPr>
            <a:r>
              <a:rPr lang="en-US" sz="3000" b="1" dirty="0">
                <a:solidFill>
                  <a:srgbClr val="13333A"/>
                </a:solidFill>
                <a:latin typeface="Cambria" pitchFamily="34" charset="0"/>
                <a:ea typeface="Cambria" pitchFamily="34" charset="-122"/>
                <a:cs typeface="Cambria" pitchFamily="34" charset="-120"/>
              </a:rPr>
              <a:t>Where I made a call — and where I'm unsure</a:t>
            </a:r>
            <a:endParaRPr lang="en-US" sz="3000" dirty="0"/>
          </a:p>
        </p:txBody>
      </p:sp>
      <p:sp>
        <p:nvSpPr>
          <p:cNvPr id="6" name="Text 3"/>
          <p:cNvSpPr/>
          <p:nvPr/>
        </p:nvSpPr>
        <p:spPr>
          <a:xfrm>
            <a:off x="685800" y="1783080"/>
            <a:ext cx="5394960" cy="365760"/>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Deliberate tradeoffs</a:t>
            </a:r>
            <a:endParaRPr lang="en-US" sz="1500" dirty="0"/>
          </a:p>
        </p:txBody>
      </p:sp>
      <p:sp>
        <p:nvSpPr>
          <p:cNvPr id="7" name="Shape 4"/>
          <p:cNvSpPr/>
          <p:nvPr/>
        </p:nvSpPr>
        <p:spPr>
          <a:xfrm>
            <a:off x="685800" y="2240280"/>
            <a:ext cx="5394960" cy="1170432"/>
          </a:xfrm>
          <a:prstGeom prst="roundRect">
            <a:avLst>
              <a:gd name="adj" fmla="val 5469"/>
            </a:avLst>
          </a:prstGeom>
          <a:solidFill>
            <a:srgbClr val="EEF6F6"/>
          </a:solidFill>
          <a:ln/>
        </p:spPr>
      </p:sp>
      <p:sp>
        <p:nvSpPr>
          <p:cNvPr id="8" name="Text 5"/>
          <p:cNvSpPr/>
          <p:nvPr/>
        </p:nvSpPr>
        <p:spPr>
          <a:xfrm>
            <a:off x="896112" y="2350008"/>
            <a:ext cx="5029200" cy="347472"/>
          </a:xfrm>
          <a:prstGeom prst="rect">
            <a:avLst/>
          </a:prstGeom>
          <a:noFill/>
          <a:ln/>
        </p:spPr>
        <p:txBody>
          <a:bodyPr wrap="square" lIns="0" tIns="0" rIns="0" bIns="0" rtlCol="0" anchor="ctr"/>
          <a:lstStyle/>
          <a:p>
            <a:pPr indent="0" marL="0">
              <a:buNone/>
            </a:pPr>
            <a:r>
              <a:rPr lang="en-US" sz="1350" b="1" dirty="0">
                <a:solidFill>
                  <a:srgbClr val="13333A"/>
                </a:solidFill>
                <a:latin typeface="Calibri" pitchFamily="34" charset="0"/>
                <a:ea typeface="Calibri" pitchFamily="34" charset="-122"/>
                <a:cs typeface="Calibri" pitchFamily="34" charset="-120"/>
              </a:rPr>
              <a:t>Latency vs. completeness</a:t>
            </a:r>
            <a:endParaRPr lang="en-US" sz="1350" dirty="0"/>
          </a:p>
        </p:txBody>
      </p:sp>
      <p:sp>
        <p:nvSpPr>
          <p:cNvPr id="9" name="Text 6"/>
          <p:cNvSpPr/>
          <p:nvPr/>
        </p:nvSpPr>
        <p:spPr>
          <a:xfrm>
            <a:off x="896112" y="2697480"/>
            <a:ext cx="5029200" cy="658368"/>
          </a:xfrm>
          <a:prstGeom prst="rect">
            <a:avLst/>
          </a:prstGeom>
          <a:noFill/>
          <a:ln/>
        </p:spPr>
        <p:txBody>
          <a:bodyPr wrap="square" lIns="0" tIns="0" rIns="0" bIns="0" rtlCol="0" anchor="ctr"/>
          <a:lstStyle/>
          <a:p>
            <a:pPr indent="0" marL="0">
              <a:buNone/>
            </a:pPr>
            <a:r>
              <a:rPr lang="en-US" sz="1150" dirty="0">
                <a:solidFill>
                  <a:srgbClr val="51636B"/>
                </a:solidFill>
                <a:latin typeface="Calibri" pitchFamily="34" charset="0"/>
                <a:ea typeface="Calibri" pitchFamily="34" charset="-122"/>
                <a:cs typeface="Calibri" pitchFamily="34" charset="-120"/>
              </a:rPr>
              <a:t>Return a fast verified core, defer/stream deeper synthesis, signal when more is pending. Parallel tool calls to fit the window.</a:t>
            </a:r>
            <a:endParaRPr lang="en-US" sz="1150" dirty="0"/>
          </a:p>
        </p:txBody>
      </p:sp>
      <p:sp>
        <p:nvSpPr>
          <p:cNvPr id="10" name="Shape 7"/>
          <p:cNvSpPr/>
          <p:nvPr/>
        </p:nvSpPr>
        <p:spPr>
          <a:xfrm>
            <a:off x="685800" y="3538728"/>
            <a:ext cx="5394960" cy="1170432"/>
          </a:xfrm>
          <a:prstGeom prst="roundRect">
            <a:avLst>
              <a:gd name="adj" fmla="val 5469"/>
            </a:avLst>
          </a:prstGeom>
          <a:solidFill>
            <a:srgbClr val="EEF6F6"/>
          </a:solidFill>
          <a:ln/>
        </p:spPr>
      </p:sp>
      <p:sp>
        <p:nvSpPr>
          <p:cNvPr id="11" name="Text 8"/>
          <p:cNvSpPr/>
          <p:nvPr/>
        </p:nvSpPr>
        <p:spPr>
          <a:xfrm>
            <a:off x="896112" y="3648456"/>
            <a:ext cx="5029200" cy="347472"/>
          </a:xfrm>
          <a:prstGeom prst="rect">
            <a:avLst/>
          </a:prstGeom>
          <a:noFill/>
          <a:ln/>
        </p:spPr>
        <p:txBody>
          <a:bodyPr wrap="square" lIns="0" tIns="0" rIns="0" bIns="0" rtlCol="0" anchor="ctr"/>
          <a:lstStyle/>
          <a:p>
            <a:pPr indent="0" marL="0">
              <a:buNone/>
            </a:pPr>
            <a:r>
              <a:rPr lang="en-US" sz="1350" b="1" dirty="0">
                <a:solidFill>
                  <a:srgbClr val="13333A"/>
                </a:solidFill>
                <a:latin typeface="Calibri" pitchFamily="34" charset="0"/>
                <a:ea typeface="Calibri" pitchFamily="34" charset="-122"/>
                <a:cs typeface="Calibri" pitchFamily="34" charset="-120"/>
              </a:rPr>
              <a:t>One model provider (v1)</a:t>
            </a:r>
            <a:endParaRPr lang="en-US" sz="1350" dirty="0"/>
          </a:p>
        </p:txBody>
      </p:sp>
      <p:sp>
        <p:nvSpPr>
          <p:cNvPr id="12" name="Text 9"/>
          <p:cNvSpPr/>
          <p:nvPr/>
        </p:nvSpPr>
        <p:spPr>
          <a:xfrm>
            <a:off x="896112" y="3995928"/>
            <a:ext cx="5029200" cy="658368"/>
          </a:xfrm>
          <a:prstGeom prst="rect">
            <a:avLst/>
          </a:prstGeom>
          <a:noFill/>
          <a:ln/>
        </p:spPr>
        <p:txBody>
          <a:bodyPr wrap="square" lIns="0" tIns="0" rIns="0" bIns="0" rtlCol="0" anchor="ctr"/>
          <a:lstStyle/>
          <a:p>
            <a:pPr indent="0" marL="0">
              <a:buNone/>
            </a:pPr>
            <a:r>
              <a:rPr lang="en-US" sz="1150" dirty="0">
                <a:solidFill>
                  <a:srgbClr val="51636B"/>
                </a:solidFill>
                <a:latin typeface="Calibri" pitchFamily="34" charset="0"/>
                <a:ea typeface="Calibri" pitchFamily="34" charset="-122"/>
                <a:cs typeface="Calibri" pitchFamily="34" charset="-120"/>
              </a:rPr>
              <a:t>Built behind an ILlmProvider seam; alternates (direct API, air-gapped local) described, not built this week.</a:t>
            </a:r>
            <a:endParaRPr lang="en-US" sz="1150" dirty="0"/>
          </a:p>
        </p:txBody>
      </p:sp>
      <p:sp>
        <p:nvSpPr>
          <p:cNvPr id="13" name="Shape 10"/>
          <p:cNvSpPr/>
          <p:nvPr/>
        </p:nvSpPr>
        <p:spPr>
          <a:xfrm>
            <a:off x="685800" y="4837176"/>
            <a:ext cx="5394960" cy="1170432"/>
          </a:xfrm>
          <a:prstGeom prst="roundRect">
            <a:avLst>
              <a:gd name="adj" fmla="val 5469"/>
            </a:avLst>
          </a:prstGeom>
          <a:solidFill>
            <a:srgbClr val="EEF6F6"/>
          </a:solidFill>
          <a:ln/>
        </p:spPr>
      </p:sp>
      <p:sp>
        <p:nvSpPr>
          <p:cNvPr id="14" name="Text 11"/>
          <p:cNvSpPr/>
          <p:nvPr/>
        </p:nvSpPr>
        <p:spPr>
          <a:xfrm>
            <a:off x="896112" y="4946904"/>
            <a:ext cx="5029200" cy="347472"/>
          </a:xfrm>
          <a:prstGeom prst="rect">
            <a:avLst/>
          </a:prstGeom>
          <a:noFill/>
          <a:ln/>
        </p:spPr>
        <p:txBody>
          <a:bodyPr wrap="square" lIns="0" tIns="0" rIns="0" bIns="0" rtlCol="0" anchor="ctr"/>
          <a:lstStyle/>
          <a:p>
            <a:pPr indent="0" marL="0">
              <a:buNone/>
            </a:pPr>
            <a:r>
              <a:rPr lang="en-US" sz="1350" b="1" dirty="0">
                <a:solidFill>
                  <a:srgbClr val="13333A"/>
                </a:solidFill>
                <a:latin typeface="Calibri" pitchFamily="34" charset="0"/>
                <a:ea typeface="Calibri" pitchFamily="34" charset="-122"/>
                <a:cs typeface="Calibri" pitchFamily="34" charset="-120"/>
              </a:rPr>
              <a:t>Morning-triage batch = Phase-2</a:t>
            </a:r>
            <a:endParaRPr lang="en-US" sz="1350" dirty="0"/>
          </a:p>
        </p:txBody>
      </p:sp>
      <p:sp>
        <p:nvSpPr>
          <p:cNvPr id="15" name="Text 12"/>
          <p:cNvSpPr/>
          <p:nvPr/>
        </p:nvSpPr>
        <p:spPr>
          <a:xfrm>
            <a:off x="896112" y="5294376"/>
            <a:ext cx="5029200" cy="658368"/>
          </a:xfrm>
          <a:prstGeom prst="rect">
            <a:avLst/>
          </a:prstGeom>
          <a:noFill/>
          <a:ln/>
        </p:spPr>
        <p:txBody>
          <a:bodyPr wrap="square" lIns="0" tIns="0" rIns="0" bIns="0" rtlCol="0" anchor="ctr"/>
          <a:lstStyle/>
          <a:p>
            <a:pPr indent="0" marL="0">
              <a:buNone/>
            </a:pPr>
            <a:r>
              <a:rPr lang="en-US" sz="1150" dirty="0">
                <a:solidFill>
                  <a:srgbClr val="51636B"/>
                </a:solidFill>
                <a:latin typeface="Calibri" pitchFamily="34" charset="0"/>
                <a:ea typeface="Calibri" pitchFamily="34" charset="-122"/>
                <a:cs typeface="Calibri" pitchFamily="34" charset="-120"/>
              </a:rPr>
              <a:t>Pre-clinic batch deferred; it introduces headless auth + a new PHI-at-rest store — out of MVP scope by design.</a:t>
            </a:r>
            <a:endParaRPr lang="en-US" sz="1150" dirty="0"/>
          </a:p>
        </p:txBody>
      </p:sp>
      <p:sp>
        <p:nvSpPr>
          <p:cNvPr id="16" name="Text 13"/>
          <p:cNvSpPr/>
          <p:nvPr/>
        </p:nvSpPr>
        <p:spPr>
          <a:xfrm>
            <a:off x="6309360" y="1783080"/>
            <a:ext cx="5394960" cy="365760"/>
          </a:xfrm>
          <a:prstGeom prst="rect">
            <a:avLst/>
          </a:prstGeom>
          <a:noFill/>
          <a:ln/>
        </p:spPr>
        <p:txBody>
          <a:bodyPr wrap="square" lIns="0" tIns="0" rIns="0" bIns="0" rtlCol="0" anchor="ctr"/>
          <a:lstStyle/>
          <a:p>
            <a:pPr indent="0" marL="0">
              <a:buNone/>
            </a:pPr>
            <a:r>
              <a:rPr lang="en-US" sz="1500" b="1" dirty="0">
                <a:solidFill>
                  <a:srgbClr val="E0683B"/>
                </a:solidFill>
                <a:latin typeface="Cambria" pitchFamily="34" charset="0"/>
                <a:ea typeface="Cambria" pitchFamily="34" charset="-122"/>
                <a:cs typeface="Cambria" pitchFamily="34" charset="-120"/>
              </a:rPr>
              <a:t>Open / provisional</a:t>
            </a:r>
            <a:endParaRPr lang="en-US" sz="1500" dirty="0"/>
          </a:p>
        </p:txBody>
      </p:sp>
      <p:sp>
        <p:nvSpPr>
          <p:cNvPr id="17" name="Shape 14"/>
          <p:cNvSpPr/>
          <p:nvPr/>
        </p:nvSpPr>
        <p:spPr>
          <a:xfrm>
            <a:off x="6309360" y="2240280"/>
            <a:ext cx="5166360" cy="1170432"/>
          </a:xfrm>
          <a:prstGeom prst="roundRect">
            <a:avLst>
              <a:gd name="adj" fmla="val 5469"/>
            </a:avLst>
          </a:prstGeom>
          <a:solidFill>
            <a:srgbClr val="FBEDE6"/>
          </a:solidFill>
          <a:ln/>
        </p:spPr>
      </p:sp>
      <p:sp>
        <p:nvSpPr>
          <p:cNvPr id="18" name="Text 15"/>
          <p:cNvSpPr/>
          <p:nvPr/>
        </p:nvSpPr>
        <p:spPr>
          <a:xfrm>
            <a:off x="6519672" y="2350008"/>
            <a:ext cx="4800600" cy="347472"/>
          </a:xfrm>
          <a:prstGeom prst="rect">
            <a:avLst/>
          </a:prstGeom>
          <a:noFill/>
          <a:ln/>
        </p:spPr>
        <p:txBody>
          <a:bodyPr wrap="square" lIns="0" tIns="0" rIns="0" bIns="0" rtlCol="0" anchor="ctr"/>
          <a:lstStyle/>
          <a:p>
            <a:pPr indent="0" marL="0">
              <a:buNone/>
            </a:pPr>
            <a:r>
              <a:rPr lang="en-US" sz="1350" b="1" dirty="0">
                <a:solidFill>
                  <a:srgbClr val="B4512B"/>
                </a:solidFill>
                <a:latin typeface="Calibri" pitchFamily="34" charset="0"/>
                <a:ea typeface="Calibri" pitchFamily="34" charset="-122"/>
                <a:cs typeface="Calibri" pitchFamily="34" charset="-120"/>
              </a:rPr>
              <a:t>Data quality [provisional]</a:t>
            </a:r>
            <a:endParaRPr lang="en-US" sz="1350" dirty="0"/>
          </a:p>
        </p:txBody>
      </p:sp>
      <p:sp>
        <p:nvSpPr>
          <p:cNvPr id="19" name="Text 16"/>
          <p:cNvSpPr/>
          <p:nvPr/>
        </p:nvSpPr>
        <p:spPr>
          <a:xfrm>
            <a:off x="6519672" y="2697480"/>
            <a:ext cx="4800600" cy="658368"/>
          </a:xfrm>
          <a:prstGeom prst="rect">
            <a:avLst/>
          </a:prstGeom>
          <a:noFill/>
          <a:ln/>
        </p:spPr>
        <p:txBody>
          <a:bodyPr wrap="square" lIns="0" tIns="0" rIns="0" bIns="0" rtlCol="0" anchor="ctr"/>
          <a:lstStyle/>
          <a:p>
            <a:pPr indent="0" marL="0">
              <a:buNone/>
            </a:pPr>
            <a:r>
              <a:rPr lang="en-US" sz="1150" dirty="0">
                <a:solidFill>
                  <a:srgbClr val="13333A"/>
                </a:solidFill>
                <a:latin typeface="Calibri" pitchFamily="34" charset="0"/>
                <a:ea typeface="Calibri" pitchFamily="34" charset="-122"/>
                <a:cs typeface="Calibri" pitchFamily="34" charset="-120"/>
              </a:rPr>
              <a:t>Demo charts are uneven; need a completeness preflight + seeded cardiology patients.</a:t>
            </a:r>
            <a:endParaRPr lang="en-US" sz="1150" dirty="0"/>
          </a:p>
        </p:txBody>
      </p:sp>
      <p:sp>
        <p:nvSpPr>
          <p:cNvPr id="20" name="Shape 17"/>
          <p:cNvSpPr/>
          <p:nvPr/>
        </p:nvSpPr>
        <p:spPr>
          <a:xfrm>
            <a:off x="6309360" y="3538728"/>
            <a:ext cx="5166360" cy="1170432"/>
          </a:xfrm>
          <a:prstGeom prst="roundRect">
            <a:avLst>
              <a:gd name="adj" fmla="val 5469"/>
            </a:avLst>
          </a:prstGeom>
          <a:solidFill>
            <a:srgbClr val="FBEDE6"/>
          </a:solidFill>
          <a:ln/>
        </p:spPr>
      </p:sp>
      <p:sp>
        <p:nvSpPr>
          <p:cNvPr id="21" name="Text 18"/>
          <p:cNvSpPr/>
          <p:nvPr/>
        </p:nvSpPr>
        <p:spPr>
          <a:xfrm>
            <a:off x="6519672" y="3648456"/>
            <a:ext cx="4800600" cy="347472"/>
          </a:xfrm>
          <a:prstGeom prst="rect">
            <a:avLst/>
          </a:prstGeom>
          <a:noFill/>
          <a:ln/>
        </p:spPr>
        <p:txBody>
          <a:bodyPr wrap="square" lIns="0" tIns="0" rIns="0" bIns="0" rtlCol="0" anchor="ctr"/>
          <a:lstStyle/>
          <a:p>
            <a:pPr indent="0" marL="0">
              <a:buNone/>
            </a:pPr>
            <a:r>
              <a:rPr lang="en-US" sz="1350" b="1" dirty="0">
                <a:solidFill>
                  <a:srgbClr val="B4512B"/>
                </a:solidFill>
                <a:latin typeface="Calibri" pitchFamily="34" charset="0"/>
                <a:ea typeface="Calibri" pitchFamily="34" charset="-122"/>
                <a:cs typeface="Calibri" pitchFamily="34" charset="-120"/>
              </a:rPr>
              <a:t>EF / echo / device extraction</a:t>
            </a:r>
            <a:endParaRPr lang="en-US" sz="1350" dirty="0"/>
          </a:p>
        </p:txBody>
      </p:sp>
      <p:sp>
        <p:nvSpPr>
          <p:cNvPr id="22" name="Text 19"/>
          <p:cNvSpPr/>
          <p:nvPr/>
        </p:nvSpPr>
        <p:spPr>
          <a:xfrm>
            <a:off x="6519672" y="3995928"/>
            <a:ext cx="4800600" cy="658368"/>
          </a:xfrm>
          <a:prstGeom prst="rect">
            <a:avLst/>
          </a:prstGeom>
          <a:noFill/>
          <a:ln/>
        </p:spPr>
        <p:txBody>
          <a:bodyPr wrap="square" lIns="0" tIns="0" rIns="0" bIns="0" rtlCol="0" anchor="ctr"/>
          <a:lstStyle/>
          <a:p>
            <a:pPr indent="0" marL="0">
              <a:buNone/>
            </a:pPr>
            <a:r>
              <a:rPr lang="en-US" sz="1150" dirty="0">
                <a:solidFill>
                  <a:srgbClr val="13333A"/>
                </a:solidFill>
                <a:latin typeface="Calibri" pitchFamily="34" charset="0"/>
                <a:ea typeface="Calibri" pitchFamily="34" charset="-122"/>
                <a:cs typeface="Calibri" pitchFamily="34" charset="-120"/>
              </a:rPr>
              <a:t>These live in narrative DiagnosticReport/DocumentReference — extraction accuracy unproven.</a:t>
            </a:r>
            <a:endParaRPr lang="en-US" sz="1150" dirty="0"/>
          </a:p>
        </p:txBody>
      </p:sp>
      <p:sp>
        <p:nvSpPr>
          <p:cNvPr id="23" name="Shape 20"/>
          <p:cNvSpPr/>
          <p:nvPr/>
        </p:nvSpPr>
        <p:spPr>
          <a:xfrm>
            <a:off x="6309360" y="4837176"/>
            <a:ext cx="5166360" cy="1170432"/>
          </a:xfrm>
          <a:prstGeom prst="roundRect">
            <a:avLst>
              <a:gd name="adj" fmla="val 5469"/>
            </a:avLst>
          </a:prstGeom>
          <a:solidFill>
            <a:srgbClr val="FBEDE6"/>
          </a:solidFill>
          <a:ln/>
        </p:spPr>
      </p:sp>
      <p:sp>
        <p:nvSpPr>
          <p:cNvPr id="24" name="Text 21"/>
          <p:cNvSpPr/>
          <p:nvPr/>
        </p:nvSpPr>
        <p:spPr>
          <a:xfrm>
            <a:off x="6519672" y="4946904"/>
            <a:ext cx="4800600" cy="347472"/>
          </a:xfrm>
          <a:prstGeom prst="rect">
            <a:avLst/>
          </a:prstGeom>
          <a:noFill/>
          <a:ln/>
        </p:spPr>
        <p:txBody>
          <a:bodyPr wrap="square" lIns="0" tIns="0" rIns="0" bIns="0" rtlCol="0" anchor="ctr"/>
          <a:lstStyle/>
          <a:p>
            <a:pPr indent="0" marL="0">
              <a:buNone/>
            </a:pPr>
            <a:r>
              <a:rPr lang="en-US" sz="1350" b="1" dirty="0">
                <a:solidFill>
                  <a:srgbClr val="B4512B"/>
                </a:solidFill>
                <a:latin typeface="Calibri" pitchFamily="34" charset="0"/>
                <a:ea typeface="Calibri" pitchFamily="34" charset="-122"/>
                <a:cs typeface="Calibri" pitchFamily="34" charset="-120"/>
              </a:rPr>
              <a:t>Supervised-fellow ACL</a:t>
            </a:r>
            <a:endParaRPr lang="en-US" sz="1350" dirty="0"/>
          </a:p>
        </p:txBody>
      </p:sp>
      <p:sp>
        <p:nvSpPr>
          <p:cNvPr id="25" name="Text 22"/>
          <p:cNvSpPr/>
          <p:nvPr/>
        </p:nvSpPr>
        <p:spPr>
          <a:xfrm>
            <a:off x="6519672" y="5294376"/>
            <a:ext cx="4800600" cy="658368"/>
          </a:xfrm>
          <a:prstGeom prst="rect">
            <a:avLst/>
          </a:prstGeom>
          <a:noFill/>
          <a:ln/>
        </p:spPr>
        <p:txBody>
          <a:bodyPr wrap="square" lIns="0" tIns="0" rIns="0" bIns="0" rtlCol="0" anchor="ctr"/>
          <a:lstStyle/>
          <a:p>
            <a:pPr indent="0" marL="0">
              <a:buNone/>
            </a:pPr>
            <a:r>
              <a:rPr lang="en-US" sz="1150" dirty="0">
                <a:solidFill>
                  <a:srgbClr val="13333A"/>
                </a:solidFill>
                <a:latin typeface="Calibri" pitchFamily="34" charset="0"/>
                <a:ea typeface="Calibri" pitchFamily="34" charset="-122"/>
                <a:cs typeface="Calibri" pitchFamily="34" charset="-120"/>
              </a:rPr>
              <a:t>Confirming OpenEMR scope granularity supports the supervision case.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3B3F"/>
        </a:solidFill>
      </p:bgPr>
    </p:bg>
    <p:spTree>
      <p:nvGrpSpPr>
        <p:cNvPr id="1" name=""/>
        <p:cNvGrpSpPr/>
        <p:nvPr/>
      </p:nvGrpSpPr>
      <p:grpSpPr>
        <a:xfrm>
          <a:off x="0" y="0"/>
          <a:ext cx="0" cy="0"/>
          <a:chOff x="0" y="0"/>
          <a:chExt cx="0" cy="0"/>
        </a:xfrm>
      </p:grpSpPr>
      <p:sp>
        <p:nvSpPr>
          <p:cNvPr id="2" name="Shape 0"/>
          <p:cNvSpPr/>
          <p:nvPr/>
        </p:nvSpPr>
        <p:spPr>
          <a:xfrm>
            <a:off x="-1371600" y="4023360"/>
            <a:ext cx="4572000" cy="4572000"/>
          </a:xfrm>
          <a:prstGeom prst="ellipse">
            <a:avLst/>
          </a:prstGeom>
          <a:solidFill>
            <a:srgbClr val="028090">
              <a:alpha val="20000"/>
            </a:srgbClr>
          </a:solidFill>
          <a:ln/>
        </p:spPr>
      </p:sp>
      <p:sp>
        <p:nvSpPr>
          <p:cNvPr id="3" name="Shape 1"/>
          <p:cNvSpPr/>
          <p:nvPr/>
        </p:nvSpPr>
        <p:spPr>
          <a:xfrm>
            <a:off x="822960" y="640080"/>
            <a:ext cx="685800" cy="685800"/>
          </a:xfrm>
          <a:prstGeom prst="ellipse">
            <a:avLst/>
          </a:prstGeom>
          <a:solidFill>
            <a:srgbClr val="028090"/>
          </a:solidFill>
          <a:ln/>
        </p:spPr>
      </p:sp>
      <p:pic>
        <p:nvPicPr>
          <p:cNvPr id="4" name="Image 0" descr="preencoded.png">    </p:cNvPr>
          <p:cNvPicPr>
            <a:picLocks noChangeAspect="1"/>
          </p:cNvPicPr>
          <p:nvPr/>
        </p:nvPicPr>
        <p:blipFill>
          <a:blip r:embed="rId1"/>
          <a:stretch>
            <a:fillRect/>
          </a:stretch>
        </p:blipFill>
        <p:spPr>
          <a:xfrm>
            <a:off x="987552" y="804672"/>
            <a:ext cx="356616" cy="356616"/>
          </a:xfrm>
          <a:prstGeom prst="rect">
            <a:avLst/>
          </a:prstGeom>
        </p:spPr>
      </p:pic>
      <p:sp>
        <p:nvSpPr>
          <p:cNvPr id="5" name="Text 2"/>
          <p:cNvSpPr/>
          <p:nvPr/>
        </p:nvSpPr>
        <p:spPr>
          <a:xfrm>
            <a:off x="1691640" y="658368"/>
            <a:ext cx="9144000" cy="68580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Anticipated questions</a:t>
            </a:r>
            <a:endParaRPr lang="en-US" sz="2600" dirty="0"/>
          </a:p>
        </p:txBody>
      </p:sp>
      <p:sp>
        <p:nvSpPr>
          <p:cNvPr id="6" name="Shape 3"/>
          <p:cNvSpPr/>
          <p:nvPr/>
        </p:nvSpPr>
        <p:spPr>
          <a:xfrm>
            <a:off x="822960" y="1737360"/>
            <a:ext cx="10515600" cy="1078992"/>
          </a:xfrm>
          <a:prstGeom prst="roundRect">
            <a:avLst>
              <a:gd name="adj" fmla="val 6780"/>
            </a:avLst>
          </a:prstGeom>
          <a:solidFill>
            <a:srgbClr val="12474C"/>
          </a:solidFill>
          <a:ln/>
        </p:spPr>
      </p:sp>
      <p:sp>
        <p:nvSpPr>
          <p:cNvPr id="7" name="Text 4"/>
          <p:cNvSpPr/>
          <p:nvPr/>
        </p:nvSpPr>
        <p:spPr>
          <a:xfrm>
            <a:off x="1051560" y="1847088"/>
            <a:ext cx="10058400" cy="365760"/>
          </a:xfrm>
          <a:prstGeom prst="rect">
            <a:avLst/>
          </a:prstGeom>
          <a:noFill/>
          <a:ln/>
        </p:spPr>
        <p:txBody>
          <a:bodyPr wrap="square" lIns="0" tIns="0" rIns="0" bIns="0" rtlCol="0" anchor="ctr"/>
          <a:lstStyle/>
          <a:p>
            <a:pPr indent="0" marL="0">
              <a:buNone/>
            </a:pPr>
            <a:r>
              <a:rPr lang="en-US" sz="1450" b="1" dirty="0">
                <a:solidFill>
                  <a:srgbClr val="02C39A"/>
                </a:solidFill>
                <a:latin typeface="Cambria" pitchFamily="34" charset="0"/>
                <a:ea typeface="Cambria" pitchFamily="34" charset="-122"/>
                <a:cs typeface="Cambria" pitchFamily="34" charset="-120"/>
              </a:rPr>
              <a:t>Tool fails / record incomplete?</a:t>
            </a:r>
            <a:endParaRPr lang="en-US" sz="1450" dirty="0"/>
          </a:p>
        </p:txBody>
      </p:sp>
      <p:sp>
        <p:nvSpPr>
          <p:cNvPr id="8" name="Text 5"/>
          <p:cNvSpPr/>
          <p:nvPr/>
        </p:nvSpPr>
        <p:spPr>
          <a:xfrm>
            <a:off x="1051560" y="2212848"/>
            <a:ext cx="10149840" cy="548640"/>
          </a:xfrm>
          <a:prstGeom prst="rect">
            <a:avLst/>
          </a:prstGeom>
          <a:noFill/>
          <a:ln/>
        </p:spPr>
        <p:txBody>
          <a:bodyPr wrap="square" lIns="0" tIns="0" rIns="0" bIns="0" rtlCol="0" anchor="ctr"/>
          <a:lstStyle/>
          <a:p>
            <a:pPr indent="0" marL="0">
              <a:buNone/>
            </a:pPr>
            <a:r>
              <a:rPr lang="en-US" sz="1200" dirty="0">
                <a:solidFill>
                  <a:srgbClr val="CFE6E6"/>
                </a:solidFill>
                <a:latin typeface="Calibri" pitchFamily="34" charset="0"/>
                <a:ea typeface="Calibri" pitchFamily="34" charset="-122"/>
                <a:cs typeface="Calibri" pitchFamily="34" charset="-120"/>
              </a:rPr>
              <a:t>Per-tool timeout + bounded retry; degrade to deterministic source-cited data (no synthesis); never fabricate, never silent.</a:t>
            </a:r>
            <a:endParaRPr lang="en-US" sz="1200" dirty="0"/>
          </a:p>
        </p:txBody>
      </p:sp>
      <p:sp>
        <p:nvSpPr>
          <p:cNvPr id="9" name="Shape 6"/>
          <p:cNvSpPr/>
          <p:nvPr/>
        </p:nvSpPr>
        <p:spPr>
          <a:xfrm>
            <a:off x="822960" y="2926080"/>
            <a:ext cx="10515600" cy="1078992"/>
          </a:xfrm>
          <a:prstGeom prst="roundRect">
            <a:avLst>
              <a:gd name="adj" fmla="val 6780"/>
            </a:avLst>
          </a:prstGeom>
          <a:solidFill>
            <a:srgbClr val="12474C"/>
          </a:solidFill>
          <a:ln/>
        </p:spPr>
      </p:sp>
      <p:sp>
        <p:nvSpPr>
          <p:cNvPr id="10" name="Text 7"/>
          <p:cNvSpPr/>
          <p:nvPr/>
        </p:nvSpPr>
        <p:spPr>
          <a:xfrm>
            <a:off x="1051560" y="3035808"/>
            <a:ext cx="10058400" cy="365760"/>
          </a:xfrm>
          <a:prstGeom prst="rect">
            <a:avLst/>
          </a:prstGeom>
          <a:noFill/>
          <a:ln/>
        </p:spPr>
        <p:txBody>
          <a:bodyPr wrap="square" lIns="0" tIns="0" rIns="0" bIns="0" rtlCol="0" anchor="ctr"/>
          <a:lstStyle/>
          <a:p>
            <a:pPr indent="0" marL="0">
              <a:buNone/>
            </a:pPr>
            <a:r>
              <a:rPr lang="en-US" sz="1450" b="1" dirty="0">
                <a:solidFill>
                  <a:srgbClr val="02C39A"/>
                </a:solidFill>
                <a:latin typeface="Cambria" pitchFamily="34" charset="0"/>
                <a:ea typeface="Cambria" pitchFamily="34" charset="-122"/>
                <a:cs typeface="Cambria" pitchFamily="34" charset="-120"/>
              </a:rPr>
              <a:t>Why MCP over a plain internal API?</a:t>
            </a:r>
            <a:endParaRPr lang="en-US" sz="1450" dirty="0"/>
          </a:p>
        </p:txBody>
      </p:sp>
      <p:sp>
        <p:nvSpPr>
          <p:cNvPr id="11" name="Text 8"/>
          <p:cNvSpPr/>
          <p:nvPr/>
        </p:nvSpPr>
        <p:spPr>
          <a:xfrm>
            <a:off x="1051560" y="3401568"/>
            <a:ext cx="10149840" cy="548640"/>
          </a:xfrm>
          <a:prstGeom prst="rect">
            <a:avLst/>
          </a:prstGeom>
          <a:noFill/>
          <a:ln/>
        </p:spPr>
        <p:txBody>
          <a:bodyPr wrap="square" lIns="0" tIns="0" rIns="0" bIns="0" rtlCol="0" anchor="ctr"/>
          <a:lstStyle/>
          <a:p>
            <a:pPr indent="0" marL="0">
              <a:buNone/>
            </a:pPr>
            <a:r>
              <a:rPr lang="en-US" sz="1200" dirty="0">
                <a:solidFill>
                  <a:srgbClr val="CFE6E6"/>
                </a:solidFill>
                <a:latin typeface="Calibri" pitchFamily="34" charset="0"/>
                <a:ea typeface="Calibri" pitchFamily="34" charset="-122"/>
                <a:cs typeface="Calibri" pitchFamily="34" charset="-120"/>
              </a:rPr>
              <a:t>Min-necessary + single audit choke point + reusable, testable tool contracts. Cost: an extra protocol hop — acceptable.</a:t>
            </a:r>
            <a:endParaRPr lang="en-US" sz="1200" dirty="0"/>
          </a:p>
        </p:txBody>
      </p:sp>
      <p:sp>
        <p:nvSpPr>
          <p:cNvPr id="12" name="Shape 9"/>
          <p:cNvSpPr/>
          <p:nvPr/>
        </p:nvSpPr>
        <p:spPr>
          <a:xfrm>
            <a:off x="822960" y="4114800"/>
            <a:ext cx="10515600" cy="1078992"/>
          </a:xfrm>
          <a:prstGeom prst="roundRect">
            <a:avLst>
              <a:gd name="adj" fmla="val 6780"/>
            </a:avLst>
          </a:prstGeom>
          <a:solidFill>
            <a:srgbClr val="12474C"/>
          </a:solidFill>
          <a:ln/>
        </p:spPr>
      </p:sp>
      <p:sp>
        <p:nvSpPr>
          <p:cNvPr id="13" name="Text 10"/>
          <p:cNvSpPr/>
          <p:nvPr/>
        </p:nvSpPr>
        <p:spPr>
          <a:xfrm>
            <a:off x="1051560" y="4224528"/>
            <a:ext cx="10058400" cy="365760"/>
          </a:xfrm>
          <a:prstGeom prst="rect">
            <a:avLst/>
          </a:prstGeom>
          <a:noFill/>
          <a:ln/>
        </p:spPr>
        <p:txBody>
          <a:bodyPr wrap="square" lIns="0" tIns="0" rIns="0" bIns="0" rtlCol="0" anchor="ctr"/>
          <a:lstStyle/>
          <a:p>
            <a:pPr indent="0" marL="0">
              <a:buNone/>
            </a:pPr>
            <a:r>
              <a:rPr lang="en-US" sz="1450" b="1" dirty="0">
                <a:solidFill>
                  <a:srgbClr val="02C39A"/>
                </a:solidFill>
                <a:latin typeface="Cambria" pitchFamily="34" charset="0"/>
                <a:ea typeface="Cambria" pitchFamily="34" charset="-122"/>
                <a:cs typeface="Cambria" pitchFamily="34" charset="-120"/>
              </a:rPr>
              <a:t>Scale to 300 concurrent users?</a:t>
            </a:r>
            <a:endParaRPr lang="en-US" sz="1450" dirty="0"/>
          </a:p>
        </p:txBody>
      </p:sp>
      <p:sp>
        <p:nvSpPr>
          <p:cNvPr id="14" name="Text 11"/>
          <p:cNvSpPr/>
          <p:nvPr/>
        </p:nvSpPr>
        <p:spPr>
          <a:xfrm>
            <a:off x="1051560" y="4590288"/>
            <a:ext cx="10149840" cy="548640"/>
          </a:xfrm>
          <a:prstGeom prst="rect">
            <a:avLst/>
          </a:prstGeom>
          <a:noFill/>
          <a:ln/>
        </p:spPr>
        <p:txBody>
          <a:bodyPr wrap="square" lIns="0" tIns="0" rIns="0" bIns="0" rtlCol="0" anchor="ctr"/>
          <a:lstStyle/>
          <a:p>
            <a:pPr indent="0" marL="0">
              <a:buNone/>
            </a:pPr>
            <a:r>
              <a:rPr lang="en-US" sz="1200" dirty="0">
                <a:solidFill>
                  <a:srgbClr val="CFE6E6"/>
                </a:solidFill>
                <a:latin typeface="Calibri" pitchFamily="34" charset="0"/>
                <a:ea typeface="Calibri" pitchFamily="34" charset="-122"/>
                <a:cs typeface="Calibri" pitchFamily="34" charset="-120"/>
              </a:rPr>
              <a:t>Stateless sidecar horizontally; parallel tool calls; caching + model-routing; LLM rate-limit budgeting; queue for batch jobs.</a:t>
            </a:r>
            <a:endParaRPr lang="en-US" sz="1200" dirty="0"/>
          </a:p>
        </p:txBody>
      </p:sp>
      <p:sp>
        <p:nvSpPr>
          <p:cNvPr id="15" name="Shape 12"/>
          <p:cNvSpPr/>
          <p:nvPr/>
        </p:nvSpPr>
        <p:spPr>
          <a:xfrm>
            <a:off x="822960" y="5303520"/>
            <a:ext cx="10515600" cy="1078992"/>
          </a:xfrm>
          <a:prstGeom prst="roundRect">
            <a:avLst>
              <a:gd name="adj" fmla="val 6780"/>
            </a:avLst>
          </a:prstGeom>
          <a:solidFill>
            <a:srgbClr val="12474C"/>
          </a:solidFill>
          <a:ln/>
        </p:spPr>
      </p:sp>
      <p:sp>
        <p:nvSpPr>
          <p:cNvPr id="16" name="Text 13"/>
          <p:cNvSpPr/>
          <p:nvPr/>
        </p:nvSpPr>
        <p:spPr>
          <a:xfrm>
            <a:off x="1051560" y="5413248"/>
            <a:ext cx="10058400" cy="365760"/>
          </a:xfrm>
          <a:prstGeom prst="rect">
            <a:avLst/>
          </a:prstGeom>
          <a:noFill/>
          <a:ln/>
        </p:spPr>
        <p:txBody>
          <a:bodyPr wrap="square" lIns="0" tIns="0" rIns="0" bIns="0" rtlCol="0" anchor="ctr"/>
          <a:lstStyle/>
          <a:p>
            <a:pPr indent="0" marL="0">
              <a:buNone/>
            </a:pPr>
            <a:r>
              <a:rPr lang="en-US" sz="1450" b="1" dirty="0">
                <a:solidFill>
                  <a:srgbClr val="02C39A"/>
                </a:solidFill>
                <a:latin typeface="Cambria" pitchFamily="34" charset="0"/>
                <a:ea typeface="Cambria" pitchFamily="34" charset="-122"/>
                <a:cs typeface="Cambria" pitchFamily="34" charset="-120"/>
              </a:rPr>
              <a:t>Biggest failure mode you worry about?</a:t>
            </a:r>
            <a:endParaRPr lang="en-US" sz="1450" dirty="0"/>
          </a:p>
        </p:txBody>
      </p:sp>
      <p:sp>
        <p:nvSpPr>
          <p:cNvPr id="17" name="Text 14"/>
          <p:cNvSpPr/>
          <p:nvPr/>
        </p:nvSpPr>
        <p:spPr>
          <a:xfrm>
            <a:off x="1051560" y="5779008"/>
            <a:ext cx="10149840" cy="548640"/>
          </a:xfrm>
          <a:prstGeom prst="rect">
            <a:avLst/>
          </a:prstGeom>
          <a:noFill/>
          <a:ln/>
        </p:spPr>
        <p:txBody>
          <a:bodyPr wrap="square" lIns="0" tIns="0" rIns="0" bIns="0" rtlCol="0" anchor="ctr"/>
          <a:lstStyle/>
          <a:p>
            <a:pPr indent="0" marL="0">
              <a:buNone/>
            </a:pPr>
            <a:r>
              <a:rPr lang="en-US" sz="1200" dirty="0">
                <a:solidFill>
                  <a:srgbClr val="CFE6E6"/>
                </a:solidFill>
                <a:latin typeface="Calibri" pitchFamily="34" charset="0"/>
                <a:ea typeface="Calibri" pitchFamily="34" charset="-122"/>
                <a:cs typeface="Calibri" pitchFamily="34" charset="-120"/>
              </a:rPr>
              <a:t>Subtly-wrong synthesis that passes citation checks — mitigated by extractive framing + 'data as of', but not eliminated.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AgentForge Clinical Co-Pilot — Architecture Defense</dc:title>
  <dc:subject>PptxGenJS Presentation</dc:subject>
  <dc:creator>Adam Marquette</dc:creator>
  <cp:lastModifiedBy>Adam Marquette</cp:lastModifiedBy>
  <cp:revision>1</cp:revision>
  <dcterms:created xsi:type="dcterms:W3CDTF">2026-07-07T18:39:34Z</dcterms:created>
  <dcterms:modified xsi:type="dcterms:W3CDTF">2026-07-07T18:39:34Z</dcterms:modified>
</cp:coreProperties>
</file>