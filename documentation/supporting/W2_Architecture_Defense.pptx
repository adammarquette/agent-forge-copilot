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30s. This is the Week 2 architecture defense. We add two things to the Week 1 agent: it can now SEE clinical documents, and it routes work across a small multi-agent graph. The whole architecture is organized around one idea — trust under failure — and it's all one .NET service, an expansion of Week 1, not a new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The user has not changed - same cardiologist, same 90-second window between rooms. What changed is that the information that matters today is now trapped in a scanned lab PDF and a front-desk intake form. So Week 2 adds two capabilities: the agent can see documents and extract structured facts with a citation on every field, and it routes that work across a small multi-agent graph. The five chips along the bottom are the hard problems the rest of the deck defends, and every capability still traces to the Week 1 user.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35 seconds. First decision: expand the existing .NET sidecar instead of standing up a second Python service. Week 1 already built what Week 2 grades across boundaries - auth, correlation IDs, typed contracts, observability - so one service means one trace, not re-plumbing across a language boundary. The spec explicitly allows equivalents: another inspectable orchestration framework, Cohere Rerank or equivalent. Every named Python tool has a .NET counterpart, shown on the right. Narrower is stronger.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35 seconds. This is the strongest decision, and it came from reading the fork's actual route table rather than guessing. The OpenEMR fork's FHIR API is read-only for our data types - no POST for Observation, DocumentReference, or Binary. So we split authority: the source document is written through the standard REST API and is authoritative in OpenEMR; the derived facts have no supported write path, so they live in the sidecar, each citing the OpenEMR document. One authority per data type means the same data is never written twice - no duplicates, no silent overwrites. That directly answers the round-trip-without-duplicates requirement.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The graph is deliberately small and typed. A supervisor routes to two workers, intake-extractor and evidence-retriever, and a critic gates the answer. The key move: the critic is not new - it is the Week 1 verification layer promoted to a node, so rejecting uncited or unsafe claims is reuse, not new work. Every handoff is a logged event and each worker span is a child of the supervisor span, so the routing is inspectable from the trace, not a black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35 seconds. This is the trust core, three parts. One: the schema is the gate - raw vision-model output never bypasses validation; if it fails the schema it is rejected and nothing is persisted. That is how we get vision without invention. Two: hybrid RAG - sparse keyword search and dense vector search in Postgres, merged and reranked, so only the top grounded evidence reaches the model. Three: every claim carries a machine-readable citation plus a bounding box, so clicking a fact highlights the exact region on the source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The architecture is redundant and performant by design. Services are stateless, with session and token state externalized, so they scale out across availability zones behind a load balancer with no single point of failure. Document extraction, the heaviest path, is decoupled onto an async worker pool so it never blocks a request and spikes are absorbed rather than dropped. Hot paths are cached. The sprint demos on Railway, but the same container image scales to the AWS target by config, not a rewrite.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Quality is proven by a gate that can actually block a merge. Fifty synthetic golden cases, five boolean rubrics - boolean, not one-to-ten, because that makes a regression unambiguous - and the build fails if any category drops more than five percent. Grading injects a regression to confirm the gate blocks it, so we build and test the gate first. The mechanical checks - schema, citation, no PHI - are deterministic; only consistency and refusal use an LLM judge.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in 30s. Five decisions I can defend: one .NET service so Week 1 compounds; write-back authority grounded in what the fork actually supports; the critic is our existing verification layer reused; a redundant cloud-native design; and a CI gate that genuinely blocks regressions. Narrower than the spec, stronger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A2F"/>
        </a:solidFill>
      </p:bgPr>
    </p:bg>
    <p:spTree>
      <p:nvGrpSpPr>
        <p:cNvPr id="1" name=""/>
        <p:cNvGrpSpPr/>
        <p:nvPr/>
      </p:nvGrpSpPr>
      <p:grpSpPr>
        <a:xfrm>
          <a:off x="0" y="0"/>
          <a:ext cx="0" cy="0"/>
          <a:chOff x="0" y="0"/>
          <a:chExt cx="0" cy="0"/>
        </a:xfrm>
      </p:grpSpPr>
      <p:sp>
        <p:nvSpPr>
          <p:cNvPr id="2" name="Shape 0"/>
          <p:cNvSpPr/>
          <p:nvPr/>
        </p:nvSpPr>
        <p:spPr>
          <a:xfrm>
            <a:off x="9509760" y="-1463040"/>
            <a:ext cx="4572000" cy="4572000"/>
          </a:xfrm>
          <a:prstGeom prst="ellipse">
            <a:avLst/>
          </a:prstGeom>
          <a:solidFill>
            <a:srgbClr val="037A87">
              <a:alpha val="22000"/>
            </a:srgbClr>
          </a:solidFill>
          <a:ln/>
        </p:spPr>
      </p:sp>
      <p:sp>
        <p:nvSpPr>
          <p:cNvPr id="3" name="Shape 1"/>
          <p:cNvSpPr/>
          <p:nvPr/>
        </p:nvSpPr>
        <p:spPr>
          <a:xfrm>
            <a:off x="10881360" y="4297680"/>
            <a:ext cx="2926080" cy="2926080"/>
          </a:xfrm>
          <a:prstGeom prst="ellipse">
            <a:avLst/>
          </a:prstGeom>
          <a:solidFill>
            <a:srgbClr val="03C39A">
              <a:alpha val="15000"/>
            </a:srgbClr>
          </a:solidFill>
          <a:ln/>
        </p:spPr>
      </p:sp>
      <p:sp>
        <p:nvSpPr>
          <p:cNvPr id="4" name="Shape 2"/>
          <p:cNvSpPr/>
          <p:nvPr/>
        </p:nvSpPr>
        <p:spPr>
          <a:xfrm>
            <a:off x="-1005840" y="4846320"/>
            <a:ext cx="2834640" cy="2834640"/>
          </a:xfrm>
          <a:prstGeom prst="ellipse">
            <a:avLst/>
          </a:prstGeom>
          <a:solidFill>
            <a:srgbClr val="00A896">
              <a:alpha val="13000"/>
            </a:srgbClr>
          </a:solidFill>
          <a:ln/>
        </p:spPr>
      </p:sp>
      <p:sp>
        <p:nvSpPr>
          <p:cNvPr id="5" name="Text 3"/>
          <p:cNvSpPr/>
          <p:nvPr/>
        </p:nvSpPr>
        <p:spPr>
          <a:xfrm>
            <a:off x="777240" y="1417320"/>
            <a:ext cx="9144000" cy="365760"/>
          </a:xfrm>
          <a:prstGeom prst="rect">
            <a:avLst/>
          </a:prstGeom>
          <a:noFill/>
          <a:ln/>
        </p:spPr>
        <p:txBody>
          <a:bodyPr wrap="square" lIns="0" tIns="0" rIns="0" bIns="0" rtlCol="0" anchor="ctr"/>
          <a:lstStyle/>
          <a:p>
            <a:pPr indent="0" marL="0">
              <a:buNone/>
            </a:pPr>
            <a:r>
              <a:rPr lang="en-US" sz="1400" b="1" spc="300" kern="0" dirty="0">
                <a:solidFill>
                  <a:srgbClr val="03C39A"/>
                </a:solidFill>
                <a:latin typeface="Calibri" pitchFamily="34" charset="0"/>
                <a:ea typeface="Calibri" pitchFamily="34" charset="-122"/>
                <a:cs typeface="Calibri" pitchFamily="34" charset="-120"/>
              </a:rPr>
              <a:t>ARCHITECTURE DEFENSE</a:t>
            </a:r>
            <a:endParaRPr lang="en-US" sz="1400" dirty="0"/>
          </a:p>
        </p:txBody>
      </p:sp>
      <p:sp>
        <p:nvSpPr>
          <p:cNvPr id="6" name="Text 4"/>
          <p:cNvSpPr/>
          <p:nvPr/>
        </p:nvSpPr>
        <p:spPr>
          <a:xfrm>
            <a:off x="777240" y="1828800"/>
            <a:ext cx="10607040" cy="9144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AgentForge Clinical Co-Pilot</a:t>
            </a:r>
            <a:endParaRPr lang="en-US" sz="4400" dirty="0"/>
          </a:p>
        </p:txBody>
      </p:sp>
      <p:sp>
        <p:nvSpPr>
          <p:cNvPr id="7" name="Text 5"/>
          <p:cNvSpPr/>
          <p:nvPr/>
        </p:nvSpPr>
        <p:spPr>
          <a:xfrm>
            <a:off x="777240" y="2816352"/>
            <a:ext cx="10607040" cy="640080"/>
          </a:xfrm>
          <a:prstGeom prst="rect">
            <a:avLst/>
          </a:prstGeom>
          <a:noFill/>
          <a:ln/>
        </p:spPr>
        <p:txBody>
          <a:bodyPr wrap="square" lIns="0" tIns="0" rIns="0" bIns="0" rtlCol="0" anchor="ctr"/>
          <a:lstStyle/>
          <a:p>
            <a:pPr indent="0" marL="0">
              <a:buNone/>
            </a:pPr>
            <a:r>
              <a:rPr lang="en-US" sz="2300" dirty="0">
                <a:solidFill>
                  <a:srgbClr val="CFE8E6"/>
                </a:solidFill>
                <a:latin typeface="Calibri" pitchFamily="34" charset="0"/>
                <a:ea typeface="Calibri" pitchFamily="34" charset="-122"/>
                <a:cs typeface="Calibri" pitchFamily="34" charset="-120"/>
              </a:rPr>
              <a:t>Week 2 — Multimodal Evidence Agent</a:t>
            </a:r>
            <a:endParaRPr lang="en-US" sz="2300" dirty="0"/>
          </a:p>
        </p:txBody>
      </p:sp>
      <p:sp>
        <p:nvSpPr>
          <p:cNvPr id="8" name="Text 6"/>
          <p:cNvSpPr/>
          <p:nvPr/>
        </p:nvSpPr>
        <p:spPr>
          <a:xfrm>
            <a:off x="777240" y="3794760"/>
            <a:ext cx="10241280" cy="457200"/>
          </a:xfrm>
          <a:prstGeom prst="rect">
            <a:avLst/>
          </a:prstGeom>
          <a:noFill/>
          <a:ln/>
        </p:spPr>
        <p:txBody>
          <a:bodyPr wrap="square" lIns="0" tIns="0" rIns="0" bIns="0" rtlCol="0" anchor="ctr"/>
          <a:lstStyle/>
          <a:p>
            <a:pPr indent="0" marL="0">
              <a:buNone/>
            </a:pPr>
            <a:r>
              <a:rPr lang="en-US" sz="1400" dirty="0">
                <a:solidFill>
                  <a:srgbClr val="9FC7C6"/>
                </a:solidFill>
                <a:latin typeface="Calibri" pitchFamily="34" charset="0"/>
                <a:ea typeface="Calibri" pitchFamily="34" charset="-122"/>
                <a:cs typeface="Calibri" pitchFamily="34" charset="-120"/>
              </a:rPr>
              <a:t>Seeing clinical documents · routing work across a small multi-agent graph · gating every change with evals</a:t>
            </a:r>
            <a:endParaRPr lang="en-US" sz="1400" dirty="0"/>
          </a:p>
        </p:txBody>
      </p:sp>
      <p:sp>
        <p:nvSpPr>
          <p:cNvPr id="9" name="Text 7"/>
          <p:cNvSpPr/>
          <p:nvPr/>
        </p:nvSpPr>
        <p:spPr>
          <a:xfrm>
            <a:off x="777240" y="4892040"/>
            <a:ext cx="10241280" cy="548640"/>
          </a:xfrm>
          <a:prstGeom prst="rect">
            <a:avLst/>
          </a:prstGeom>
          <a:noFill/>
          <a:ln/>
        </p:spPr>
        <p:txBody>
          <a:bodyPr wrap="square" lIns="0" tIns="0" rIns="0" bIns="0" rtlCol="0" anchor="ctr"/>
          <a:lstStyle/>
          <a:p>
            <a:pPr indent="0" marL="0">
              <a:buNone/>
            </a:pPr>
            <a:r>
              <a:rPr lang="en-US" sz="1700" b="1" i="1" dirty="0">
                <a:solidFill>
                  <a:srgbClr val="03C39A"/>
                </a:solidFill>
                <a:latin typeface="Cambria" pitchFamily="34" charset="0"/>
                <a:ea typeface="Cambria" pitchFamily="34" charset="-122"/>
                <a:cs typeface="Cambria" pitchFamily="34" charset="-120"/>
              </a:rPr>
              <a:t>“The gap between a demo and a tool a clinician trusts is trust under failure.”</a:t>
            </a:r>
            <a:endParaRPr lang="en-US" sz="1700" dirty="0"/>
          </a:p>
        </p:txBody>
      </p:sp>
      <p:sp>
        <p:nvSpPr>
          <p:cNvPr id="10" name="Text 8"/>
          <p:cNvSpPr/>
          <p:nvPr/>
        </p:nvSpPr>
        <p:spPr>
          <a:xfrm>
            <a:off x="777240" y="5897880"/>
            <a:ext cx="10058400" cy="365760"/>
          </a:xfrm>
          <a:prstGeom prst="rect">
            <a:avLst/>
          </a:prstGeom>
          <a:noFill/>
          <a:ln/>
        </p:spPr>
        <p:txBody>
          <a:bodyPr wrap="square" lIns="0" tIns="0" rIns="0" bIns="0" rtlCol="0" anchor="ctr"/>
          <a:lstStyle/>
          <a:p>
            <a:pPr indent="0" marL="0">
              <a:buNone/>
            </a:pPr>
            <a:r>
              <a:rPr lang="en-US" sz="1200" dirty="0">
                <a:solidFill>
                  <a:srgbClr val="7FA6A6"/>
                </a:solidFill>
                <a:latin typeface="Calibri" pitchFamily="34" charset="0"/>
                <a:ea typeface="Calibri" pitchFamily="34" charset="-122"/>
                <a:cs typeface="Calibri" pitchFamily="34" charset="-120"/>
              </a:rPr>
              <a:t>Expands the Week 1 sidecar — one service, all-.NET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92608"/>
          </a:xfrm>
          <a:prstGeom prst="rect">
            <a:avLst/>
          </a:prstGeom>
          <a:noFill/>
          <a:ln/>
        </p:spPr>
        <p:txBody>
          <a:bodyPr wrap="square" lIns="0" tIns="0" rIns="0" bIns="0" rtlCol="0" anchor="ctr"/>
          <a:lstStyle/>
          <a:p>
            <a:pPr indent="0" marL="0">
              <a:buNone/>
            </a:pPr>
            <a:r>
              <a:rPr lang="en-US" sz="1250" b="1" spc="200" kern="0" dirty="0">
                <a:solidFill>
                  <a:srgbClr val="037A87"/>
                </a:solidFill>
                <a:latin typeface="Calibri" pitchFamily="34" charset="0"/>
                <a:ea typeface="Calibri" pitchFamily="34" charset="-122"/>
                <a:cs typeface="Calibri" pitchFamily="34" charset="-120"/>
              </a:rPr>
              <a:t>THE PROBLEM</a:t>
            </a:r>
            <a:endParaRPr lang="en-US" sz="1250" dirty="0"/>
          </a:p>
        </p:txBody>
      </p:sp>
      <p:sp>
        <p:nvSpPr>
          <p:cNvPr id="3" name="Text 1"/>
          <p:cNvSpPr/>
          <p:nvPr/>
        </p:nvSpPr>
        <p:spPr>
          <a:xfrm>
            <a:off x="548640" y="676656"/>
            <a:ext cx="11155680" cy="777240"/>
          </a:xfrm>
          <a:prstGeom prst="rect">
            <a:avLst/>
          </a:prstGeom>
          <a:noFill/>
          <a:ln/>
        </p:spPr>
        <p:txBody>
          <a:bodyPr wrap="square" lIns="0" tIns="0" rIns="0" bIns="0" rtlCol="0" anchor="ctr"/>
          <a:lstStyle/>
          <a:p>
            <a:pPr indent="0" marL="0">
              <a:buNone/>
            </a:pPr>
            <a:r>
              <a:rPr lang="en-US" sz="3100" b="1" dirty="0">
                <a:solidFill>
                  <a:srgbClr val="0A2A2F"/>
                </a:solidFill>
                <a:latin typeface="Cambria" pitchFamily="34" charset="0"/>
                <a:ea typeface="Cambria" pitchFamily="34" charset="-122"/>
                <a:cs typeface="Cambria" pitchFamily="34" charset="-120"/>
              </a:rPr>
              <a:t>What Week 2 adds</a:t>
            </a:r>
            <a:endParaRPr lang="en-US" sz="3100" dirty="0"/>
          </a:p>
        </p:txBody>
      </p:sp>
      <p:sp>
        <p:nvSpPr>
          <p:cNvPr id="4" name="Text 2"/>
          <p:cNvSpPr/>
          <p:nvPr/>
        </p:nvSpPr>
        <p:spPr>
          <a:xfrm>
            <a:off x="548640" y="1572768"/>
            <a:ext cx="11064240" cy="548640"/>
          </a:xfrm>
          <a:prstGeom prst="rect">
            <a:avLst/>
          </a:prstGeom>
          <a:noFill/>
          <a:ln/>
        </p:spPr>
        <p:txBody>
          <a:bodyPr wrap="square" lIns="0" tIns="0" rIns="0" bIns="0" rtlCol="0" anchor="ctr"/>
          <a:lstStyle/>
          <a:p>
            <a:pPr indent="0" marL="0">
              <a:buNone/>
            </a:pPr>
            <a:r>
              <a:rPr lang="en-US" sz="1500" dirty="0">
                <a:solidFill>
                  <a:srgbClr val="12333A"/>
                </a:solidFill>
                <a:latin typeface="Calibri" pitchFamily="34" charset="0"/>
                <a:ea typeface="Calibri" pitchFamily="34" charset="-122"/>
                <a:cs typeface="Calibri" pitchFamily="34" charset="-120"/>
              </a:rPr>
              <a:t>Same cardiologist, same 90-second window — but the change that matters today is now locked inside a scanned lab PDF and a front-desk intake form.</a:t>
            </a:r>
            <a:endParaRPr lang="en-US" sz="1500" dirty="0"/>
          </a:p>
        </p:txBody>
      </p:sp>
      <p:sp>
        <p:nvSpPr>
          <p:cNvPr id="5" name="Shape 3"/>
          <p:cNvSpPr/>
          <p:nvPr/>
        </p:nvSpPr>
        <p:spPr>
          <a:xfrm>
            <a:off x="548640" y="2331720"/>
            <a:ext cx="5440680" cy="1600200"/>
          </a:xfrm>
          <a:prstGeom prst="roundRect">
            <a:avLst>
              <a:gd name="adj" fmla="val 5143"/>
            </a:avLst>
          </a:prstGeom>
          <a:solidFill>
            <a:srgbClr val="EFF6F6"/>
          </a:solidFill>
          <a:ln/>
          <a:effectLst>
            <a:outerShdw sx="100000" sy="100000" kx="0" ky="0" algn="bl" rotWithShape="0" blurRad="88900" dist="25400" dir="5400000">
              <a:srgbClr val="A9C0C1">
                <a:alpha val="40000"/>
              </a:srgbClr>
            </a:outerShdw>
          </a:effectLst>
        </p:spPr>
      </p:sp>
      <p:sp>
        <p:nvSpPr>
          <p:cNvPr id="6" name="Text 4"/>
          <p:cNvSpPr/>
          <p:nvPr/>
        </p:nvSpPr>
        <p:spPr>
          <a:xfrm>
            <a:off x="822960" y="2514600"/>
            <a:ext cx="4937760" cy="411480"/>
          </a:xfrm>
          <a:prstGeom prst="rect">
            <a:avLst/>
          </a:prstGeom>
          <a:noFill/>
          <a:ln/>
        </p:spPr>
        <p:txBody>
          <a:bodyPr wrap="square" lIns="0" tIns="0" rIns="0" bIns="0" rtlCol="0" anchor="ctr"/>
          <a:lstStyle/>
          <a:p>
            <a:pPr indent="0" marL="0">
              <a:buNone/>
            </a:pPr>
            <a:r>
              <a:rPr lang="en-US" sz="1900" b="1" dirty="0">
                <a:solidFill>
                  <a:srgbClr val="037A87"/>
                </a:solidFill>
                <a:latin typeface="Cambria" pitchFamily="34" charset="0"/>
                <a:ea typeface="Cambria" pitchFamily="34" charset="-122"/>
                <a:cs typeface="Cambria" pitchFamily="34" charset="-120"/>
              </a:rPr>
              <a:t>1 · See documents</a:t>
            </a:r>
            <a:endParaRPr lang="en-US" sz="1900" dirty="0"/>
          </a:p>
        </p:txBody>
      </p:sp>
      <p:sp>
        <p:nvSpPr>
          <p:cNvPr id="7" name="Text 5"/>
          <p:cNvSpPr/>
          <p:nvPr/>
        </p:nvSpPr>
        <p:spPr>
          <a:xfrm>
            <a:off x="822960" y="2971800"/>
            <a:ext cx="4937760" cy="868680"/>
          </a:xfrm>
          <a:prstGeom prst="rect">
            <a:avLst/>
          </a:prstGeom>
          <a:noFill/>
          <a:ln/>
        </p:spPr>
        <p:txBody>
          <a:bodyPr wrap="square" lIns="0" tIns="0" rIns="0" bIns="0" rtlCol="0" anchor="ctr"/>
          <a:lstStyle/>
          <a:p>
            <a:pPr indent="0" marL="0">
              <a:buNone/>
            </a:pPr>
            <a:r>
              <a:rPr lang="en-US" sz="1350" dirty="0">
                <a:solidFill>
                  <a:srgbClr val="12333A"/>
                </a:solidFill>
                <a:latin typeface="Calibri" pitchFamily="34" charset="0"/>
                <a:ea typeface="Calibri" pitchFamily="34" charset="-122"/>
                <a:cs typeface="Calibri" pitchFamily="34" charset="-120"/>
              </a:rPr>
              <a:t>Ingest a scanned lab PDF and an intake form. Extract structured facts — value, unit, reference range, date — with a citation on every field.</a:t>
            </a:r>
            <a:endParaRPr lang="en-US" sz="1350" dirty="0"/>
          </a:p>
        </p:txBody>
      </p:sp>
      <p:sp>
        <p:nvSpPr>
          <p:cNvPr id="8" name="Shape 6"/>
          <p:cNvSpPr/>
          <p:nvPr/>
        </p:nvSpPr>
        <p:spPr>
          <a:xfrm>
            <a:off x="6172200" y="2331720"/>
            <a:ext cx="5440680" cy="1600200"/>
          </a:xfrm>
          <a:prstGeom prst="roundRect">
            <a:avLst>
              <a:gd name="adj" fmla="val 5143"/>
            </a:avLst>
          </a:prstGeom>
          <a:solidFill>
            <a:srgbClr val="EFF6F6"/>
          </a:solidFill>
          <a:ln/>
          <a:effectLst>
            <a:outerShdw sx="100000" sy="100000" kx="0" ky="0" algn="bl" rotWithShape="0" blurRad="88900" dist="25400" dir="5400000">
              <a:srgbClr val="A9C0C1">
                <a:alpha val="40000"/>
              </a:srgbClr>
            </a:outerShdw>
          </a:effectLst>
        </p:spPr>
      </p:sp>
      <p:sp>
        <p:nvSpPr>
          <p:cNvPr id="9" name="Text 7"/>
          <p:cNvSpPr/>
          <p:nvPr/>
        </p:nvSpPr>
        <p:spPr>
          <a:xfrm>
            <a:off x="6446520" y="2514600"/>
            <a:ext cx="4937760" cy="411480"/>
          </a:xfrm>
          <a:prstGeom prst="rect">
            <a:avLst/>
          </a:prstGeom>
          <a:noFill/>
          <a:ln/>
        </p:spPr>
        <p:txBody>
          <a:bodyPr wrap="square" lIns="0" tIns="0" rIns="0" bIns="0" rtlCol="0" anchor="ctr"/>
          <a:lstStyle/>
          <a:p>
            <a:pPr indent="0" marL="0">
              <a:buNone/>
            </a:pPr>
            <a:r>
              <a:rPr lang="en-US" sz="1900" b="1" dirty="0">
                <a:solidFill>
                  <a:srgbClr val="037A87"/>
                </a:solidFill>
                <a:latin typeface="Cambria" pitchFamily="34" charset="0"/>
                <a:ea typeface="Cambria" pitchFamily="34" charset="-122"/>
                <a:cs typeface="Cambria" pitchFamily="34" charset="-120"/>
              </a:rPr>
              <a:t>2 · Route work</a:t>
            </a:r>
            <a:endParaRPr lang="en-US" sz="1900" dirty="0"/>
          </a:p>
        </p:txBody>
      </p:sp>
      <p:sp>
        <p:nvSpPr>
          <p:cNvPr id="10" name="Text 8"/>
          <p:cNvSpPr/>
          <p:nvPr/>
        </p:nvSpPr>
        <p:spPr>
          <a:xfrm>
            <a:off x="6446520" y="2971800"/>
            <a:ext cx="4937760" cy="868680"/>
          </a:xfrm>
          <a:prstGeom prst="rect">
            <a:avLst/>
          </a:prstGeom>
          <a:noFill/>
          <a:ln/>
        </p:spPr>
        <p:txBody>
          <a:bodyPr wrap="square" lIns="0" tIns="0" rIns="0" bIns="0" rtlCol="0" anchor="ctr"/>
          <a:lstStyle/>
          <a:p>
            <a:pPr indent="0" marL="0">
              <a:buNone/>
            </a:pPr>
            <a:r>
              <a:rPr lang="en-US" sz="1350" dirty="0">
                <a:solidFill>
                  <a:srgbClr val="12333A"/>
                </a:solidFill>
                <a:latin typeface="Calibri" pitchFamily="34" charset="0"/>
                <a:ea typeface="Calibri" pitchFamily="34" charset="-122"/>
                <a:cs typeface="Calibri" pitchFamily="34" charset="-120"/>
              </a:rPr>
              <a:t>A supervisor sends work to two workers and a critic. Grounding is never lost across the handoffs, and the routing is inspectable.</a:t>
            </a:r>
            <a:endParaRPr lang="en-US" sz="1350" dirty="0"/>
          </a:p>
        </p:txBody>
      </p:sp>
      <p:sp>
        <p:nvSpPr>
          <p:cNvPr id="11" name="Text 9"/>
          <p:cNvSpPr/>
          <p:nvPr/>
        </p:nvSpPr>
        <p:spPr>
          <a:xfrm>
            <a:off x="548640" y="4297680"/>
            <a:ext cx="10972800" cy="320040"/>
          </a:xfrm>
          <a:prstGeom prst="rect">
            <a:avLst/>
          </a:prstGeom>
          <a:noFill/>
          <a:ln/>
        </p:spPr>
        <p:txBody>
          <a:bodyPr wrap="square" lIns="0" tIns="0" rIns="0" bIns="0" rtlCol="0" anchor="ctr"/>
          <a:lstStyle/>
          <a:p>
            <a:pPr indent="0" marL="0">
              <a:buNone/>
            </a:pPr>
            <a:r>
              <a:rPr lang="en-US" sz="1250" b="1" spc="200" kern="0" dirty="0">
                <a:solidFill>
                  <a:srgbClr val="5C7076"/>
                </a:solidFill>
                <a:latin typeface="Calibri" pitchFamily="34" charset="0"/>
                <a:ea typeface="Calibri" pitchFamily="34" charset="-122"/>
                <a:cs typeface="Calibri" pitchFamily="34" charset="-120"/>
              </a:rPr>
              <a:t>THE HARD PROBLEMS</a:t>
            </a:r>
            <a:endParaRPr lang="en-US" sz="1250" dirty="0"/>
          </a:p>
        </p:txBody>
      </p:sp>
      <p:sp>
        <p:nvSpPr>
          <p:cNvPr id="12" name="Shape 10"/>
          <p:cNvSpPr/>
          <p:nvPr/>
        </p:nvSpPr>
        <p:spPr>
          <a:xfrm>
            <a:off x="548640" y="4709160"/>
            <a:ext cx="2112264" cy="475488"/>
          </a:xfrm>
          <a:prstGeom prst="roundRect">
            <a:avLst>
              <a:gd name="adj" fmla="val 50000"/>
            </a:avLst>
          </a:prstGeom>
          <a:solidFill>
            <a:srgbClr val="E3F1EF"/>
          </a:solidFill>
          <a:ln w="12700">
            <a:solidFill>
              <a:srgbClr val="03C39A"/>
            </a:solidFill>
            <a:prstDash val="solid"/>
          </a:ln>
        </p:spPr>
      </p:sp>
      <p:sp>
        <p:nvSpPr>
          <p:cNvPr id="13" name="Text 11"/>
          <p:cNvSpPr/>
          <p:nvPr/>
        </p:nvSpPr>
        <p:spPr>
          <a:xfrm>
            <a:off x="548640" y="4709160"/>
            <a:ext cx="2112264" cy="475488"/>
          </a:xfrm>
          <a:prstGeom prst="rect">
            <a:avLst/>
          </a:prstGeom>
          <a:noFill/>
          <a:ln/>
        </p:spPr>
        <p:txBody>
          <a:bodyPr wrap="square" lIns="0" tIns="0" rIns="0" bIns="0" rtlCol="0" anchor="ctr"/>
          <a:lstStyle/>
          <a:p>
            <a:pPr algn="ctr" indent="0" marL="0">
              <a:buNone/>
            </a:pPr>
            <a:r>
              <a:rPr lang="en-US" sz="1150" b="1" dirty="0">
                <a:solidFill>
                  <a:srgbClr val="025965"/>
                </a:solidFill>
                <a:latin typeface="Calibri" pitchFamily="34" charset="0"/>
                <a:ea typeface="Calibri" pitchFamily="34" charset="-122"/>
                <a:cs typeface="Calibri" pitchFamily="34" charset="-120"/>
              </a:rPr>
              <a:t>Vision without invention</a:t>
            </a:r>
            <a:endParaRPr lang="en-US" sz="1150" dirty="0"/>
          </a:p>
        </p:txBody>
      </p:sp>
      <p:sp>
        <p:nvSpPr>
          <p:cNvPr id="14" name="Shape 12"/>
          <p:cNvSpPr/>
          <p:nvPr/>
        </p:nvSpPr>
        <p:spPr>
          <a:xfrm>
            <a:off x="2761488" y="4709160"/>
            <a:ext cx="2112264" cy="475488"/>
          </a:xfrm>
          <a:prstGeom prst="roundRect">
            <a:avLst>
              <a:gd name="adj" fmla="val 50000"/>
            </a:avLst>
          </a:prstGeom>
          <a:solidFill>
            <a:srgbClr val="E3F1EF"/>
          </a:solidFill>
          <a:ln w="12700">
            <a:solidFill>
              <a:srgbClr val="03C39A"/>
            </a:solidFill>
            <a:prstDash val="solid"/>
          </a:ln>
        </p:spPr>
      </p:sp>
      <p:sp>
        <p:nvSpPr>
          <p:cNvPr id="15" name="Text 13"/>
          <p:cNvSpPr/>
          <p:nvPr/>
        </p:nvSpPr>
        <p:spPr>
          <a:xfrm>
            <a:off x="2761488" y="4709160"/>
            <a:ext cx="2112264" cy="475488"/>
          </a:xfrm>
          <a:prstGeom prst="rect">
            <a:avLst/>
          </a:prstGeom>
          <a:noFill/>
          <a:ln/>
        </p:spPr>
        <p:txBody>
          <a:bodyPr wrap="square" lIns="0" tIns="0" rIns="0" bIns="0" rtlCol="0" anchor="ctr"/>
          <a:lstStyle/>
          <a:p>
            <a:pPr algn="ctr" indent="0" marL="0">
              <a:buNone/>
            </a:pPr>
            <a:r>
              <a:rPr lang="en-US" sz="1150" b="1" dirty="0">
                <a:solidFill>
                  <a:srgbClr val="025965"/>
                </a:solidFill>
                <a:latin typeface="Calibri" pitchFamily="34" charset="0"/>
                <a:ea typeface="Calibri" pitchFamily="34" charset="-122"/>
                <a:cs typeface="Calibri" pitchFamily="34" charset="-120"/>
              </a:rPr>
              <a:t>Evidence grounding</a:t>
            </a:r>
            <a:endParaRPr lang="en-US" sz="1150" dirty="0"/>
          </a:p>
        </p:txBody>
      </p:sp>
      <p:sp>
        <p:nvSpPr>
          <p:cNvPr id="16" name="Shape 14"/>
          <p:cNvSpPr/>
          <p:nvPr/>
        </p:nvSpPr>
        <p:spPr>
          <a:xfrm>
            <a:off x="4974336" y="4709160"/>
            <a:ext cx="2112264" cy="475488"/>
          </a:xfrm>
          <a:prstGeom prst="roundRect">
            <a:avLst>
              <a:gd name="adj" fmla="val 50000"/>
            </a:avLst>
          </a:prstGeom>
          <a:solidFill>
            <a:srgbClr val="E3F1EF"/>
          </a:solidFill>
          <a:ln w="12700">
            <a:solidFill>
              <a:srgbClr val="03C39A"/>
            </a:solidFill>
            <a:prstDash val="solid"/>
          </a:ln>
        </p:spPr>
      </p:sp>
      <p:sp>
        <p:nvSpPr>
          <p:cNvPr id="17" name="Text 15"/>
          <p:cNvSpPr/>
          <p:nvPr/>
        </p:nvSpPr>
        <p:spPr>
          <a:xfrm>
            <a:off x="4974336" y="4709160"/>
            <a:ext cx="2112264" cy="475488"/>
          </a:xfrm>
          <a:prstGeom prst="rect">
            <a:avLst/>
          </a:prstGeom>
          <a:noFill/>
          <a:ln/>
        </p:spPr>
        <p:txBody>
          <a:bodyPr wrap="square" lIns="0" tIns="0" rIns="0" bIns="0" rtlCol="0" anchor="ctr"/>
          <a:lstStyle/>
          <a:p>
            <a:pPr algn="ctr" indent="0" marL="0">
              <a:buNone/>
            </a:pPr>
            <a:r>
              <a:rPr lang="en-US" sz="1150" b="1" dirty="0">
                <a:solidFill>
                  <a:srgbClr val="025965"/>
                </a:solidFill>
                <a:latin typeface="Calibri" pitchFamily="34" charset="0"/>
                <a:ea typeface="Calibri" pitchFamily="34" charset="-122"/>
                <a:cs typeface="Calibri" pitchFamily="34" charset="-120"/>
              </a:rPr>
              <a:t>Inspectable routing</a:t>
            </a:r>
            <a:endParaRPr lang="en-US" sz="1150" dirty="0"/>
          </a:p>
        </p:txBody>
      </p:sp>
      <p:sp>
        <p:nvSpPr>
          <p:cNvPr id="18" name="Shape 16"/>
          <p:cNvSpPr/>
          <p:nvPr/>
        </p:nvSpPr>
        <p:spPr>
          <a:xfrm>
            <a:off x="7187184" y="4709160"/>
            <a:ext cx="2112264" cy="475488"/>
          </a:xfrm>
          <a:prstGeom prst="roundRect">
            <a:avLst>
              <a:gd name="adj" fmla="val 50000"/>
            </a:avLst>
          </a:prstGeom>
          <a:solidFill>
            <a:srgbClr val="E3F1EF"/>
          </a:solidFill>
          <a:ln w="12700">
            <a:solidFill>
              <a:srgbClr val="03C39A"/>
            </a:solidFill>
            <a:prstDash val="solid"/>
          </a:ln>
        </p:spPr>
      </p:sp>
      <p:sp>
        <p:nvSpPr>
          <p:cNvPr id="19" name="Text 17"/>
          <p:cNvSpPr/>
          <p:nvPr/>
        </p:nvSpPr>
        <p:spPr>
          <a:xfrm>
            <a:off x="7187184" y="4709160"/>
            <a:ext cx="2112264" cy="475488"/>
          </a:xfrm>
          <a:prstGeom prst="rect">
            <a:avLst/>
          </a:prstGeom>
          <a:noFill/>
          <a:ln/>
        </p:spPr>
        <p:txBody>
          <a:bodyPr wrap="square" lIns="0" tIns="0" rIns="0" bIns="0" rtlCol="0" anchor="ctr"/>
          <a:lstStyle/>
          <a:p>
            <a:pPr algn="ctr" indent="0" marL="0">
              <a:buNone/>
            </a:pPr>
            <a:r>
              <a:rPr lang="en-US" sz="1150" b="1" dirty="0">
                <a:solidFill>
                  <a:srgbClr val="025965"/>
                </a:solidFill>
                <a:latin typeface="Calibri" pitchFamily="34" charset="0"/>
                <a:ea typeface="Calibri" pitchFamily="34" charset="-122"/>
                <a:cs typeface="Calibri" pitchFamily="34" charset="-120"/>
              </a:rPr>
              <a:t>Eval-driven CI</a:t>
            </a:r>
            <a:endParaRPr lang="en-US" sz="1150" dirty="0"/>
          </a:p>
        </p:txBody>
      </p:sp>
      <p:sp>
        <p:nvSpPr>
          <p:cNvPr id="20" name="Shape 18"/>
          <p:cNvSpPr/>
          <p:nvPr/>
        </p:nvSpPr>
        <p:spPr>
          <a:xfrm>
            <a:off x="9400032" y="4709160"/>
            <a:ext cx="2112264" cy="475488"/>
          </a:xfrm>
          <a:prstGeom prst="roundRect">
            <a:avLst>
              <a:gd name="adj" fmla="val 50000"/>
            </a:avLst>
          </a:prstGeom>
          <a:solidFill>
            <a:srgbClr val="E3F1EF"/>
          </a:solidFill>
          <a:ln w="12700">
            <a:solidFill>
              <a:srgbClr val="03C39A"/>
            </a:solidFill>
            <a:prstDash val="solid"/>
          </a:ln>
        </p:spPr>
      </p:sp>
      <p:sp>
        <p:nvSpPr>
          <p:cNvPr id="21" name="Text 19"/>
          <p:cNvSpPr/>
          <p:nvPr/>
        </p:nvSpPr>
        <p:spPr>
          <a:xfrm>
            <a:off x="9400032" y="4709160"/>
            <a:ext cx="2112264" cy="475488"/>
          </a:xfrm>
          <a:prstGeom prst="rect">
            <a:avLst/>
          </a:prstGeom>
          <a:noFill/>
          <a:ln/>
        </p:spPr>
        <p:txBody>
          <a:bodyPr wrap="square" lIns="0" tIns="0" rIns="0" bIns="0" rtlCol="0" anchor="ctr"/>
          <a:lstStyle/>
          <a:p>
            <a:pPr algn="ctr" indent="0" marL="0">
              <a:buNone/>
            </a:pPr>
            <a:r>
              <a:rPr lang="en-US" sz="1150" b="1" dirty="0">
                <a:solidFill>
                  <a:srgbClr val="025965"/>
                </a:solidFill>
                <a:latin typeface="Calibri" pitchFamily="34" charset="0"/>
                <a:ea typeface="Calibri" pitchFamily="34" charset="-122"/>
                <a:cs typeface="Calibri" pitchFamily="34" charset="-120"/>
              </a:rPr>
              <a:t>FHIR integrity</a:t>
            </a:r>
            <a:endParaRPr lang="en-US" sz="1150" dirty="0"/>
          </a:p>
        </p:txBody>
      </p:sp>
      <p:sp>
        <p:nvSpPr>
          <p:cNvPr id="22" name="Text 20"/>
          <p:cNvSpPr/>
          <p:nvPr/>
        </p:nvSpPr>
        <p:spPr>
          <a:xfrm>
            <a:off x="548640" y="5486400"/>
            <a:ext cx="11064240" cy="457200"/>
          </a:xfrm>
          <a:prstGeom prst="rect">
            <a:avLst/>
          </a:prstGeom>
          <a:noFill/>
          <a:ln/>
        </p:spPr>
        <p:txBody>
          <a:bodyPr wrap="square" lIns="0" tIns="0" rIns="0" bIns="0" rtlCol="0" anchor="ctr"/>
          <a:lstStyle/>
          <a:p>
            <a:pPr indent="0" marL="0">
              <a:buNone/>
            </a:pPr>
            <a:r>
              <a:rPr lang="en-US" sz="1300" i="1" dirty="0">
                <a:solidFill>
                  <a:srgbClr val="5C7076"/>
                </a:solidFill>
                <a:latin typeface="Calibri" pitchFamily="34" charset="0"/>
                <a:ea typeface="Calibri" pitchFamily="34" charset="-122"/>
                <a:cs typeface="Calibri" pitchFamily="34" charset="-120"/>
              </a:rPr>
              <a:t>Every capability still traces to the Week 1 user and use cases — nothing built for its own sake.</a:t>
            </a:r>
            <a:endParaRPr lang="en-US" sz="1300" dirty="0"/>
          </a:p>
        </p:txBody>
      </p:sp>
      <p:sp>
        <p:nvSpPr>
          <p:cNvPr id="24" name="Text 21"/>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5C7076"/>
                </a:solidFill>
                <a:latin typeface="Calibri" pitchFamily="34" charset="0"/>
                <a:ea typeface="Calibri" pitchFamily="34" charset="-122"/>
                <a:cs typeface="Calibri" pitchFamily="34" charset="-120"/>
              </a:rPr>
              <a:t>AgentForge · Week 2 Architecture Defense</a:t>
            </a:r>
            <a:endParaRPr lang="en-US" sz="900" dirty="0"/>
          </a:p>
        </p:txBody>
      </p:sp>
      <p:sp>
        <p:nvSpPr>
          <p:cNvPr id="25" name="Text 22"/>
          <p:cNvSpPr/>
          <p:nvPr/>
        </p:nvSpPr>
        <p:spPr>
          <a:xfrm>
            <a:off x="11247120" y="6473952"/>
            <a:ext cx="411480" cy="274320"/>
          </a:xfrm>
          <a:prstGeom prst="rect">
            <a:avLst/>
          </a:prstGeom>
          <a:noFill/>
          <a:ln/>
        </p:spPr>
        <p:txBody>
          <a:bodyPr wrap="square" lIns="0" tIns="0" rIns="0" bIns="0" rtlCol="0" anchor="ctr"/>
          <a:lstStyle/>
          <a:p>
            <a:pPr algn="r" indent="0" marL="0">
              <a:buNone/>
            </a:pPr>
            <a:r>
              <a:rPr lang="en-US" sz="900" dirty="0">
                <a:solidFill>
                  <a:srgbClr val="5C7076"/>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92608"/>
          </a:xfrm>
          <a:prstGeom prst="rect">
            <a:avLst/>
          </a:prstGeom>
          <a:noFill/>
          <a:ln/>
        </p:spPr>
        <p:txBody>
          <a:bodyPr wrap="square" lIns="0" tIns="0" rIns="0" bIns="0" rtlCol="0" anchor="ctr"/>
          <a:lstStyle/>
          <a:p>
            <a:pPr indent="0" marL="0">
              <a:buNone/>
            </a:pPr>
            <a:r>
              <a:rPr lang="en-US" sz="1250" b="1" spc="200" kern="0" dirty="0">
                <a:solidFill>
                  <a:srgbClr val="037A87"/>
                </a:solidFill>
                <a:latin typeface="Calibri" pitchFamily="34" charset="0"/>
                <a:ea typeface="Calibri" pitchFamily="34" charset="-122"/>
                <a:cs typeface="Calibri" pitchFamily="34" charset="-120"/>
              </a:rPr>
              <a:t>DECISION 01</a:t>
            </a:r>
            <a:endParaRPr lang="en-US" sz="1250" dirty="0"/>
          </a:p>
        </p:txBody>
      </p:sp>
      <p:sp>
        <p:nvSpPr>
          <p:cNvPr id="3" name="Text 1"/>
          <p:cNvSpPr/>
          <p:nvPr/>
        </p:nvSpPr>
        <p:spPr>
          <a:xfrm>
            <a:off x="548640" y="676656"/>
            <a:ext cx="11155680" cy="777240"/>
          </a:xfrm>
          <a:prstGeom prst="rect">
            <a:avLst/>
          </a:prstGeom>
          <a:noFill/>
          <a:ln/>
        </p:spPr>
        <p:txBody>
          <a:bodyPr wrap="square" lIns="0" tIns="0" rIns="0" bIns="0" rtlCol="0" anchor="ctr"/>
          <a:lstStyle/>
          <a:p>
            <a:pPr indent="0" marL="0">
              <a:buNone/>
            </a:pPr>
            <a:r>
              <a:rPr lang="en-US" sz="3100" b="1" dirty="0">
                <a:solidFill>
                  <a:srgbClr val="0A2A2F"/>
                </a:solidFill>
                <a:latin typeface="Cambria" pitchFamily="34" charset="0"/>
                <a:ea typeface="Cambria" pitchFamily="34" charset="-122"/>
                <a:cs typeface="Cambria" pitchFamily="34" charset="-120"/>
              </a:rPr>
              <a:t>One service, all-.NET</a:t>
            </a:r>
            <a:endParaRPr lang="en-US" sz="3100" dirty="0"/>
          </a:p>
        </p:txBody>
      </p:sp>
      <p:sp>
        <p:nvSpPr>
          <p:cNvPr id="4" name="Text 2"/>
          <p:cNvSpPr/>
          <p:nvPr/>
        </p:nvSpPr>
        <p:spPr>
          <a:xfrm>
            <a:off x="548640" y="1737360"/>
            <a:ext cx="5486400" cy="3291840"/>
          </a:xfrm>
          <a:prstGeom prst="rect">
            <a:avLst/>
          </a:prstGeom>
          <a:noFill/>
          <a:ln/>
        </p:spPr>
        <p:txBody>
          <a:bodyPr wrap="square" lIns="0" tIns="0" rIns="0" bIns="0" rtlCol="0" anchor="t"/>
          <a:lstStyle/>
          <a:p>
            <a:pPr marL="342900" indent="-342900">
              <a:spcAft>
                <a:spcPts val="1000"/>
              </a:spcAft>
              <a:buSzPct val="100000"/>
              <a:buChar char="•"/>
            </a:pPr>
            <a:r>
              <a:rPr lang="en-US" sz="1450" b="1" dirty="0">
                <a:solidFill>
                  <a:srgbClr val="12333A"/>
                </a:solidFill>
                <a:latin typeface="Calibri" pitchFamily="34" charset="0"/>
                <a:ea typeface="Calibri" pitchFamily="34" charset="-122"/>
                <a:cs typeface="Calibri" pitchFamily="34" charset="-120"/>
              </a:rPr>
              <a:t>Expand agent-forge-copilot — no new project.</a:t>
            </a:r>
            <a:endParaRPr lang="en-US" sz="1450" dirty="0"/>
          </a:p>
          <a:p>
            <a:pPr marL="342900" indent="-342900">
              <a:spcAft>
                <a:spcPts val="1000"/>
              </a:spcAft>
              <a:buSzPct val="100000"/>
              <a:buChar char="•"/>
            </a:pPr>
            <a:r>
              <a:rPr lang="en-US" sz="1450" dirty="0">
                <a:solidFill>
                  <a:srgbClr val="12333A"/>
                </a:solidFill>
                <a:latin typeface="Calibri" pitchFamily="34" charset="0"/>
                <a:ea typeface="Calibri" pitchFamily="34" charset="-122"/>
                <a:cs typeface="Calibri" pitchFamily="34" charset="-120"/>
              </a:rPr>
              <a:t>Week 1 compounds: auth, correlation IDs, typed contracts, observability — one trace across every new boundary the sprint grades.</a:t>
            </a:r>
            <a:endParaRPr lang="en-US" sz="1450" dirty="0"/>
          </a:p>
          <a:p>
            <a:pPr marL="342900" indent="-342900">
              <a:spcAft>
                <a:spcPts val="1000"/>
              </a:spcAft>
              <a:buSzPct val="100000"/>
              <a:buChar char="•"/>
            </a:pPr>
            <a:r>
              <a:rPr lang="en-US" sz="1450" dirty="0">
                <a:solidFill>
                  <a:srgbClr val="12333A"/>
                </a:solidFill>
                <a:latin typeface="Calibri" pitchFamily="34" charset="0"/>
                <a:ea typeface="Calibri" pitchFamily="34" charset="-122"/>
                <a:cs typeface="Calibri" pitchFamily="34" charset="-120"/>
              </a:rPr>
              <a:t>The spec permits equivalents — “another inspectable orchestration framework,” “Cohere Rerank or equivalent.”</a:t>
            </a:r>
            <a:endParaRPr lang="en-US" sz="1450" dirty="0"/>
          </a:p>
          <a:p>
            <a:pPr marL="342900" indent="-342900">
              <a:buSzPct val="100000"/>
              <a:buChar char="•"/>
            </a:pPr>
            <a:r>
              <a:rPr lang="en-US" sz="1450" dirty="0">
                <a:solidFill>
                  <a:srgbClr val="12333A"/>
                </a:solidFill>
                <a:latin typeface="Calibri" pitchFamily="34" charset="0"/>
                <a:ea typeface="Calibri" pitchFamily="34" charset="-122"/>
                <a:cs typeface="Calibri" pitchFamily="34" charset="-120"/>
              </a:rPr>
              <a:t>Narrower is stronger: one deployment, one auth model, one eval gate.</a:t>
            </a:r>
            <a:endParaRPr lang="en-US" sz="1450" dirty="0"/>
          </a:p>
        </p:txBody>
      </p:sp>
      <p:sp>
        <p:nvSpPr>
          <p:cNvPr id="5" name="Text 3"/>
          <p:cNvSpPr/>
          <p:nvPr/>
        </p:nvSpPr>
        <p:spPr>
          <a:xfrm>
            <a:off x="6355080" y="1645920"/>
            <a:ext cx="5303520" cy="320040"/>
          </a:xfrm>
          <a:prstGeom prst="rect">
            <a:avLst/>
          </a:prstGeom>
          <a:noFill/>
          <a:ln/>
        </p:spPr>
        <p:txBody>
          <a:bodyPr wrap="square" lIns="0" tIns="0" rIns="0" bIns="0" rtlCol="0" anchor="ctr"/>
          <a:lstStyle/>
          <a:p>
            <a:pPr indent="0" marL="0">
              <a:buNone/>
            </a:pPr>
            <a:r>
              <a:rPr lang="en-US" sz="1200" b="1" spc="100" kern="0" dirty="0">
                <a:solidFill>
                  <a:srgbClr val="5C7076"/>
                </a:solidFill>
                <a:latin typeface="Calibri" pitchFamily="34" charset="0"/>
                <a:ea typeface="Calibri" pitchFamily="34" charset="-122"/>
                <a:cs typeface="Calibri" pitchFamily="34" charset="-120"/>
              </a:rPr>
              <a:t>PYTHON TOOL  →  .NET COUNTERPART</a:t>
            </a:r>
            <a:endParaRPr lang="en-US" sz="1200" dirty="0"/>
          </a:p>
        </p:txBody>
      </p:sp>
      <p:sp>
        <p:nvSpPr>
          <p:cNvPr id="6" name="Shape 4"/>
          <p:cNvSpPr/>
          <p:nvPr/>
        </p:nvSpPr>
        <p:spPr>
          <a:xfrm>
            <a:off x="6355080" y="2057400"/>
            <a:ext cx="5257800" cy="841248"/>
          </a:xfrm>
          <a:prstGeom prst="roundRect">
            <a:avLst>
              <a:gd name="adj" fmla="val 9783"/>
            </a:avLst>
          </a:prstGeom>
          <a:solidFill>
            <a:srgbClr val="EFF6F6"/>
          </a:solidFill>
          <a:ln/>
          <a:effectLst>
            <a:outerShdw sx="100000" sy="100000" kx="0" ky="0" algn="bl" rotWithShape="0" blurRad="88900" dist="25400" dir="5400000">
              <a:srgbClr val="A9C0C1">
                <a:alpha val="40000"/>
              </a:srgbClr>
            </a:outerShdw>
          </a:effectLst>
        </p:spPr>
      </p:sp>
      <p:sp>
        <p:nvSpPr>
          <p:cNvPr id="7" name="Text 5"/>
          <p:cNvSpPr/>
          <p:nvPr/>
        </p:nvSpPr>
        <p:spPr>
          <a:xfrm>
            <a:off x="6583680" y="2185416"/>
            <a:ext cx="4846320" cy="292608"/>
          </a:xfrm>
          <a:prstGeom prst="rect">
            <a:avLst/>
          </a:prstGeom>
          <a:noFill/>
          <a:ln/>
        </p:spPr>
        <p:txBody>
          <a:bodyPr wrap="square" lIns="0" tIns="0" rIns="0" bIns="0" rtlCol="0" anchor="ctr"/>
          <a:lstStyle/>
          <a:p>
            <a:pPr indent="0" marL="0">
              <a:buNone/>
            </a:pPr>
            <a:r>
              <a:rPr lang="en-US" sz="1300" b="1" dirty="0">
                <a:solidFill>
                  <a:srgbClr val="025965"/>
                </a:solidFill>
                <a:latin typeface="Calibri" pitchFamily="34" charset="0"/>
                <a:ea typeface="Calibri" pitchFamily="34" charset="-122"/>
                <a:cs typeface="Calibri" pitchFamily="34" charset="-120"/>
              </a:rPr>
              <a:t>LangGraph / Agents SDK</a:t>
            </a:r>
            <a:endParaRPr lang="en-US" sz="1300" dirty="0"/>
          </a:p>
        </p:txBody>
      </p:sp>
      <p:sp>
        <p:nvSpPr>
          <p:cNvPr id="8" name="Text 6"/>
          <p:cNvSpPr/>
          <p:nvPr/>
        </p:nvSpPr>
        <p:spPr>
          <a:xfrm>
            <a:off x="6583680" y="2478024"/>
            <a:ext cx="4846320" cy="310896"/>
          </a:xfrm>
          <a:prstGeom prst="rect">
            <a:avLst/>
          </a:prstGeom>
          <a:noFill/>
          <a:ln/>
        </p:spPr>
        <p:txBody>
          <a:bodyPr wrap="square" lIns="0" tIns="0" rIns="0" bIns="0" rtlCol="0" anchor="ctr"/>
          <a:lstStyle/>
          <a:p>
            <a:pPr indent="0" marL="0">
              <a:buNone/>
            </a:pPr>
            <a:r>
              <a:rPr lang="en-US" sz="1300" dirty="0">
                <a:solidFill>
                  <a:srgbClr val="12333A"/>
                </a:solidFill>
                <a:latin typeface="Calibri" pitchFamily="34" charset="0"/>
                <a:ea typeface="Calibri" pitchFamily="34" charset="-122"/>
                <a:cs typeface="Calibri" pitchFamily="34" charset="-120"/>
              </a:rPr>
              <a:t>Typed supervisor state machine</a:t>
            </a:r>
            <a:endParaRPr lang="en-US" sz="1300" dirty="0"/>
          </a:p>
        </p:txBody>
      </p:sp>
      <p:sp>
        <p:nvSpPr>
          <p:cNvPr id="9" name="Shape 7"/>
          <p:cNvSpPr/>
          <p:nvPr/>
        </p:nvSpPr>
        <p:spPr>
          <a:xfrm>
            <a:off x="6355080" y="3026664"/>
            <a:ext cx="5257800" cy="841248"/>
          </a:xfrm>
          <a:prstGeom prst="roundRect">
            <a:avLst>
              <a:gd name="adj" fmla="val 9783"/>
            </a:avLst>
          </a:prstGeom>
          <a:solidFill>
            <a:srgbClr val="EFF6F6"/>
          </a:solidFill>
          <a:ln/>
          <a:effectLst>
            <a:outerShdw sx="100000" sy="100000" kx="0" ky="0" algn="bl" rotWithShape="0" blurRad="88900" dist="25400" dir="5400000">
              <a:srgbClr val="A9C0C1">
                <a:alpha val="40000"/>
              </a:srgbClr>
            </a:outerShdw>
          </a:effectLst>
        </p:spPr>
      </p:sp>
      <p:sp>
        <p:nvSpPr>
          <p:cNvPr id="10" name="Text 8"/>
          <p:cNvSpPr/>
          <p:nvPr/>
        </p:nvSpPr>
        <p:spPr>
          <a:xfrm>
            <a:off x="6583680" y="3154680"/>
            <a:ext cx="4846320" cy="292608"/>
          </a:xfrm>
          <a:prstGeom prst="rect">
            <a:avLst/>
          </a:prstGeom>
          <a:noFill/>
          <a:ln/>
        </p:spPr>
        <p:txBody>
          <a:bodyPr wrap="square" lIns="0" tIns="0" rIns="0" bIns="0" rtlCol="0" anchor="ctr"/>
          <a:lstStyle/>
          <a:p>
            <a:pPr indent="0" marL="0">
              <a:buNone/>
            </a:pPr>
            <a:r>
              <a:rPr lang="en-US" sz="1300" b="1" dirty="0">
                <a:solidFill>
                  <a:srgbClr val="025965"/>
                </a:solidFill>
                <a:latin typeface="Calibri" pitchFamily="34" charset="0"/>
                <a:ea typeface="Calibri" pitchFamily="34" charset="-122"/>
                <a:cs typeface="Calibri" pitchFamily="34" charset="-120"/>
              </a:rPr>
              <a:t>Cohere Rerank</a:t>
            </a:r>
            <a:endParaRPr lang="en-US" sz="1300" dirty="0"/>
          </a:p>
        </p:txBody>
      </p:sp>
      <p:sp>
        <p:nvSpPr>
          <p:cNvPr id="11" name="Text 9"/>
          <p:cNvSpPr/>
          <p:nvPr/>
        </p:nvSpPr>
        <p:spPr>
          <a:xfrm>
            <a:off x="6583680" y="3447288"/>
            <a:ext cx="4846320" cy="310896"/>
          </a:xfrm>
          <a:prstGeom prst="rect">
            <a:avLst/>
          </a:prstGeom>
          <a:noFill/>
          <a:ln/>
        </p:spPr>
        <p:txBody>
          <a:bodyPr wrap="square" lIns="0" tIns="0" rIns="0" bIns="0" rtlCol="0" anchor="ctr"/>
          <a:lstStyle/>
          <a:p>
            <a:pPr indent="0" marL="0">
              <a:buNone/>
            </a:pPr>
            <a:r>
              <a:rPr lang="en-US" sz="1300" dirty="0">
                <a:solidFill>
                  <a:srgbClr val="12333A"/>
                </a:solidFill>
                <a:latin typeface="Calibri" pitchFamily="34" charset="0"/>
                <a:ea typeface="Calibri" pitchFamily="34" charset="-122"/>
                <a:cs typeface="Calibri" pitchFamily="34" charset="-120"/>
              </a:rPr>
              <a:t>REST via Refit (IReranker)</a:t>
            </a:r>
            <a:endParaRPr lang="en-US" sz="1300" dirty="0"/>
          </a:p>
        </p:txBody>
      </p:sp>
      <p:sp>
        <p:nvSpPr>
          <p:cNvPr id="12" name="Shape 10"/>
          <p:cNvSpPr/>
          <p:nvPr/>
        </p:nvSpPr>
        <p:spPr>
          <a:xfrm>
            <a:off x="6355080" y="3995928"/>
            <a:ext cx="5257800" cy="841248"/>
          </a:xfrm>
          <a:prstGeom prst="roundRect">
            <a:avLst>
              <a:gd name="adj" fmla="val 9783"/>
            </a:avLst>
          </a:prstGeom>
          <a:solidFill>
            <a:srgbClr val="EFF6F6"/>
          </a:solidFill>
          <a:ln/>
          <a:effectLst>
            <a:outerShdw sx="100000" sy="100000" kx="0" ky="0" algn="bl" rotWithShape="0" blurRad="88900" dist="25400" dir="5400000">
              <a:srgbClr val="A9C0C1">
                <a:alpha val="40000"/>
              </a:srgbClr>
            </a:outerShdw>
          </a:effectLst>
        </p:spPr>
      </p:sp>
      <p:sp>
        <p:nvSpPr>
          <p:cNvPr id="13" name="Text 11"/>
          <p:cNvSpPr/>
          <p:nvPr/>
        </p:nvSpPr>
        <p:spPr>
          <a:xfrm>
            <a:off x="6583680" y="4123944"/>
            <a:ext cx="4846320" cy="292608"/>
          </a:xfrm>
          <a:prstGeom prst="rect">
            <a:avLst/>
          </a:prstGeom>
          <a:noFill/>
          <a:ln/>
        </p:spPr>
        <p:txBody>
          <a:bodyPr wrap="square" lIns="0" tIns="0" rIns="0" bIns="0" rtlCol="0" anchor="ctr"/>
          <a:lstStyle/>
          <a:p>
            <a:pPr indent="0" marL="0">
              <a:buNone/>
            </a:pPr>
            <a:r>
              <a:rPr lang="en-US" sz="1300" b="1" dirty="0">
                <a:solidFill>
                  <a:srgbClr val="025965"/>
                </a:solidFill>
                <a:latin typeface="Calibri" pitchFamily="34" charset="0"/>
                <a:ea typeface="Calibri" pitchFamily="34" charset="-122"/>
                <a:cs typeface="Calibri" pitchFamily="34" charset="-120"/>
              </a:rPr>
              <a:t>Python VLM pipeline</a:t>
            </a:r>
            <a:endParaRPr lang="en-US" sz="1300" dirty="0"/>
          </a:p>
        </p:txBody>
      </p:sp>
      <p:sp>
        <p:nvSpPr>
          <p:cNvPr id="14" name="Text 12"/>
          <p:cNvSpPr/>
          <p:nvPr/>
        </p:nvSpPr>
        <p:spPr>
          <a:xfrm>
            <a:off x="6583680" y="4416552"/>
            <a:ext cx="4846320" cy="310896"/>
          </a:xfrm>
          <a:prstGeom prst="rect">
            <a:avLst/>
          </a:prstGeom>
          <a:noFill/>
          <a:ln/>
        </p:spPr>
        <p:txBody>
          <a:bodyPr wrap="square" lIns="0" tIns="0" rIns="0" bIns="0" rtlCol="0" anchor="ctr"/>
          <a:lstStyle/>
          <a:p>
            <a:pPr indent="0" marL="0">
              <a:buNone/>
            </a:pPr>
            <a:r>
              <a:rPr lang="en-US" sz="1300" dirty="0">
                <a:solidFill>
                  <a:srgbClr val="12333A"/>
                </a:solidFill>
                <a:latin typeface="Calibri" pitchFamily="34" charset="0"/>
                <a:ea typeface="Calibri" pitchFamily="34" charset="-122"/>
                <a:cs typeface="Calibri" pitchFamily="34" charset="-120"/>
              </a:rPr>
              <a:t>ILlmProvider vision seam</a:t>
            </a:r>
            <a:endParaRPr lang="en-US" sz="1300" dirty="0"/>
          </a:p>
        </p:txBody>
      </p:sp>
      <p:sp>
        <p:nvSpPr>
          <p:cNvPr id="15" name="Shape 13"/>
          <p:cNvSpPr/>
          <p:nvPr/>
        </p:nvSpPr>
        <p:spPr>
          <a:xfrm>
            <a:off x="6355080" y="4965192"/>
            <a:ext cx="5257800" cy="841248"/>
          </a:xfrm>
          <a:prstGeom prst="roundRect">
            <a:avLst>
              <a:gd name="adj" fmla="val 9783"/>
            </a:avLst>
          </a:prstGeom>
          <a:solidFill>
            <a:srgbClr val="EFF6F6"/>
          </a:solidFill>
          <a:ln/>
          <a:effectLst>
            <a:outerShdw sx="100000" sy="100000" kx="0" ky="0" algn="bl" rotWithShape="0" blurRad="88900" dist="25400" dir="5400000">
              <a:srgbClr val="A9C0C1">
                <a:alpha val="40000"/>
              </a:srgbClr>
            </a:outerShdw>
          </a:effectLst>
        </p:spPr>
      </p:sp>
      <p:sp>
        <p:nvSpPr>
          <p:cNvPr id="16" name="Text 14"/>
          <p:cNvSpPr/>
          <p:nvPr/>
        </p:nvSpPr>
        <p:spPr>
          <a:xfrm>
            <a:off x="6583680" y="5093208"/>
            <a:ext cx="4846320" cy="292608"/>
          </a:xfrm>
          <a:prstGeom prst="rect">
            <a:avLst/>
          </a:prstGeom>
          <a:noFill/>
          <a:ln/>
        </p:spPr>
        <p:txBody>
          <a:bodyPr wrap="square" lIns="0" tIns="0" rIns="0" bIns="0" rtlCol="0" anchor="ctr"/>
          <a:lstStyle/>
          <a:p>
            <a:pPr indent="0" marL="0">
              <a:buNone/>
            </a:pPr>
            <a:r>
              <a:rPr lang="en-US" sz="1300" b="1" dirty="0">
                <a:solidFill>
                  <a:srgbClr val="025965"/>
                </a:solidFill>
                <a:latin typeface="Calibri" pitchFamily="34" charset="0"/>
                <a:ea typeface="Calibri" pitchFamily="34" charset="-122"/>
                <a:cs typeface="Calibri" pitchFamily="34" charset="-120"/>
              </a:rPr>
              <a:t>Vector DB / RAG stack</a:t>
            </a:r>
            <a:endParaRPr lang="en-US" sz="1300" dirty="0"/>
          </a:p>
        </p:txBody>
      </p:sp>
      <p:sp>
        <p:nvSpPr>
          <p:cNvPr id="17" name="Text 15"/>
          <p:cNvSpPr/>
          <p:nvPr/>
        </p:nvSpPr>
        <p:spPr>
          <a:xfrm>
            <a:off x="6583680" y="5385816"/>
            <a:ext cx="4846320" cy="310896"/>
          </a:xfrm>
          <a:prstGeom prst="rect">
            <a:avLst/>
          </a:prstGeom>
          <a:noFill/>
          <a:ln/>
        </p:spPr>
        <p:txBody>
          <a:bodyPr wrap="square" lIns="0" tIns="0" rIns="0" bIns="0" rtlCol="0" anchor="ctr"/>
          <a:lstStyle/>
          <a:p>
            <a:pPr indent="0" marL="0">
              <a:buNone/>
            </a:pPr>
            <a:r>
              <a:rPr lang="en-US" sz="1300" dirty="0">
                <a:solidFill>
                  <a:srgbClr val="12333A"/>
                </a:solidFill>
                <a:latin typeface="Calibri" pitchFamily="34" charset="0"/>
                <a:ea typeface="Calibri" pitchFamily="34" charset="-122"/>
                <a:cs typeface="Calibri" pitchFamily="34" charset="-120"/>
              </a:rPr>
              <a:t>Postgres + pgvector + FTS</a:t>
            </a:r>
            <a:endParaRPr lang="en-US" sz="1300" dirty="0"/>
          </a:p>
        </p:txBody>
      </p:sp>
      <p:sp>
        <p:nvSpPr>
          <p:cNvPr id="19" name="Text 16"/>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5C7076"/>
                </a:solidFill>
                <a:latin typeface="Calibri" pitchFamily="34" charset="0"/>
                <a:ea typeface="Calibri" pitchFamily="34" charset="-122"/>
                <a:cs typeface="Calibri" pitchFamily="34" charset="-120"/>
              </a:rPr>
              <a:t>AgentForge · Week 2 Architecture Defense</a:t>
            </a:r>
            <a:endParaRPr lang="en-US" sz="900" dirty="0"/>
          </a:p>
        </p:txBody>
      </p:sp>
      <p:sp>
        <p:nvSpPr>
          <p:cNvPr id="20" name="Text 17"/>
          <p:cNvSpPr/>
          <p:nvPr/>
        </p:nvSpPr>
        <p:spPr>
          <a:xfrm>
            <a:off x="11247120" y="6473952"/>
            <a:ext cx="411480" cy="274320"/>
          </a:xfrm>
          <a:prstGeom prst="rect">
            <a:avLst/>
          </a:prstGeom>
          <a:noFill/>
          <a:ln/>
        </p:spPr>
        <p:txBody>
          <a:bodyPr wrap="square" lIns="0" tIns="0" rIns="0" bIns="0" rtlCol="0" anchor="ctr"/>
          <a:lstStyle/>
          <a:p>
            <a:pPr algn="r" indent="0" marL="0">
              <a:buNone/>
            </a:pPr>
            <a:r>
              <a:rPr lang="en-US" sz="900" dirty="0">
                <a:solidFill>
                  <a:srgbClr val="5C7076"/>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92608"/>
          </a:xfrm>
          <a:prstGeom prst="rect">
            <a:avLst/>
          </a:prstGeom>
          <a:noFill/>
          <a:ln/>
        </p:spPr>
        <p:txBody>
          <a:bodyPr wrap="square" lIns="0" tIns="0" rIns="0" bIns="0" rtlCol="0" anchor="ctr"/>
          <a:lstStyle/>
          <a:p>
            <a:pPr indent="0" marL="0">
              <a:buNone/>
            </a:pPr>
            <a:r>
              <a:rPr lang="en-US" sz="1250" b="1" spc="200" kern="0" dirty="0">
                <a:solidFill>
                  <a:srgbClr val="037A87"/>
                </a:solidFill>
                <a:latin typeface="Calibri" pitchFamily="34" charset="0"/>
                <a:ea typeface="Calibri" pitchFamily="34" charset="-122"/>
                <a:cs typeface="Calibri" pitchFamily="34" charset="-120"/>
              </a:rPr>
              <a:t>DECISION 02 · THE STRONGEST CALL</a:t>
            </a:r>
            <a:endParaRPr lang="en-US" sz="1250" dirty="0"/>
          </a:p>
        </p:txBody>
      </p:sp>
      <p:sp>
        <p:nvSpPr>
          <p:cNvPr id="3" name="Text 1"/>
          <p:cNvSpPr/>
          <p:nvPr/>
        </p:nvSpPr>
        <p:spPr>
          <a:xfrm>
            <a:off x="548640" y="676656"/>
            <a:ext cx="11155680" cy="777240"/>
          </a:xfrm>
          <a:prstGeom prst="rect">
            <a:avLst/>
          </a:prstGeom>
          <a:noFill/>
          <a:ln/>
        </p:spPr>
        <p:txBody>
          <a:bodyPr wrap="square" lIns="0" tIns="0" rIns="0" bIns="0" rtlCol="0" anchor="ctr"/>
          <a:lstStyle/>
          <a:p>
            <a:pPr indent="0" marL="0">
              <a:buNone/>
            </a:pPr>
            <a:r>
              <a:rPr lang="en-US" sz="3100" b="1" dirty="0">
                <a:solidFill>
                  <a:srgbClr val="0A2A2F"/>
                </a:solidFill>
                <a:latin typeface="Cambria" pitchFamily="34" charset="0"/>
                <a:ea typeface="Cambria" pitchFamily="34" charset="-122"/>
                <a:cs typeface="Cambria" pitchFamily="34" charset="-120"/>
              </a:rPr>
              <a:t>Write-back: one authority per data type</a:t>
            </a:r>
            <a:endParaRPr lang="en-US" sz="3100" dirty="0"/>
          </a:p>
        </p:txBody>
      </p:sp>
      <p:sp>
        <p:nvSpPr>
          <p:cNvPr id="4" name="Shape 2"/>
          <p:cNvSpPr/>
          <p:nvPr/>
        </p:nvSpPr>
        <p:spPr>
          <a:xfrm>
            <a:off x="548640" y="1627632"/>
            <a:ext cx="11064240" cy="1051560"/>
          </a:xfrm>
          <a:prstGeom prst="roundRect">
            <a:avLst>
              <a:gd name="adj" fmla="val 7826"/>
            </a:avLst>
          </a:prstGeom>
          <a:solidFill>
            <a:srgbClr val="E3F1EF"/>
          </a:solidFill>
          <a:ln/>
          <a:effectLst>
            <a:outerShdw sx="100000" sy="100000" kx="0" ky="0" algn="bl" rotWithShape="0" blurRad="88900" dist="25400" dir="5400000">
              <a:srgbClr val="A9C0C1">
                <a:alpha val="40000"/>
              </a:srgbClr>
            </a:outerShdw>
          </a:effectLst>
        </p:spPr>
      </p:sp>
      <p:sp>
        <p:nvSpPr>
          <p:cNvPr id="5" name="Text 3"/>
          <p:cNvSpPr/>
          <p:nvPr/>
        </p:nvSpPr>
        <p:spPr>
          <a:xfrm>
            <a:off x="822960" y="1737360"/>
            <a:ext cx="10515600" cy="822960"/>
          </a:xfrm>
          <a:prstGeom prst="rect">
            <a:avLst/>
          </a:prstGeom>
          <a:noFill/>
          <a:ln/>
        </p:spPr>
        <p:txBody>
          <a:bodyPr wrap="square" lIns="0" tIns="0" rIns="0" bIns="0" rtlCol="0" anchor="ctr"/>
          <a:lstStyle/>
          <a:p>
            <a:pPr indent="0" marL="0">
              <a:buNone/>
            </a:pPr>
            <a:r>
              <a:rPr lang="en-US" sz="1400" b="1" dirty="0">
                <a:solidFill>
                  <a:srgbClr val="025965"/>
                </a:solidFill>
                <a:latin typeface="Calibri" pitchFamily="34" charset="0"/>
                <a:ea typeface="Calibri" pitchFamily="34" charset="-122"/>
                <a:cs typeface="Calibri" pitchFamily="34" charset="-120"/>
              </a:rPr>
              <a:t>Confirmed against the fork route table:  </a:t>
            </a:r>
            <a:pPr indent="0" marL="0">
              <a:buNone/>
            </a:pPr>
            <a:r>
              <a:rPr lang="en-US" sz="1400" dirty="0">
                <a:solidFill>
                  <a:srgbClr val="12333A"/>
                </a:solidFill>
                <a:latin typeface="Calibri" pitchFamily="34" charset="0"/>
                <a:ea typeface="Calibri" pitchFamily="34" charset="-122"/>
                <a:cs typeface="Calibri" pitchFamily="34" charset="-120"/>
              </a:rPr>
              <a:t>the FHIR API is read-only for our data types — only Organization / Patient / Practitioner accept POST. No POST for Observation, DocumentReference, Binary, or DiagnosticReport.</a:t>
            </a:r>
            <a:endParaRPr lang="en-US" sz="1400" dirty="0"/>
          </a:p>
        </p:txBody>
      </p:sp>
      <p:sp>
        <p:nvSpPr>
          <p:cNvPr id="6" name="Shape 4"/>
          <p:cNvSpPr/>
          <p:nvPr/>
        </p:nvSpPr>
        <p:spPr>
          <a:xfrm>
            <a:off x="548640" y="2880360"/>
            <a:ext cx="5440680" cy="1965960"/>
          </a:xfrm>
          <a:prstGeom prst="roundRect">
            <a:avLst>
              <a:gd name="adj" fmla="val 4186"/>
            </a:avLst>
          </a:prstGeom>
          <a:solidFill>
            <a:srgbClr val="EFF6F6"/>
          </a:solidFill>
          <a:ln/>
          <a:effectLst>
            <a:outerShdw sx="100000" sy="100000" kx="0" ky="0" algn="bl" rotWithShape="0" blurRad="88900" dist="25400" dir="5400000">
              <a:srgbClr val="A9C0C1">
                <a:alpha val="40000"/>
              </a:srgbClr>
            </a:outerShdw>
          </a:effectLst>
        </p:spPr>
      </p:sp>
      <p:sp>
        <p:nvSpPr>
          <p:cNvPr id="7" name="Text 5"/>
          <p:cNvSpPr/>
          <p:nvPr/>
        </p:nvSpPr>
        <p:spPr>
          <a:xfrm>
            <a:off x="822960" y="3054096"/>
            <a:ext cx="4937760" cy="365760"/>
          </a:xfrm>
          <a:prstGeom prst="rect">
            <a:avLst/>
          </a:prstGeom>
          <a:noFill/>
          <a:ln/>
        </p:spPr>
        <p:txBody>
          <a:bodyPr wrap="square" lIns="0" tIns="0" rIns="0" bIns="0" rtlCol="0" anchor="ctr"/>
          <a:lstStyle/>
          <a:p>
            <a:pPr indent="0" marL="0">
              <a:buNone/>
            </a:pPr>
            <a:r>
              <a:rPr lang="en-US" sz="1700" b="1" dirty="0">
                <a:solidFill>
                  <a:srgbClr val="037A87"/>
                </a:solidFill>
                <a:latin typeface="Cambria" pitchFamily="34" charset="0"/>
                <a:ea typeface="Cambria" pitchFamily="34" charset="-122"/>
                <a:cs typeface="Cambria" pitchFamily="34" charset="-120"/>
              </a:rPr>
              <a:t>Source document  →  OpenEMR</a:t>
            </a:r>
            <a:endParaRPr lang="en-US" sz="1700" dirty="0"/>
          </a:p>
        </p:txBody>
      </p:sp>
      <p:sp>
        <p:nvSpPr>
          <p:cNvPr id="8" name="Text 6"/>
          <p:cNvSpPr/>
          <p:nvPr/>
        </p:nvSpPr>
        <p:spPr>
          <a:xfrm>
            <a:off x="822960" y="3493008"/>
            <a:ext cx="4937760" cy="1234440"/>
          </a:xfrm>
          <a:prstGeom prst="rect">
            <a:avLst/>
          </a:prstGeom>
          <a:noFill/>
          <a:ln/>
        </p:spPr>
        <p:txBody>
          <a:bodyPr wrap="square" lIns="0" tIns="0" rIns="0" bIns="0" rtlCol="0" anchor="ctr"/>
          <a:lstStyle/>
          <a:p>
            <a:pPr indent="0" marL="0">
              <a:buNone/>
            </a:pPr>
            <a:r>
              <a:rPr lang="en-US" sz="1350" dirty="0">
                <a:solidFill>
                  <a:srgbClr val="12333A"/>
                </a:solidFill>
                <a:latin typeface="Calibri" pitchFamily="34" charset="0"/>
                <a:ea typeface="Calibri" pitchFamily="34" charset="-122"/>
                <a:cs typeface="Calibri" pitchFamily="34" charset="-120"/>
              </a:rPr>
              <a:t>Written via standard REST POST /api/patient/:pid/document. Cited via GET /fhir/DocumentReference + /Binary.</a:t>
            </a:r>
            <a:endParaRPr lang="en-US" sz="1350" dirty="0"/>
          </a:p>
          <a:p>
            <a:pPr indent="0" marL="0">
              <a:buNone/>
            </a:pPr>
            <a:r>
              <a:rPr lang="en-US" sz="1350" dirty="0">
                <a:solidFill>
                  <a:srgbClr val="12333A"/>
                </a:solidFill>
                <a:latin typeface="Calibri" pitchFamily="34" charset="0"/>
                <a:ea typeface="Calibri" pitchFamily="34" charset="-122"/>
                <a:cs typeface="Calibri" pitchFamily="34" charset="-120"/>
              </a:rPr>
              <a:t>OpenEMR is authoritative.</a:t>
            </a:r>
            <a:endParaRPr lang="en-US" sz="1350" dirty="0"/>
          </a:p>
        </p:txBody>
      </p:sp>
      <p:sp>
        <p:nvSpPr>
          <p:cNvPr id="9" name="Shape 7"/>
          <p:cNvSpPr/>
          <p:nvPr/>
        </p:nvSpPr>
        <p:spPr>
          <a:xfrm>
            <a:off x="6172200" y="2880360"/>
            <a:ext cx="5440680" cy="1965960"/>
          </a:xfrm>
          <a:prstGeom prst="roundRect">
            <a:avLst>
              <a:gd name="adj" fmla="val 4186"/>
            </a:avLst>
          </a:prstGeom>
          <a:solidFill>
            <a:srgbClr val="EFF6F6"/>
          </a:solidFill>
          <a:ln/>
          <a:effectLst>
            <a:outerShdw sx="100000" sy="100000" kx="0" ky="0" algn="bl" rotWithShape="0" blurRad="88900" dist="25400" dir="5400000">
              <a:srgbClr val="A9C0C1">
                <a:alpha val="40000"/>
              </a:srgbClr>
            </a:outerShdw>
          </a:effectLst>
        </p:spPr>
      </p:sp>
      <p:sp>
        <p:nvSpPr>
          <p:cNvPr id="10" name="Text 8"/>
          <p:cNvSpPr/>
          <p:nvPr/>
        </p:nvSpPr>
        <p:spPr>
          <a:xfrm>
            <a:off x="6446520" y="3054096"/>
            <a:ext cx="4937760" cy="365760"/>
          </a:xfrm>
          <a:prstGeom prst="rect">
            <a:avLst/>
          </a:prstGeom>
          <a:noFill/>
          <a:ln/>
        </p:spPr>
        <p:txBody>
          <a:bodyPr wrap="square" lIns="0" tIns="0" rIns="0" bIns="0" rtlCol="0" anchor="ctr"/>
          <a:lstStyle/>
          <a:p>
            <a:pPr indent="0" marL="0">
              <a:buNone/>
            </a:pPr>
            <a:r>
              <a:rPr lang="en-US" sz="1700" b="1" dirty="0">
                <a:solidFill>
                  <a:srgbClr val="037A87"/>
                </a:solidFill>
                <a:latin typeface="Cambria" pitchFamily="34" charset="0"/>
                <a:ea typeface="Cambria" pitchFamily="34" charset="-122"/>
                <a:cs typeface="Cambria" pitchFamily="34" charset="-120"/>
              </a:rPr>
              <a:t>Derived facts  →  Sidecar</a:t>
            </a:r>
            <a:endParaRPr lang="en-US" sz="1700" dirty="0"/>
          </a:p>
        </p:txBody>
      </p:sp>
      <p:sp>
        <p:nvSpPr>
          <p:cNvPr id="11" name="Text 9"/>
          <p:cNvSpPr/>
          <p:nvPr/>
        </p:nvSpPr>
        <p:spPr>
          <a:xfrm>
            <a:off x="6446520" y="3493008"/>
            <a:ext cx="4937760" cy="1234440"/>
          </a:xfrm>
          <a:prstGeom prst="rect">
            <a:avLst/>
          </a:prstGeom>
          <a:noFill/>
          <a:ln/>
        </p:spPr>
        <p:txBody>
          <a:bodyPr wrap="square" lIns="0" tIns="0" rIns="0" bIns="0" rtlCol="0" anchor="ctr"/>
          <a:lstStyle/>
          <a:p>
            <a:pPr indent="0" marL="0">
              <a:buNone/>
            </a:pPr>
            <a:r>
              <a:rPr lang="en-US" sz="1350" dirty="0">
                <a:solidFill>
                  <a:srgbClr val="12333A"/>
                </a:solidFill>
                <a:latin typeface="Calibri" pitchFamily="34" charset="0"/>
                <a:ea typeface="Calibri" pitchFamily="34" charset="-122"/>
                <a:cs typeface="Calibri" pitchFamily="34" charset="-120"/>
              </a:rPr>
              <a:t>No supported FHIR/REST create path. Stored sidecar-side, each citing the DocumentReference id + page + bbox.</a:t>
            </a:r>
            <a:endParaRPr lang="en-US" sz="1350" dirty="0"/>
          </a:p>
          <a:p>
            <a:pPr indent="0" marL="0">
              <a:buNone/>
            </a:pPr>
            <a:r>
              <a:rPr lang="en-US" sz="1350" dirty="0">
                <a:solidFill>
                  <a:srgbClr val="12333A"/>
                </a:solidFill>
                <a:latin typeface="Calibri" pitchFamily="34" charset="0"/>
                <a:ea typeface="Calibri" pitchFamily="34" charset="-122"/>
                <a:cs typeface="Calibri" pitchFamily="34" charset="-120"/>
              </a:rPr>
              <a:t>Sidecar is authoritative.</a:t>
            </a:r>
            <a:endParaRPr lang="en-US" sz="1350" dirty="0"/>
          </a:p>
        </p:txBody>
      </p:sp>
      <p:sp>
        <p:nvSpPr>
          <p:cNvPr id="12" name="Text 10"/>
          <p:cNvSpPr/>
          <p:nvPr/>
        </p:nvSpPr>
        <p:spPr>
          <a:xfrm>
            <a:off x="548640" y="5120640"/>
            <a:ext cx="11064240" cy="548640"/>
          </a:xfrm>
          <a:prstGeom prst="rect">
            <a:avLst/>
          </a:prstGeom>
          <a:noFill/>
          <a:ln/>
        </p:spPr>
        <p:txBody>
          <a:bodyPr wrap="square" lIns="0" tIns="0" rIns="0" bIns="0" rtlCol="0" anchor="ctr"/>
          <a:lstStyle/>
          <a:p>
            <a:pPr algn="ctr" indent="0" marL="0">
              <a:buNone/>
            </a:pPr>
            <a:r>
              <a:rPr lang="en-US" sz="1600" b="1" i="1" dirty="0">
                <a:solidFill>
                  <a:srgbClr val="0A2A2F"/>
                </a:solidFill>
                <a:latin typeface="Cambria" pitchFamily="34" charset="0"/>
                <a:ea typeface="Cambria" pitchFamily="34" charset="-122"/>
                <a:cs typeface="Cambria" pitchFamily="34" charset="-120"/>
              </a:rPr>
              <a:t>Same class of data is never written twice  →  no duplicates, no silent overwrites, nothing untraceable.</a:t>
            </a:r>
            <a:endParaRPr lang="en-US" sz="1600" dirty="0"/>
          </a:p>
        </p:txBody>
      </p:sp>
      <p:sp>
        <p:nvSpPr>
          <p:cNvPr id="14" name="Text 11"/>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5C7076"/>
                </a:solidFill>
                <a:latin typeface="Calibri" pitchFamily="34" charset="0"/>
                <a:ea typeface="Calibri" pitchFamily="34" charset="-122"/>
                <a:cs typeface="Calibri" pitchFamily="34" charset="-120"/>
              </a:rPr>
              <a:t>AgentForge · Week 2 Architecture Defense</a:t>
            </a:r>
            <a:endParaRPr lang="en-US" sz="900" dirty="0"/>
          </a:p>
        </p:txBody>
      </p:sp>
      <p:sp>
        <p:nvSpPr>
          <p:cNvPr id="15" name="Text 12"/>
          <p:cNvSpPr/>
          <p:nvPr/>
        </p:nvSpPr>
        <p:spPr>
          <a:xfrm>
            <a:off x="11247120" y="6473952"/>
            <a:ext cx="411480" cy="274320"/>
          </a:xfrm>
          <a:prstGeom prst="rect">
            <a:avLst/>
          </a:prstGeom>
          <a:noFill/>
          <a:ln/>
        </p:spPr>
        <p:txBody>
          <a:bodyPr wrap="square" lIns="0" tIns="0" rIns="0" bIns="0" rtlCol="0" anchor="ctr"/>
          <a:lstStyle/>
          <a:p>
            <a:pPr algn="r" indent="0" marL="0">
              <a:buNone/>
            </a:pPr>
            <a:r>
              <a:rPr lang="en-US" sz="900" dirty="0">
                <a:solidFill>
                  <a:srgbClr val="5C7076"/>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92608"/>
          </a:xfrm>
          <a:prstGeom prst="rect">
            <a:avLst/>
          </a:prstGeom>
          <a:noFill/>
          <a:ln/>
        </p:spPr>
        <p:txBody>
          <a:bodyPr wrap="square" lIns="0" tIns="0" rIns="0" bIns="0" rtlCol="0" anchor="ctr"/>
          <a:lstStyle/>
          <a:p>
            <a:pPr indent="0" marL="0">
              <a:buNone/>
            </a:pPr>
            <a:r>
              <a:rPr lang="en-US" sz="1250" b="1" spc="200" kern="0" dirty="0">
                <a:solidFill>
                  <a:srgbClr val="037A87"/>
                </a:solidFill>
                <a:latin typeface="Calibri" pitchFamily="34" charset="0"/>
                <a:ea typeface="Calibri" pitchFamily="34" charset="-122"/>
                <a:cs typeface="Calibri" pitchFamily="34" charset="-120"/>
              </a:rPr>
              <a:t>MULTI-AGENT ARCHITECTURE</a:t>
            </a:r>
            <a:endParaRPr lang="en-US" sz="1250" dirty="0"/>
          </a:p>
        </p:txBody>
      </p:sp>
      <p:sp>
        <p:nvSpPr>
          <p:cNvPr id="3" name="Text 1"/>
          <p:cNvSpPr/>
          <p:nvPr/>
        </p:nvSpPr>
        <p:spPr>
          <a:xfrm>
            <a:off x="548640" y="676656"/>
            <a:ext cx="11155680" cy="777240"/>
          </a:xfrm>
          <a:prstGeom prst="rect">
            <a:avLst/>
          </a:prstGeom>
          <a:noFill/>
          <a:ln/>
        </p:spPr>
        <p:txBody>
          <a:bodyPr wrap="square" lIns="0" tIns="0" rIns="0" bIns="0" rtlCol="0" anchor="ctr"/>
          <a:lstStyle/>
          <a:p>
            <a:pPr indent="0" marL="0">
              <a:buNone/>
            </a:pPr>
            <a:r>
              <a:rPr lang="en-US" sz="3100" b="1" dirty="0">
                <a:solidFill>
                  <a:srgbClr val="0A2A2F"/>
                </a:solidFill>
                <a:latin typeface="Cambria" pitchFamily="34" charset="0"/>
                <a:ea typeface="Cambria" pitchFamily="34" charset="-122"/>
                <a:cs typeface="Cambria" pitchFamily="34" charset="-120"/>
              </a:rPr>
              <a:t>A small, inspectable graph</a:t>
            </a:r>
            <a:endParaRPr lang="en-US" sz="3100" dirty="0"/>
          </a:p>
        </p:txBody>
      </p:sp>
      <p:sp>
        <p:nvSpPr>
          <p:cNvPr id="4" name="Shape 2"/>
          <p:cNvSpPr/>
          <p:nvPr/>
        </p:nvSpPr>
        <p:spPr>
          <a:xfrm>
            <a:off x="548640" y="2514600"/>
            <a:ext cx="2331720" cy="1371600"/>
          </a:xfrm>
          <a:prstGeom prst="roundRect">
            <a:avLst>
              <a:gd name="adj" fmla="val 6000"/>
            </a:avLst>
          </a:prstGeom>
          <a:solidFill>
            <a:srgbClr val="0A2A2F"/>
          </a:solidFill>
          <a:ln/>
          <a:effectLst>
            <a:outerShdw sx="100000" sy="100000" kx="0" ky="0" algn="bl" rotWithShape="0" blurRad="88900" dist="25400" dir="5400000">
              <a:srgbClr val="A9C0C1">
                <a:alpha val="40000"/>
              </a:srgbClr>
            </a:outerShdw>
          </a:effectLst>
        </p:spPr>
      </p:sp>
      <p:sp>
        <p:nvSpPr>
          <p:cNvPr id="5" name="Text 3"/>
          <p:cNvSpPr/>
          <p:nvPr/>
        </p:nvSpPr>
        <p:spPr>
          <a:xfrm>
            <a:off x="548640" y="2788920"/>
            <a:ext cx="2331720" cy="36576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Supervisor</a:t>
            </a:r>
            <a:endParaRPr lang="en-US" sz="1700" dirty="0"/>
          </a:p>
        </p:txBody>
      </p:sp>
      <p:sp>
        <p:nvSpPr>
          <p:cNvPr id="6" name="Text 4"/>
          <p:cNvSpPr/>
          <p:nvPr/>
        </p:nvSpPr>
        <p:spPr>
          <a:xfrm>
            <a:off x="640080" y="3200400"/>
            <a:ext cx="2148840" cy="548640"/>
          </a:xfrm>
          <a:prstGeom prst="rect">
            <a:avLst/>
          </a:prstGeom>
          <a:noFill/>
          <a:ln/>
        </p:spPr>
        <p:txBody>
          <a:bodyPr wrap="square" lIns="0" tIns="0" rIns="0" bIns="0" rtlCol="0" anchor="ctr"/>
          <a:lstStyle/>
          <a:p>
            <a:pPr algn="ctr" indent="0" marL="0">
              <a:buNone/>
            </a:pPr>
            <a:r>
              <a:rPr lang="en-US" sz="1050" dirty="0">
                <a:solidFill>
                  <a:srgbClr val="CFE8E6"/>
                </a:solidFill>
                <a:latin typeface="Calibri" pitchFamily="34" charset="0"/>
                <a:ea typeface="Calibri" pitchFamily="34" charset="-122"/>
                <a:cs typeface="Calibri" pitchFamily="34" charset="-120"/>
              </a:rPr>
              <a:t>routes · decides · never fabricates</a:t>
            </a:r>
            <a:endParaRPr lang="en-US" sz="1050" dirty="0"/>
          </a:p>
        </p:txBody>
      </p:sp>
      <p:sp>
        <p:nvSpPr>
          <p:cNvPr id="7" name="Shape 5"/>
          <p:cNvSpPr/>
          <p:nvPr/>
        </p:nvSpPr>
        <p:spPr>
          <a:xfrm>
            <a:off x="2999232" y="3200400"/>
            <a:ext cx="502920" cy="0"/>
          </a:xfrm>
          <a:prstGeom prst="line">
            <a:avLst/>
          </a:prstGeom>
          <a:noFill/>
          <a:ln w="31750">
            <a:solidFill>
              <a:srgbClr val="037A87"/>
            </a:solidFill>
            <a:prstDash val="solid"/>
            <a:tailEnd type="triangle"/>
          </a:ln>
        </p:spPr>
      </p:sp>
      <p:sp>
        <p:nvSpPr>
          <p:cNvPr id="8" name="Shape 6"/>
          <p:cNvSpPr/>
          <p:nvPr/>
        </p:nvSpPr>
        <p:spPr>
          <a:xfrm>
            <a:off x="3611880" y="1965960"/>
            <a:ext cx="3429000" cy="2468880"/>
          </a:xfrm>
          <a:prstGeom prst="roundRect">
            <a:avLst>
              <a:gd name="adj" fmla="val 3333"/>
            </a:avLst>
          </a:prstGeom>
          <a:solidFill>
            <a:srgbClr val="EFF6F6"/>
          </a:solidFill>
          <a:ln/>
          <a:effectLst>
            <a:outerShdw sx="100000" sy="100000" kx="0" ky="0" algn="bl" rotWithShape="0" blurRad="88900" dist="25400" dir="5400000">
              <a:srgbClr val="A9C0C1">
                <a:alpha val="40000"/>
              </a:srgbClr>
            </a:outerShdw>
          </a:effectLst>
        </p:spPr>
      </p:sp>
      <p:sp>
        <p:nvSpPr>
          <p:cNvPr id="9" name="Text 7"/>
          <p:cNvSpPr/>
          <p:nvPr/>
        </p:nvSpPr>
        <p:spPr>
          <a:xfrm>
            <a:off x="3794760" y="2084832"/>
            <a:ext cx="3108960" cy="320040"/>
          </a:xfrm>
          <a:prstGeom prst="rect">
            <a:avLst/>
          </a:prstGeom>
          <a:noFill/>
          <a:ln/>
        </p:spPr>
        <p:txBody>
          <a:bodyPr wrap="square" lIns="0" tIns="0" rIns="0" bIns="0" rtlCol="0" anchor="ctr"/>
          <a:lstStyle/>
          <a:p>
            <a:pPr indent="0" marL="0">
              <a:buNone/>
            </a:pPr>
            <a:r>
              <a:rPr lang="en-US" sz="1200" b="1" spc="100" kern="0" dirty="0">
                <a:solidFill>
                  <a:srgbClr val="5C7076"/>
                </a:solidFill>
                <a:latin typeface="Calibri" pitchFamily="34" charset="0"/>
                <a:ea typeface="Calibri" pitchFamily="34" charset="-122"/>
                <a:cs typeface="Calibri" pitchFamily="34" charset="-120"/>
              </a:rPr>
              <a:t>Workers</a:t>
            </a:r>
            <a:endParaRPr lang="en-US" sz="1200" dirty="0"/>
          </a:p>
        </p:txBody>
      </p:sp>
      <p:sp>
        <p:nvSpPr>
          <p:cNvPr id="10" name="Shape 8"/>
          <p:cNvSpPr/>
          <p:nvPr/>
        </p:nvSpPr>
        <p:spPr>
          <a:xfrm>
            <a:off x="3794760" y="2487168"/>
            <a:ext cx="3063240" cy="868680"/>
          </a:xfrm>
          <a:prstGeom prst="roundRect">
            <a:avLst>
              <a:gd name="adj" fmla="val 9474"/>
            </a:avLst>
          </a:prstGeom>
          <a:solidFill>
            <a:srgbClr val="FFFFFF"/>
          </a:solidFill>
          <a:ln/>
          <a:effectLst>
            <a:outerShdw sx="100000" sy="100000" kx="0" ky="0" algn="bl" rotWithShape="0" blurRad="88900" dist="25400" dir="5400000">
              <a:srgbClr val="A9C0C1">
                <a:alpha val="40000"/>
              </a:srgbClr>
            </a:outerShdw>
          </a:effectLst>
        </p:spPr>
      </p:sp>
      <p:sp>
        <p:nvSpPr>
          <p:cNvPr id="11" name="Text 9"/>
          <p:cNvSpPr/>
          <p:nvPr/>
        </p:nvSpPr>
        <p:spPr>
          <a:xfrm>
            <a:off x="3950208" y="2578608"/>
            <a:ext cx="2788920" cy="292608"/>
          </a:xfrm>
          <a:prstGeom prst="rect">
            <a:avLst/>
          </a:prstGeom>
          <a:noFill/>
          <a:ln/>
        </p:spPr>
        <p:txBody>
          <a:bodyPr wrap="square" lIns="0" tIns="0" rIns="0" bIns="0" rtlCol="0" anchor="ctr"/>
          <a:lstStyle/>
          <a:p>
            <a:pPr indent="0" marL="0">
              <a:buNone/>
            </a:pPr>
            <a:r>
              <a:rPr lang="en-US" sz="1350" b="1" dirty="0">
                <a:solidFill>
                  <a:srgbClr val="025965"/>
                </a:solidFill>
                <a:latin typeface="Calibri" pitchFamily="34" charset="0"/>
                <a:ea typeface="Calibri" pitchFamily="34" charset="-122"/>
                <a:cs typeface="Calibri" pitchFamily="34" charset="-120"/>
              </a:rPr>
              <a:t>intake-extractor</a:t>
            </a:r>
            <a:endParaRPr lang="en-US" sz="1350" dirty="0"/>
          </a:p>
        </p:txBody>
      </p:sp>
      <p:sp>
        <p:nvSpPr>
          <p:cNvPr id="12" name="Text 10"/>
          <p:cNvSpPr/>
          <p:nvPr/>
        </p:nvSpPr>
        <p:spPr>
          <a:xfrm>
            <a:off x="3950208" y="2889504"/>
            <a:ext cx="2788920" cy="365760"/>
          </a:xfrm>
          <a:prstGeom prst="rect">
            <a:avLst/>
          </a:prstGeom>
          <a:noFill/>
          <a:ln/>
        </p:spPr>
        <p:txBody>
          <a:bodyPr wrap="square" lIns="0" tIns="0" rIns="0" bIns="0" rtlCol="0" anchor="ctr"/>
          <a:lstStyle/>
          <a:p>
            <a:pPr indent="0" marL="0">
              <a:buNone/>
            </a:pPr>
            <a:r>
              <a:rPr lang="en-US" sz="1100" dirty="0">
                <a:solidFill>
                  <a:srgbClr val="12333A"/>
                </a:solidFill>
                <a:latin typeface="Calibri" pitchFamily="34" charset="0"/>
                <a:ea typeface="Calibri" pitchFamily="34" charset="-122"/>
                <a:cs typeface="Calibri" pitchFamily="34" charset="-120"/>
              </a:rPr>
              <a:t>VLM → strict schema → write-back</a:t>
            </a:r>
            <a:endParaRPr lang="en-US" sz="1100" dirty="0"/>
          </a:p>
        </p:txBody>
      </p:sp>
      <p:sp>
        <p:nvSpPr>
          <p:cNvPr id="13" name="Shape 11"/>
          <p:cNvSpPr/>
          <p:nvPr/>
        </p:nvSpPr>
        <p:spPr>
          <a:xfrm>
            <a:off x="3794760" y="3456432"/>
            <a:ext cx="3063240" cy="868680"/>
          </a:xfrm>
          <a:prstGeom prst="roundRect">
            <a:avLst>
              <a:gd name="adj" fmla="val 9474"/>
            </a:avLst>
          </a:prstGeom>
          <a:solidFill>
            <a:srgbClr val="FFFFFF"/>
          </a:solidFill>
          <a:ln/>
          <a:effectLst>
            <a:outerShdw sx="100000" sy="100000" kx="0" ky="0" algn="bl" rotWithShape="0" blurRad="88900" dist="25400" dir="5400000">
              <a:srgbClr val="A9C0C1">
                <a:alpha val="40000"/>
              </a:srgbClr>
            </a:outerShdw>
          </a:effectLst>
        </p:spPr>
      </p:sp>
      <p:sp>
        <p:nvSpPr>
          <p:cNvPr id="14" name="Text 12"/>
          <p:cNvSpPr/>
          <p:nvPr/>
        </p:nvSpPr>
        <p:spPr>
          <a:xfrm>
            <a:off x="3950208" y="3547872"/>
            <a:ext cx="2788920" cy="292608"/>
          </a:xfrm>
          <a:prstGeom prst="rect">
            <a:avLst/>
          </a:prstGeom>
          <a:noFill/>
          <a:ln/>
        </p:spPr>
        <p:txBody>
          <a:bodyPr wrap="square" lIns="0" tIns="0" rIns="0" bIns="0" rtlCol="0" anchor="ctr"/>
          <a:lstStyle/>
          <a:p>
            <a:pPr indent="0" marL="0">
              <a:buNone/>
            </a:pPr>
            <a:r>
              <a:rPr lang="en-US" sz="1350" b="1" dirty="0">
                <a:solidFill>
                  <a:srgbClr val="025965"/>
                </a:solidFill>
                <a:latin typeface="Calibri" pitchFamily="34" charset="0"/>
                <a:ea typeface="Calibri" pitchFamily="34" charset="-122"/>
                <a:cs typeface="Calibri" pitchFamily="34" charset="-120"/>
              </a:rPr>
              <a:t>evidence-retriever</a:t>
            </a:r>
            <a:endParaRPr lang="en-US" sz="1350" dirty="0"/>
          </a:p>
        </p:txBody>
      </p:sp>
      <p:sp>
        <p:nvSpPr>
          <p:cNvPr id="15" name="Text 13"/>
          <p:cNvSpPr/>
          <p:nvPr/>
        </p:nvSpPr>
        <p:spPr>
          <a:xfrm>
            <a:off x="3950208" y="3858768"/>
            <a:ext cx="2788920" cy="365760"/>
          </a:xfrm>
          <a:prstGeom prst="rect">
            <a:avLst/>
          </a:prstGeom>
          <a:noFill/>
          <a:ln/>
        </p:spPr>
        <p:txBody>
          <a:bodyPr wrap="square" lIns="0" tIns="0" rIns="0" bIns="0" rtlCol="0" anchor="ctr"/>
          <a:lstStyle/>
          <a:p>
            <a:pPr indent="0" marL="0">
              <a:buNone/>
            </a:pPr>
            <a:r>
              <a:rPr lang="en-US" sz="1100" dirty="0">
                <a:solidFill>
                  <a:srgbClr val="12333A"/>
                </a:solidFill>
                <a:latin typeface="Calibri" pitchFamily="34" charset="0"/>
                <a:ea typeface="Calibri" pitchFamily="34" charset="-122"/>
                <a:cs typeface="Calibri" pitchFamily="34" charset="-120"/>
              </a:rPr>
              <a:t>hybrid retrieve → rerank → top-k</a:t>
            </a:r>
            <a:endParaRPr lang="en-US" sz="1100" dirty="0"/>
          </a:p>
        </p:txBody>
      </p:sp>
      <p:sp>
        <p:nvSpPr>
          <p:cNvPr id="16" name="Shape 14"/>
          <p:cNvSpPr/>
          <p:nvPr/>
        </p:nvSpPr>
        <p:spPr>
          <a:xfrm>
            <a:off x="7150608" y="3200400"/>
            <a:ext cx="502920" cy="0"/>
          </a:xfrm>
          <a:prstGeom prst="line">
            <a:avLst/>
          </a:prstGeom>
          <a:noFill/>
          <a:ln w="31750">
            <a:solidFill>
              <a:srgbClr val="037A87"/>
            </a:solidFill>
            <a:prstDash val="solid"/>
            <a:tailEnd type="triangle"/>
          </a:ln>
        </p:spPr>
      </p:sp>
      <p:sp>
        <p:nvSpPr>
          <p:cNvPr id="17" name="Shape 15"/>
          <p:cNvSpPr/>
          <p:nvPr/>
        </p:nvSpPr>
        <p:spPr>
          <a:xfrm>
            <a:off x="7772400" y="2514600"/>
            <a:ext cx="2148840" cy="1371600"/>
          </a:xfrm>
          <a:prstGeom prst="roundRect">
            <a:avLst>
              <a:gd name="adj" fmla="val 6000"/>
            </a:avLst>
          </a:prstGeom>
          <a:solidFill>
            <a:srgbClr val="03C39A"/>
          </a:solidFill>
          <a:ln/>
          <a:effectLst>
            <a:outerShdw sx="100000" sy="100000" kx="0" ky="0" algn="bl" rotWithShape="0" blurRad="88900" dist="25400" dir="5400000">
              <a:srgbClr val="A9C0C1">
                <a:alpha val="40000"/>
              </a:srgbClr>
            </a:outerShdw>
          </a:effectLst>
        </p:spPr>
      </p:sp>
      <p:sp>
        <p:nvSpPr>
          <p:cNvPr id="18" name="Text 16"/>
          <p:cNvSpPr/>
          <p:nvPr/>
        </p:nvSpPr>
        <p:spPr>
          <a:xfrm>
            <a:off x="7772400" y="2761488"/>
            <a:ext cx="2148840" cy="365760"/>
          </a:xfrm>
          <a:prstGeom prst="rect">
            <a:avLst/>
          </a:prstGeom>
          <a:noFill/>
          <a:ln/>
        </p:spPr>
        <p:txBody>
          <a:bodyPr wrap="square" lIns="0" tIns="0" rIns="0" bIns="0" rtlCol="0" anchor="ctr"/>
          <a:lstStyle/>
          <a:p>
            <a:pPr algn="ctr" indent="0" marL="0">
              <a:buNone/>
            </a:pPr>
            <a:r>
              <a:rPr lang="en-US" sz="1700" b="1" dirty="0">
                <a:solidFill>
                  <a:srgbClr val="0A2A2F"/>
                </a:solidFill>
                <a:latin typeface="Cambria" pitchFamily="34" charset="0"/>
                <a:ea typeface="Cambria" pitchFamily="34" charset="-122"/>
                <a:cs typeface="Cambria" pitchFamily="34" charset="-120"/>
              </a:rPr>
              <a:t>Critic</a:t>
            </a:r>
            <a:endParaRPr lang="en-US" sz="1700" dirty="0"/>
          </a:p>
        </p:txBody>
      </p:sp>
      <p:sp>
        <p:nvSpPr>
          <p:cNvPr id="19" name="Text 17"/>
          <p:cNvSpPr/>
          <p:nvPr/>
        </p:nvSpPr>
        <p:spPr>
          <a:xfrm>
            <a:off x="7863840" y="3163824"/>
            <a:ext cx="1965960" cy="640080"/>
          </a:xfrm>
          <a:prstGeom prst="rect">
            <a:avLst/>
          </a:prstGeom>
          <a:noFill/>
          <a:ln/>
        </p:spPr>
        <p:txBody>
          <a:bodyPr wrap="square" lIns="0" tIns="0" rIns="0" bIns="0" rtlCol="0" anchor="ctr"/>
          <a:lstStyle/>
          <a:p>
            <a:pPr algn="ctr" indent="0" marL="0">
              <a:buNone/>
            </a:pPr>
            <a:r>
              <a:rPr lang="en-US" sz="1050" b="1" dirty="0">
                <a:solidFill>
                  <a:srgbClr val="025965"/>
                </a:solidFill>
                <a:latin typeface="Calibri" pitchFamily="34" charset="0"/>
                <a:ea typeface="Calibri" pitchFamily="34" charset="-122"/>
                <a:cs typeface="Calibri" pitchFamily="34" charset="-120"/>
              </a:rPr>
              <a:t>= Week 1 Verification,</a:t>
            </a:r>
            <a:endParaRPr lang="en-US" sz="1050" dirty="0"/>
          </a:p>
          <a:p>
            <a:pPr algn="ctr" indent="0" marL="0">
              <a:buNone/>
            </a:pPr>
            <a:r>
              <a:rPr lang="en-US" sz="1050" b="1" dirty="0">
                <a:solidFill>
                  <a:srgbClr val="025965"/>
                </a:solidFill>
                <a:latin typeface="Calibri" pitchFamily="34" charset="0"/>
                <a:ea typeface="Calibri" pitchFamily="34" charset="-122"/>
                <a:cs typeface="Calibri" pitchFamily="34" charset="-120"/>
              </a:rPr>
              <a:t>reused as a node</a:t>
            </a:r>
            <a:endParaRPr lang="en-US" sz="1050" dirty="0"/>
          </a:p>
        </p:txBody>
      </p:sp>
      <p:sp>
        <p:nvSpPr>
          <p:cNvPr id="20" name="Shape 18"/>
          <p:cNvSpPr/>
          <p:nvPr/>
        </p:nvSpPr>
        <p:spPr>
          <a:xfrm>
            <a:off x="10030968" y="3200400"/>
            <a:ext cx="457200" cy="0"/>
          </a:xfrm>
          <a:prstGeom prst="line">
            <a:avLst/>
          </a:prstGeom>
          <a:noFill/>
          <a:ln w="31750">
            <a:solidFill>
              <a:srgbClr val="037A87"/>
            </a:solidFill>
            <a:prstDash val="solid"/>
            <a:tailEnd type="triangle"/>
          </a:ln>
        </p:spPr>
      </p:sp>
      <p:sp>
        <p:nvSpPr>
          <p:cNvPr id="21" name="Shape 19"/>
          <p:cNvSpPr/>
          <p:nvPr/>
        </p:nvSpPr>
        <p:spPr>
          <a:xfrm>
            <a:off x="10561320" y="2606040"/>
            <a:ext cx="1417320" cy="1188720"/>
          </a:xfrm>
          <a:prstGeom prst="roundRect">
            <a:avLst>
              <a:gd name="adj" fmla="val 6923"/>
            </a:avLst>
          </a:prstGeom>
          <a:solidFill>
            <a:srgbClr val="0A2A2F"/>
          </a:solidFill>
          <a:ln/>
          <a:effectLst>
            <a:outerShdw sx="100000" sy="100000" kx="0" ky="0" algn="bl" rotWithShape="0" blurRad="88900" dist="25400" dir="5400000">
              <a:srgbClr val="A9C0C1">
                <a:alpha val="40000"/>
              </a:srgbClr>
            </a:outerShdw>
          </a:effectLst>
        </p:spPr>
      </p:sp>
      <p:sp>
        <p:nvSpPr>
          <p:cNvPr id="22" name="Text 20"/>
          <p:cNvSpPr/>
          <p:nvPr/>
        </p:nvSpPr>
        <p:spPr>
          <a:xfrm>
            <a:off x="10561320" y="2880360"/>
            <a:ext cx="1417320" cy="64008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Cited</a:t>
            </a:r>
            <a:endParaRPr lang="en-US" sz="1500" dirty="0"/>
          </a:p>
          <a:p>
            <a:pPr algn="ctr" indent="0" marL="0">
              <a:buNone/>
            </a:pPr>
            <a:r>
              <a:rPr lang="en-US" sz="1500" b="1" dirty="0">
                <a:solidFill>
                  <a:srgbClr val="FFFFFF"/>
                </a:solidFill>
                <a:latin typeface="Cambria" pitchFamily="34" charset="0"/>
                <a:ea typeface="Cambria" pitchFamily="34" charset="-122"/>
                <a:cs typeface="Cambria" pitchFamily="34" charset="-120"/>
              </a:rPr>
              <a:t>answer</a:t>
            </a:r>
            <a:endParaRPr lang="en-US" sz="1500" dirty="0"/>
          </a:p>
        </p:txBody>
      </p:sp>
      <p:sp>
        <p:nvSpPr>
          <p:cNvPr id="23" name="Text 21"/>
          <p:cNvSpPr/>
          <p:nvPr/>
        </p:nvSpPr>
        <p:spPr>
          <a:xfrm>
            <a:off x="548640" y="4892040"/>
            <a:ext cx="11064240" cy="109728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2333A"/>
                </a:solidFill>
                <a:latin typeface="Calibri" pitchFamily="34" charset="0"/>
                <a:ea typeface="Calibri" pitchFamily="34" charset="-122"/>
                <a:cs typeface="Calibri" pitchFamily="34" charset="-120"/>
              </a:rPr>
              <a:t>Every handoff is a logged event; each worker span is a child of the supervisor span — inspectable from the trace alone.</a:t>
            </a:r>
            <a:endParaRPr lang="en-US" sz="1350" dirty="0"/>
          </a:p>
          <a:p>
            <a:pPr marL="342900" indent="-342900">
              <a:buSzPct val="100000"/>
              <a:buChar char="•"/>
            </a:pPr>
            <a:r>
              <a:rPr lang="en-US" sz="1350" dirty="0">
                <a:solidFill>
                  <a:srgbClr val="12333A"/>
                </a:solidFill>
                <a:latin typeface="Calibri" pitchFamily="34" charset="0"/>
                <a:ea typeface="Calibri" pitchFamily="34" charset="-122"/>
                <a:cs typeface="Calibri" pitchFamily="34" charset="-120"/>
              </a:rPr>
              <a:t>The critic rejects uncited or unsafe claims — reroute for more evidence or drop the claim, never release it.</a:t>
            </a:r>
            <a:endParaRPr lang="en-US" sz="1350" dirty="0"/>
          </a:p>
        </p:txBody>
      </p:sp>
      <p:sp>
        <p:nvSpPr>
          <p:cNvPr id="25" name="Text 22"/>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5C7076"/>
                </a:solidFill>
                <a:latin typeface="Calibri" pitchFamily="34" charset="0"/>
                <a:ea typeface="Calibri" pitchFamily="34" charset="-122"/>
                <a:cs typeface="Calibri" pitchFamily="34" charset="-120"/>
              </a:rPr>
              <a:t>AgentForge · Week 2 Architecture Defense</a:t>
            </a:r>
            <a:endParaRPr lang="en-US" sz="900" dirty="0"/>
          </a:p>
        </p:txBody>
      </p:sp>
      <p:sp>
        <p:nvSpPr>
          <p:cNvPr id="26" name="Text 23"/>
          <p:cNvSpPr/>
          <p:nvPr/>
        </p:nvSpPr>
        <p:spPr>
          <a:xfrm>
            <a:off x="11247120" y="6473952"/>
            <a:ext cx="411480" cy="274320"/>
          </a:xfrm>
          <a:prstGeom prst="rect">
            <a:avLst/>
          </a:prstGeom>
          <a:noFill/>
          <a:ln/>
        </p:spPr>
        <p:txBody>
          <a:bodyPr wrap="square" lIns="0" tIns="0" rIns="0" bIns="0" rtlCol="0" anchor="ctr"/>
          <a:lstStyle/>
          <a:p>
            <a:pPr algn="r" indent="0" marL="0">
              <a:buNone/>
            </a:pPr>
            <a:r>
              <a:rPr lang="en-US" sz="900" dirty="0">
                <a:solidFill>
                  <a:srgbClr val="5C7076"/>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92608"/>
          </a:xfrm>
          <a:prstGeom prst="rect">
            <a:avLst/>
          </a:prstGeom>
          <a:noFill/>
          <a:ln/>
        </p:spPr>
        <p:txBody>
          <a:bodyPr wrap="square" lIns="0" tIns="0" rIns="0" bIns="0" rtlCol="0" anchor="ctr"/>
          <a:lstStyle/>
          <a:p>
            <a:pPr indent="0" marL="0">
              <a:buNone/>
            </a:pPr>
            <a:r>
              <a:rPr lang="en-US" sz="1250" b="1" spc="200" kern="0" dirty="0">
                <a:solidFill>
                  <a:srgbClr val="037A87"/>
                </a:solidFill>
                <a:latin typeface="Calibri" pitchFamily="34" charset="0"/>
                <a:ea typeface="Calibri" pitchFamily="34" charset="-122"/>
                <a:cs typeface="Calibri" pitchFamily="34" charset="-120"/>
              </a:rPr>
              <a:t>THE TRUST CORE</a:t>
            </a:r>
            <a:endParaRPr lang="en-US" sz="1250" dirty="0"/>
          </a:p>
        </p:txBody>
      </p:sp>
      <p:sp>
        <p:nvSpPr>
          <p:cNvPr id="3" name="Text 1"/>
          <p:cNvSpPr/>
          <p:nvPr/>
        </p:nvSpPr>
        <p:spPr>
          <a:xfrm>
            <a:off x="548640" y="676656"/>
            <a:ext cx="11155680" cy="777240"/>
          </a:xfrm>
          <a:prstGeom prst="rect">
            <a:avLst/>
          </a:prstGeom>
          <a:noFill/>
          <a:ln/>
        </p:spPr>
        <p:txBody>
          <a:bodyPr wrap="square" lIns="0" tIns="0" rIns="0" bIns="0" rtlCol="0" anchor="ctr"/>
          <a:lstStyle/>
          <a:p>
            <a:pPr indent="0" marL="0">
              <a:buNone/>
            </a:pPr>
            <a:r>
              <a:rPr lang="en-US" sz="3100" b="1" dirty="0">
                <a:solidFill>
                  <a:srgbClr val="0A2A2F"/>
                </a:solidFill>
                <a:latin typeface="Cambria" pitchFamily="34" charset="0"/>
                <a:ea typeface="Cambria" pitchFamily="34" charset="-122"/>
                <a:cs typeface="Cambria" pitchFamily="34" charset="-120"/>
              </a:rPr>
              <a:t>See without inventing. Ground every claim.</a:t>
            </a:r>
            <a:endParaRPr lang="en-US" sz="3100" dirty="0"/>
          </a:p>
        </p:txBody>
      </p:sp>
      <p:sp>
        <p:nvSpPr>
          <p:cNvPr id="4" name="Shape 2"/>
          <p:cNvSpPr/>
          <p:nvPr/>
        </p:nvSpPr>
        <p:spPr>
          <a:xfrm>
            <a:off x="548640" y="1828800"/>
            <a:ext cx="3566160" cy="3383280"/>
          </a:xfrm>
          <a:prstGeom prst="roundRect">
            <a:avLst>
              <a:gd name="adj" fmla="val 2432"/>
            </a:avLst>
          </a:prstGeom>
          <a:solidFill>
            <a:srgbClr val="EFF6F6"/>
          </a:solidFill>
          <a:ln/>
          <a:effectLst>
            <a:outerShdw sx="100000" sy="100000" kx="0" ky="0" algn="bl" rotWithShape="0" blurRad="88900" dist="25400" dir="5400000">
              <a:srgbClr val="A9C0C1">
                <a:alpha val="40000"/>
              </a:srgbClr>
            </a:outerShdw>
          </a:effectLst>
        </p:spPr>
      </p:sp>
      <p:sp>
        <p:nvSpPr>
          <p:cNvPr id="5" name="Shape 3"/>
          <p:cNvSpPr/>
          <p:nvPr/>
        </p:nvSpPr>
        <p:spPr>
          <a:xfrm>
            <a:off x="822960" y="2103120"/>
            <a:ext cx="566928" cy="566928"/>
          </a:xfrm>
          <a:prstGeom prst="ellipse">
            <a:avLst/>
          </a:prstGeom>
          <a:solidFill>
            <a:srgbClr val="03C39A"/>
          </a:solidFill>
          <a:ln/>
        </p:spPr>
      </p:sp>
      <p:sp>
        <p:nvSpPr>
          <p:cNvPr id="6" name="Text 4"/>
          <p:cNvSpPr/>
          <p:nvPr/>
        </p:nvSpPr>
        <p:spPr>
          <a:xfrm>
            <a:off x="822960" y="2103120"/>
            <a:ext cx="566928" cy="566928"/>
          </a:xfrm>
          <a:prstGeom prst="rect">
            <a:avLst/>
          </a:prstGeom>
          <a:noFill/>
          <a:ln/>
        </p:spPr>
        <p:txBody>
          <a:bodyPr wrap="square" lIns="0" tIns="0" rIns="0" bIns="0" rtlCol="0" anchor="ctr"/>
          <a:lstStyle/>
          <a:p>
            <a:pPr algn="ctr" indent="0" marL="0">
              <a:buNone/>
            </a:pPr>
            <a:r>
              <a:rPr lang="en-US" sz="2000" b="1" dirty="0">
                <a:solidFill>
                  <a:srgbClr val="0A2A2F"/>
                </a:solidFill>
                <a:latin typeface="Cambria" pitchFamily="34" charset="0"/>
                <a:ea typeface="Cambria" pitchFamily="34" charset="-122"/>
                <a:cs typeface="Cambria" pitchFamily="34" charset="-120"/>
              </a:rPr>
              <a:t>1</a:t>
            </a:r>
            <a:endParaRPr lang="en-US" sz="2000" dirty="0"/>
          </a:p>
        </p:txBody>
      </p:sp>
      <p:sp>
        <p:nvSpPr>
          <p:cNvPr id="7" name="Text 5"/>
          <p:cNvSpPr/>
          <p:nvPr/>
        </p:nvSpPr>
        <p:spPr>
          <a:xfrm>
            <a:off x="822960" y="2834640"/>
            <a:ext cx="3063240" cy="685800"/>
          </a:xfrm>
          <a:prstGeom prst="rect">
            <a:avLst/>
          </a:prstGeom>
          <a:noFill/>
          <a:ln/>
        </p:spPr>
        <p:txBody>
          <a:bodyPr wrap="square" lIns="0" tIns="0" rIns="0" bIns="0" rtlCol="0" anchor="ctr"/>
          <a:lstStyle/>
          <a:p>
            <a:pPr indent="0" marL="0">
              <a:buNone/>
            </a:pPr>
            <a:r>
              <a:rPr lang="en-US" sz="1700" b="1" dirty="0">
                <a:solidFill>
                  <a:srgbClr val="037A87"/>
                </a:solidFill>
                <a:latin typeface="Cambria" pitchFamily="34" charset="0"/>
                <a:ea typeface="Cambria" pitchFamily="34" charset="-122"/>
                <a:cs typeface="Cambria" pitchFamily="34" charset="-120"/>
              </a:rPr>
              <a:t>Schema is the gate</a:t>
            </a:r>
            <a:endParaRPr lang="en-US" sz="1700" dirty="0"/>
          </a:p>
        </p:txBody>
      </p:sp>
      <p:sp>
        <p:nvSpPr>
          <p:cNvPr id="8" name="Text 6"/>
          <p:cNvSpPr/>
          <p:nvPr/>
        </p:nvSpPr>
        <p:spPr>
          <a:xfrm>
            <a:off x="822960" y="3566160"/>
            <a:ext cx="3063240" cy="1508760"/>
          </a:xfrm>
          <a:prstGeom prst="rect">
            <a:avLst/>
          </a:prstGeom>
          <a:noFill/>
          <a:ln/>
        </p:spPr>
        <p:txBody>
          <a:bodyPr wrap="square" lIns="0" tIns="0" rIns="0" bIns="0" rtlCol="0" anchor="ctr"/>
          <a:lstStyle/>
          <a:p>
            <a:pPr indent="0" marL="0">
              <a:buNone/>
            </a:pPr>
            <a:r>
              <a:rPr lang="en-US" sz="1300" dirty="0">
                <a:solidFill>
                  <a:srgbClr val="12333A"/>
                </a:solidFill>
                <a:latin typeface="Calibri" pitchFamily="34" charset="0"/>
                <a:ea typeface="Calibri" pitchFamily="34" charset="-122"/>
                <a:cs typeface="Calibri" pitchFamily="34" charset="-120"/>
              </a:rPr>
              <a:t>Raw VLM output never bypasses the strict schema. Fails validation → rejected at the boundary, nothing persisted. This is “vision without invention.”</a:t>
            </a:r>
            <a:endParaRPr lang="en-US" sz="1300" dirty="0"/>
          </a:p>
        </p:txBody>
      </p:sp>
      <p:sp>
        <p:nvSpPr>
          <p:cNvPr id="9" name="Shape 7"/>
          <p:cNvSpPr/>
          <p:nvPr/>
        </p:nvSpPr>
        <p:spPr>
          <a:xfrm>
            <a:off x="4325112" y="1828800"/>
            <a:ext cx="3566160" cy="3383280"/>
          </a:xfrm>
          <a:prstGeom prst="roundRect">
            <a:avLst>
              <a:gd name="adj" fmla="val 2432"/>
            </a:avLst>
          </a:prstGeom>
          <a:solidFill>
            <a:srgbClr val="EFF6F6"/>
          </a:solidFill>
          <a:ln/>
          <a:effectLst>
            <a:outerShdw sx="100000" sy="100000" kx="0" ky="0" algn="bl" rotWithShape="0" blurRad="88900" dist="25400" dir="5400000">
              <a:srgbClr val="A9C0C1">
                <a:alpha val="40000"/>
              </a:srgbClr>
            </a:outerShdw>
          </a:effectLst>
        </p:spPr>
      </p:sp>
      <p:sp>
        <p:nvSpPr>
          <p:cNvPr id="10" name="Shape 8"/>
          <p:cNvSpPr/>
          <p:nvPr/>
        </p:nvSpPr>
        <p:spPr>
          <a:xfrm>
            <a:off x="4599432" y="2103120"/>
            <a:ext cx="566928" cy="566928"/>
          </a:xfrm>
          <a:prstGeom prst="ellipse">
            <a:avLst/>
          </a:prstGeom>
          <a:solidFill>
            <a:srgbClr val="00A896"/>
          </a:solidFill>
          <a:ln/>
        </p:spPr>
      </p:sp>
      <p:sp>
        <p:nvSpPr>
          <p:cNvPr id="11" name="Text 9"/>
          <p:cNvSpPr/>
          <p:nvPr/>
        </p:nvSpPr>
        <p:spPr>
          <a:xfrm>
            <a:off x="4599432" y="2103120"/>
            <a:ext cx="566928" cy="566928"/>
          </a:xfrm>
          <a:prstGeom prst="rect">
            <a:avLst/>
          </a:prstGeom>
          <a:noFill/>
          <a:ln/>
        </p:spPr>
        <p:txBody>
          <a:bodyPr wrap="square" lIns="0" tIns="0" rIns="0" bIns="0" rtlCol="0" anchor="ctr"/>
          <a:lstStyle/>
          <a:p>
            <a:pPr algn="ctr" indent="0" marL="0">
              <a:buNone/>
            </a:pPr>
            <a:r>
              <a:rPr lang="en-US" sz="2000" b="1" dirty="0">
                <a:solidFill>
                  <a:srgbClr val="0A2A2F"/>
                </a:solidFill>
                <a:latin typeface="Cambria" pitchFamily="34" charset="0"/>
                <a:ea typeface="Cambria" pitchFamily="34" charset="-122"/>
                <a:cs typeface="Cambria" pitchFamily="34" charset="-120"/>
              </a:rPr>
              <a:t>2</a:t>
            </a:r>
            <a:endParaRPr lang="en-US" sz="2000" dirty="0"/>
          </a:p>
        </p:txBody>
      </p:sp>
      <p:sp>
        <p:nvSpPr>
          <p:cNvPr id="12" name="Text 10"/>
          <p:cNvSpPr/>
          <p:nvPr/>
        </p:nvSpPr>
        <p:spPr>
          <a:xfrm>
            <a:off x="4599432" y="2834640"/>
            <a:ext cx="3063240" cy="685800"/>
          </a:xfrm>
          <a:prstGeom prst="rect">
            <a:avLst/>
          </a:prstGeom>
          <a:noFill/>
          <a:ln/>
        </p:spPr>
        <p:txBody>
          <a:bodyPr wrap="square" lIns="0" tIns="0" rIns="0" bIns="0" rtlCol="0" anchor="ctr"/>
          <a:lstStyle/>
          <a:p>
            <a:pPr indent="0" marL="0">
              <a:buNone/>
            </a:pPr>
            <a:r>
              <a:rPr lang="en-US" sz="1700" b="1" dirty="0">
                <a:solidFill>
                  <a:srgbClr val="037A87"/>
                </a:solidFill>
                <a:latin typeface="Cambria" pitchFamily="34" charset="0"/>
                <a:ea typeface="Cambria" pitchFamily="34" charset="-122"/>
                <a:cs typeface="Cambria" pitchFamily="34" charset="-120"/>
              </a:rPr>
              <a:t>Hybrid RAG + rerank</a:t>
            </a:r>
            <a:endParaRPr lang="en-US" sz="1700" dirty="0"/>
          </a:p>
        </p:txBody>
      </p:sp>
      <p:sp>
        <p:nvSpPr>
          <p:cNvPr id="13" name="Text 11"/>
          <p:cNvSpPr/>
          <p:nvPr/>
        </p:nvSpPr>
        <p:spPr>
          <a:xfrm>
            <a:off x="4599432" y="3566160"/>
            <a:ext cx="3063240" cy="1508760"/>
          </a:xfrm>
          <a:prstGeom prst="rect">
            <a:avLst/>
          </a:prstGeom>
          <a:noFill/>
          <a:ln/>
        </p:spPr>
        <p:txBody>
          <a:bodyPr wrap="square" lIns="0" tIns="0" rIns="0" bIns="0" rtlCol="0" anchor="ctr"/>
          <a:lstStyle/>
          <a:p>
            <a:pPr indent="0" marL="0">
              <a:buNone/>
            </a:pPr>
            <a:r>
              <a:rPr lang="en-US" sz="1300" dirty="0">
                <a:solidFill>
                  <a:srgbClr val="12333A"/>
                </a:solidFill>
                <a:latin typeface="Calibri" pitchFamily="34" charset="0"/>
                <a:ea typeface="Calibri" pitchFamily="34" charset="-122"/>
                <a:cs typeface="Calibri" pitchFamily="34" charset="-120"/>
              </a:rPr>
              <a:t>Postgres FTS (sparse) + pgvector (dense), merged by RRF, reranked (Cohere via Refit). Only the top grounded evidence reaches the model.</a:t>
            </a:r>
            <a:endParaRPr lang="en-US" sz="1300" dirty="0"/>
          </a:p>
        </p:txBody>
      </p:sp>
      <p:sp>
        <p:nvSpPr>
          <p:cNvPr id="14" name="Shape 12"/>
          <p:cNvSpPr/>
          <p:nvPr/>
        </p:nvSpPr>
        <p:spPr>
          <a:xfrm>
            <a:off x="8101584" y="1828800"/>
            <a:ext cx="3566160" cy="3383280"/>
          </a:xfrm>
          <a:prstGeom prst="roundRect">
            <a:avLst>
              <a:gd name="adj" fmla="val 2432"/>
            </a:avLst>
          </a:prstGeom>
          <a:solidFill>
            <a:srgbClr val="EFF6F6"/>
          </a:solidFill>
          <a:ln/>
          <a:effectLst>
            <a:outerShdw sx="100000" sy="100000" kx="0" ky="0" algn="bl" rotWithShape="0" blurRad="88900" dist="25400" dir="5400000">
              <a:srgbClr val="A9C0C1">
                <a:alpha val="40000"/>
              </a:srgbClr>
            </a:outerShdw>
          </a:effectLst>
        </p:spPr>
      </p:sp>
      <p:sp>
        <p:nvSpPr>
          <p:cNvPr id="15" name="Shape 13"/>
          <p:cNvSpPr/>
          <p:nvPr/>
        </p:nvSpPr>
        <p:spPr>
          <a:xfrm>
            <a:off x="8375904" y="2103120"/>
            <a:ext cx="566928" cy="566928"/>
          </a:xfrm>
          <a:prstGeom prst="ellipse">
            <a:avLst/>
          </a:prstGeom>
          <a:solidFill>
            <a:srgbClr val="03C39A"/>
          </a:solidFill>
          <a:ln/>
        </p:spPr>
      </p:sp>
      <p:sp>
        <p:nvSpPr>
          <p:cNvPr id="16" name="Text 14"/>
          <p:cNvSpPr/>
          <p:nvPr/>
        </p:nvSpPr>
        <p:spPr>
          <a:xfrm>
            <a:off x="8375904" y="2103120"/>
            <a:ext cx="566928" cy="566928"/>
          </a:xfrm>
          <a:prstGeom prst="rect">
            <a:avLst/>
          </a:prstGeom>
          <a:noFill/>
          <a:ln/>
        </p:spPr>
        <p:txBody>
          <a:bodyPr wrap="square" lIns="0" tIns="0" rIns="0" bIns="0" rtlCol="0" anchor="ctr"/>
          <a:lstStyle/>
          <a:p>
            <a:pPr algn="ctr" indent="0" marL="0">
              <a:buNone/>
            </a:pPr>
            <a:r>
              <a:rPr lang="en-US" sz="2000" b="1" dirty="0">
                <a:solidFill>
                  <a:srgbClr val="0A2A2F"/>
                </a:solidFill>
                <a:latin typeface="Cambria" pitchFamily="34" charset="0"/>
                <a:ea typeface="Cambria" pitchFamily="34" charset="-122"/>
                <a:cs typeface="Cambria" pitchFamily="34" charset="-120"/>
              </a:rPr>
              <a:t>3</a:t>
            </a:r>
            <a:endParaRPr lang="en-US" sz="2000" dirty="0"/>
          </a:p>
        </p:txBody>
      </p:sp>
      <p:sp>
        <p:nvSpPr>
          <p:cNvPr id="17" name="Text 15"/>
          <p:cNvSpPr/>
          <p:nvPr/>
        </p:nvSpPr>
        <p:spPr>
          <a:xfrm>
            <a:off x="8375904" y="2834640"/>
            <a:ext cx="3063240" cy="685800"/>
          </a:xfrm>
          <a:prstGeom prst="rect">
            <a:avLst/>
          </a:prstGeom>
          <a:noFill/>
          <a:ln/>
        </p:spPr>
        <p:txBody>
          <a:bodyPr wrap="square" lIns="0" tIns="0" rIns="0" bIns="0" rtlCol="0" anchor="ctr"/>
          <a:lstStyle/>
          <a:p>
            <a:pPr indent="0" marL="0">
              <a:buNone/>
            </a:pPr>
            <a:r>
              <a:rPr lang="en-US" sz="1700" b="1" dirty="0">
                <a:solidFill>
                  <a:srgbClr val="037A87"/>
                </a:solidFill>
                <a:latin typeface="Cambria" pitchFamily="34" charset="0"/>
                <a:ea typeface="Cambria" pitchFamily="34" charset="-122"/>
                <a:cs typeface="Cambria" pitchFamily="34" charset="-120"/>
              </a:rPr>
              <a:t>Citations + click-to-source</a:t>
            </a:r>
            <a:endParaRPr lang="en-US" sz="1700" dirty="0"/>
          </a:p>
        </p:txBody>
      </p:sp>
      <p:sp>
        <p:nvSpPr>
          <p:cNvPr id="18" name="Text 16"/>
          <p:cNvSpPr/>
          <p:nvPr/>
        </p:nvSpPr>
        <p:spPr>
          <a:xfrm>
            <a:off x="8375904" y="3566160"/>
            <a:ext cx="3063240" cy="1508760"/>
          </a:xfrm>
          <a:prstGeom prst="rect">
            <a:avLst/>
          </a:prstGeom>
          <a:noFill/>
          <a:ln/>
        </p:spPr>
        <p:txBody>
          <a:bodyPr wrap="square" lIns="0" tIns="0" rIns="0" bIns="0" rtlCol="0" anchor="ctr"/>
          <a:lstStyle/>
          <a:p>
            <a:pPr indent="0" marL="0">
              <a:buNone/>
            </a:pPr>
            <a:r>
              <a:rPr lang="en-US" sz="1300" dirty="0">
                <a:solidFill>
                  <a:srgbClr val="12333A"/>
                </a:solidFill>
                <a:latin typeface="Calibri" pitchFamily="34" charset="0"/>
                <a:ea typeface="Calibri" pitchFamily="34" charset="-122"/>
                <a:cs typeface="Calibri" pitchFamily="34" charset="-120"/>
              </a:rPr>
              <a:t>{source_type, source_id, page, field/chunk, quote} plus a bounding box. Click a fact → highlight the exact region on the page image.</a:t>
            </a:r>
            <a:endParaRPr lang="en-US" sz="1300" dirty="0"/>
          </a:p>
        </p:txBody>
      </p:sp>
      <p:sp>
        <p:nvSpPr>
          <p:cNvPr id="20" name="Text 17"/>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5C7076"/>
                </a:solidFill>
                <a:latin typeface="Calibri" pitchFamily="34" charset="0"/>
                <a:ea typeface="Calibri" pitchFamily="34" charset="-122"/>
                <a:cs typeface="Calibri" pitchFamily="34" charset="-120"/>
              </a:rPr>
              <a:t>AgentForge · Week 2 Architecture Defense</a:t>
            </a:r>
            <a:endParaRPr lang="en-US" sz="900" dirty="0"/>
          </a:p>
        </p:txBody>
      </p:sp>
      <p:sp>
        <p:nvSpPr>
          <p:cNvPr id="21" name="Text 18"/>
          <p:cNvSpPr/>
          <p:nvPr/>
        </p:nvSpPr>
        <p:spPr>
          <a:xfrm>
            <a:off x="11247120" y="6473952"/>
            <a:ext cx="411480" cy="274320"/>
          </a:xfrm>
          <a:prstGeom prst="rect">
            <a:avLst/>
          </a:prstGeom>
          <a:noFill/>
          <a:ln/>
        </p:spPr>
        <p:txBody>
          <a:bodyPr wrap="square" lIns="0" tIns="0" rIns="0" bIns="0" rtlCol="0" anchor="ctr"/>
          <a:lstStyle/>
          <a:p>
            <a:pPr algn="r" indent="0" marL="0">
              <a:buNone/>
            </a:pPr>
            <a:r>
              <a:rPr lang="en-US" sz="900" dirty="0">
                <a:solidFill>
                  <a:srgbClr val="5C7076"/>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92608"/>
          </a:xfrm>
          <a:prstGeom prst="rect">
            <a:avLst/>
          </a:prstGeom>
          <a:noFill/>
          <a:ln/>
        </p:spPr>
        <p:txBody>
          <a:bodyPr wrap="square" lIns="0" tIns="0" rIns="0" bIns="0" rtlCol="0" anchor="ctr"/>
          <a:lstStyle/>
          <a:p>
            <a:pPr indent="0" marL="0">
              <a:buNone/>
            </a:pPr>
            <a:r>
              <a:rPr lang="en-US" sz="1250" b="1" spc="200" kern="0" dirty="0">
                <a:solidFill>
                  <a:srgbClr val="037A87"/>
                </a:solidFill>
                <a:latin typeface="Calibri" pitchFamily="34" charset="0"/>
                <a:ea typeface="Calibri" pitchFamily="34" charset="-122"/>
                <a:cs typeface="Calibri" pitchFamily="34" charset="-120"/>
              </a:rPr>
              <a:t>CLOUD ARCHITECTURE</a:t>
            </a:r>
            <a:endParaRPr lang="en-US" sz="1250" dirty="0"/>
          </a:p>
        </p:txBody>
      </p:sp>
      <p:sp>
        <p:nvSpPr>
          <p:cNvPr id="3" name="Text 1"/>
          <p:cNvSpPr/>
          <p:nvPr/>
        </p:nvSpPr>
        <p:spPr>
          <a:xfrm>
            <a:off x="548640" y="676656"/>
            <a:ext cx="11155680" cy="777240"/>
          </a:xfrm>
          <a:prstGeom prst="rect">
            <a:avLst/>
          </a:prstGeom>
          <a:noFill/>
          <a:ln/>
        </p:spPr>
        <p:txBody>
          <a:bodyPr wrap="square" lIns="0" tIns="0" rIns="0" bIns="0" rtlCol="0" anchor="ctr"/>
          <a:lstStyle/>
          <a:p>
            <a:pPr indent="0" marL="0">
              <a:buNone/>
            </a:pPr>
            <a:r>
              <a:rPr lang="en-US" sz="3100" b="1" dirty="0">
                <a:solidFill>
                  <a:srgbClr val="0A2A2F"/>
                </a:solidFill>
                <a:latin typeface="Cambria" pitchFamily="34" charset="0"/>
                <a:ea typeface="Cambria" pitchFamily="34" charset="-122"/>
                <a:cs typeface="Cambria" pitchFamily="34" charset="-120"/>
              </a:rPr>
              <a:t>Redundant and performant by design</a:t>
            </a:r>
            <a:endParaRPr lang="en-US" sz="3100" dirty="0"/>
          </a:p>
        </p:txBody>
      </p:sp>
      <p:sp>
        <p:nvSpPr>
          <p:cNvPr id="4" name="Shape 2"/>
          <p:cNvSpPr/>
          <p:nvPr/>
        </p:nvSpPr>
        <p:spPr>
          <a:xfrm>
            <a:off x="548640" y="1783080"/>
            <a:ext cx="5029200" cy="868680"/>
          </a:xfrm>
          <a:prstGeom prst="roundRect">
            <a:avLst>
              <a:gd name="adj" fmla="val 9474"/>
            </a:avLst>
          </a:prstGeom>
          <a:solidFill>
            <a:srgbClr val="EFF6F6"/>
          </a:solidFill>
          <a:ln/>
          <a:effectLst>
            <a:outerShdw sx="100000" sy="100000" kx="0" ky="0" algn="bl" rotWithShape="0" blurRad="88900" dist="25400" dir="5400000">
              <a:srgbClr val="A9C0C1">
                <a:alpha val="40000"/>
              </a:srgbClr>
            </a:outerShdw>
          </a:effectLst>
        </p:spPr>
      </p:sp>
      <p:sp>
        <p:nvSpPr>
          <p:cNvPr id="5" name="Text 3"/>
          <p:cNvSpPr/>
          <p:nvPr/>
        </p:nvSpPr>
        <p:spPr>
          <a:xfrm>
            <a:off x="777240" y="1920240"/>
            <a:ext cx="4572000" cy="320040"/>
          </a:xfrm>
          <a:prstGeom prst="rect">
            <a:avLst/>
          </a:prstGeom>
          <a:noFill/>
          <a:ln/>
        </p:spPr>
        <p:txBody>
          <a:bodyPr wrap="square" lIns="0" tIns="0" rIns="0" bIns="0" rtlCol="0" anchor="ctr"/>
          <a:lstStyle/>
          <a:p>
            <a:pPr indent="0" marL="0">
              <a:buNone/>
            </a:pPr>
            <a:r>
              <a:rPr lang="en-US" sz="1400" b="1" dirty="0">
                <a:solidFill>
                  <a:srgbClr val="025965"/>
                </a:solidFill>
                <a:latin typeface="Calibri" pitchFamily="34" charset="0"/>
                <a:ea typeface="Calibri" pitchFamily="34" charset="-122"/>
                <a:cs typeface="Calibri" pitchFamily="34" charset="-120"/>
              </a:rPr>
              <a:t>Load balancer</a:t>
            </a:r>
            <a:endParaRPr lang="en-US" sz="1400" dirty="0"/>
          </a:p>
        </p:txBody>
      </p:sp>
      <p:sp>
        <p:nvSpPr>
          <p:cNvPr id="6" name="Text 4"/>
          <p:cNvSpPr/>
          <p:nvPr/>
        </p:nvSpPr>
        <p:spPr>
          <a:xfrm>
            <a:off x="777240" y="2240280"/>
            <a:ext cx="4572000" cy="292608"/>
          </a:xfrm>
          <a:prstGeom prst="rect">
            <a:avLst/>
          </a:prstGeom>
          <a:noFill/>
          <a:ln/>
        </p:spPr>
        <p:txBody>
          <a:bodyPr wrap="square" lIns="0" tIns="0" rIns="0" bIns="0" rtlCol="0" anchor="ctr"/>
          <a:lstStyle/>
          <a:p>
            <a:pPr indent="0" marL="0">
              <a:buNone/>
            </a:pPr>
            <a:r>
              <a:rPr lang="en-US" sz="1200" dirty="0">
                <a:solidFill>
                  <a:srgbClr val="12333A"/>
                </a:solidFill>
                <a:latin typeface="Calibri" pitchFamily="34" charset="0"/>
                <a:ea typeface="Calibri" pitchFamily="34" charset="-122"/>
                <a:cs typeface="Calibri" pitchFamily="34" charset="-120"/>
              </a:rPr>
              <a:t>health-gated on /ready</a:t>
            </a:r>
            <a:endParaRPr lang="en-US" sz="1200" dirty="0"/>
          </a:p>
        </p:txBody>
      </p:sp>
      <p:sp>
        <p:nvSpPr>
          <p:cNvPr id="7" name="Shape 5"/>
          <p:cNvSpPr/>
          <p:nvPr/>
        </p:nvSpPr>
        <p:spPr>
          <a:xfrm>
            <a:off x="3063240" y="2651760"/>
            <a:ext cx="0" cy="256032"/>
          </a:xfrm>
          <a:prstGeom prst="line">
            <a:avLst/>
          </a:prstGeom>
          <a:noFill/>
          <a:ln w="31750">
            <a:solidFill>
              <a:srgbClr val="037A87"/>
            </a:solidFill>
            <a:prstDash val="solid"/>
            <a:tailEnd type="triangle"/>
          </a:ln>
        </p:spPr>
      </p:sp>
      <p:sp>
        <p:nvSpPr>
          <p:cNvPr id="8" name="Shape 6"/>
          <p:cNvSpPr/>
          <p:nvPr/>
        </p:nvSpPr>
        <p:spPr>
          <a:xfrm>
            <a:off x="548640" y="2907792"/>
            <a:ext cx="5029200" cy="868680"/>
          </a:xfrm>
          <a:prstGeom prst="roundRect">
            <a:avLst>
              <a:gd name="adj" fmla="val 9474"/>
            </a:avLst>
          </a:prstGeom>
          <a:solidFill>
            <a:srgbClr val="EFF6F6"/>
          </a:solidFill>
          <a:ln/>
          <a:effectLst>
            <a:outerShdw sx="100000" sy="100000" kx="0" ky="0" algn="bl" rotWithShape="0" blurRad="88900" dist="25400" dir="5400000">
              <a:srgbClr val="A9C0C1">
                <a:alpha val="40000"/>
              </a:srgbClr>
            </a:outerShdw>
          </a:effectLst>
        </p:spPr>
      </p:sp>
      <p:sp>
        <p:nvSpPr>
          <p:cNvPr id="9" name="Text 7"/>
          <p:cNvSpPr/>
          <p:nvPr/>
        </p:nvSpPr>
        <p:spPr>
          <a:xfrm>
            <a:off x="777240" y="3044952"/>
            <a:ext cx="4572000" cy="320040"/>
          </a:xfrm>
          <a:prstGeom prst="rect">
            <a:avLst/>
          </a:prstGeom>
          <a:noFill/>
          <a:ln/>
        </p:spPr>
        <p:txBody>
          <a:bodyPr wrap="square" lIns="0" tIns="0" rIns="0" bIns="0" rtlCol="0" anchor="ctr"/>
          <a:lstStyle/>
          <a:p>
            <a:pPr indent="0" marL="0">
              <a:buNone/>
            </a:pPr>
            <a:r>
              <a:rPr lang="en-US" sz="1400" b="1" dirty="0">
                <a:solidFill>
                  <a:srgbClr val="025965"/>
                </a:solidFill>
                <a:latin typeface="Calibri" pitchFamily="34" charset="0"/>
                <a:ea typeface="Calibri" pitchFamily="34" charset="-122"/>
                <a:cs typeface="Calibri" pitchFamily="34" charset="-120"/>
              </a:rPr>
              <a:t>N stateless replicas</a:t>
            </a:r>
            <a:endParaRPr lang="en-US" sz="1400" dirty="0"/>
          </a:p>
        </p:txBody>
      </p:sp>
      <p:sp>
        <p:nvSpPr>
          <p:cNvPr id="10" name="Text 8"/>
          <p:cNvSpPr/>
          <p:nvPr/>
        </p:nvSpPr>
        <p:spPr>
          <a:xfrm>
            <a:off x="777240" y="3364992"/>
            <a:ext cx="4572000" cy="292608"/>
          </a:xfrm>
          <a:prstGeom prst="rect">
            <a:avLst/>
          </a:prstGeom>
          <a:noFill/>
          <a:ln/>
        </p:spPr>
        <p:txBody>
          <a:bodyPr wrap="square" lIns="0" tIns="0" rIns="0" bIns="0" rtlCol="0" anchor="ctr"/>
          <a:lstStyle/>
          <a:p>
            <a:pPr indent="0" marL="0">
              <a:buNone/>
            </a:pPr>
            <a:r>
              <a:rPr lang="en-US" sz="1200" dirty="0">
                <a:solidFill>
                  <a:srgbClr val="12333A"/>
                </a:solidFill>
                <a:latin typeface="Calibri" pitchFamily="34" charset="0"/>
                <a:ea typeface="Calibri" pitchFamily="34" charset="-122"/>
                <a:cs typeface="Calibri" pitchFamily="34" charset="-120"/>
              </a:rPr>
              <a:t>auto-scaled across availability zones</a:t>
            </a:r>
            <a:endParaRPr lang="en-US" sz="1200" dirty="0"/>
          </a:p>
        </p:txBody>
      </p:sp>
      <p:sp>
        <p:nvSpPr>
          <p:cNvPr id="11" name="Shape 9"/>
          <p:cNvSpPr/>
          <p:nvPr/>
        </p:nvSpPr>
        <p:spPr>
          <a:xfrm>
            <a:off x="3063240" y="3776472"/>
            <a:ext cx="0" cy="256032"/>
          </a:xfrm>
          <a:prstGeom prst="line">
            <a:avLst/>
          </a:prstGeom>
          <a:noFill/>
          <a:ln w="31750">
            <a:solidFill>
              <a:srgbClr val="037A87"/>
            </a:solidFill>
            <a:prstDash val="solid"/>
            <a:tailEnd type="triangle"/>
          </a:ln>
        </p:spPr>
      </p:sp>
      <p:sp>
        <p:nvSpPr>
          <p:cNvPr id="12" name="Shape 10"/>
          <p:cNvSpPr/>
          <p:nvPr/>
        </p:nvSpPr>
        <p:spPr>
          <a:xfrm>
            <a:off x="548640" y="4032504"/>
            <a:ext cx="5029200" cy="868680"/>
          </a:xfrm>
          <a:prstGeom prst="roundRect">
            <a:avLst>
              <a:gd name="adj" fmla="val 9474"/>
            </a:avLst>
          </a:prstGeom>
          <a:solidFill>
            <a:srgbClr val="E3F1EF"/>
          </a:solidFill>
          <a:ln/>
          <a:effectLst>
            <a:outerShdw sx="100000" sy="100000" kx="0" ky="0" algn="bl" rotWithShape="0" blurRad="88900" dist="25400" dir="5400000">
              <a:srgbClr val="A9C0C1">
                <a:alpha val="40000"/>
              </a:srgbClr>
            </a:outerShdw>
          </a:effectLst>
        </p:spPr>
      </p:sp>
      <p:sp>
        <p:nvSpPr>
          <p:cNvPr id="13" name="Text 11"/>
          <p:cNvSpPr/>
          <p:nvPr/>
        </p:nvSpPr>
        <p:spPr>
          <a:xfrm>
            <a:off x="777240" y="4169664"/>
            <a:ext cx="4572000" cy="320040"/>
          </a:xfrm>
          <a:prstGeom prst="rect">
            <a:avLst/>
          </a:prstGeom>
          <a:noFill/>
          <a:ln/>
        </p:spPr>
        <p:txBody>
          <a:bodyPr wrap="square" lIns="0" tIns="0" rIns="0" bIns="0" rtlCol="0" anchor="ctr"/>
          <a:lstStyle/>
          <a:p>
            <a:pPr indent="0" marL="0">
              <a:buNone/>
            </a:pPr>
            <a:r>
              <a:rPr lang="en-US" sz="1400" b="1" dirty="0">
                <a:solidFill>
                  <a:srgbClr val="025965"/>
                </a:solidFill>
                <a:latin typeface="Calibri" pitchFamily="34" charset="0"/>
                <a:ea typeface="Calibri" pitchFamily="34" charset="-122"/>
                <a:cs typeface="Calibri" pitchFamily="34" charset="-120"/>
              </a:rPr>
              <a:t>Managed Multi-AZ data tier</a:t>
            </a:r>
            <a:endParaRPr lang="en-US" sz="1400" dirty="0"/>
          </a:p>
        </p:txBody>
      </p:sp>
      <p:sp>
        <p:nvSpPr>
          <p:cNvPr id="14" name="Text 12"/>
          <p:cNvSpPr/>
          <p:nvPr/>
        </p:nvSpPr>
        <p:spPr>
          <a:xfrm>
            <a:off x="777240" y="4489704"/>
            <a:ext cx="4572000" cy="292608"/>
          </a:xfrm>
          <a:prstGeom prst="rect">
            <a:avLst/>
          </a:prstGeom>
          <a:noFill/>
          <a:ln/>
        </p:spPr>
        <p:txBody>
          <a:bodyPr wrap="square" lIns="0" tIns="0" rIns="0" bIns="0" rtlCol="0" anchor="ctr"/>
          <a:lstStyle/>
          <a:p>
            <a:pPr indent="0" marL="0">
              <a:buNone/>
            </a:pPr>
            <a:r>
              <a:rPr lang="en-US" sz="1200" dirty="0">
                <a:solidFill>
                  <a:srgbClr val="12333A"/>
                </a:solidFill>
                <a:latin typeface="Calibri" pitchFamily="34" charset="0"/>
                <a:ea typeface="Calibri" pitchFamily="34" charset="-122"/>
                <a:cs typeface="Calibri" pitchFamily="34" charset="-120"/>
              </a:rPr>
              <a:t>Postgres + pgvector · replicated cache</a:t>
            </a:r>
            <a:endParaRPr lang="en-US" sz="1200" dirty="0"/>
          </a:p>
        </p:txBody>
      </p:sp>
      <p:sp>
        <p:nvSpPr>
          <p:cNvPr id="15" name="Shape 13"/>
          <p:cNvSpPr/>
          <p:nvPr/>
        </p:nvSpPr>
        <p:spPr>
          <a:xfrm>
            <a:off x="548640" y="5175504"/>
            <a:ext cx="5029200" cy="777240"/>
          </a:xfrm>
          <a:prstGeom prst="roundRect">
            <a:avLst>
              <a:gd name="adj" fmla="val 10588"/>
            </a:avLst>
          </a:prstGeom>
          <a:solidFill>
            <a:srgbClr val="0A2A2F"/>
          </a:solidFill>
          <a:ln/>
          <a:effectLst>
            <a:outerShdw sx="100000" sy="100000" kx="0" ky="0" algn="bl" rotWithShape="0" blurRad="88900" dist="25400" dir="5400000">
              <a:srgbClr val="A9C0C1">
                <a:alpha val="40000"/>
              </a:srgbClr>
            </a:outerShdw>
          </a:effectLst>
        </p:spPr>
      </p:sp>
      <p:sp>
        <p:nvSpPr>
          <p:cNvPr id="16" name="Text 14"/>
          <p:cNvSpPr/>
          <p:nvPr/>
        </p:nvSpPr>
        <p:spPr>
          <a:xfrm>
            <a:off x="777240" y="5285232"/>
            <a:ext cx="4572000" cy="292608"/>
          </a:xfrm>
          <a:prstGeom prst="rect">
            <a:avLst/>
          </a:prstGeom>
          <a:noFill/>
          <a:ln/>
        </p:spPr>
        <p:txBody>
          <a:bodyPr wrap="square" lIns="0" tIns="0" rIns="0" bIns="0" rtlCol="0" anchor="ctr"/>
          <a:lstStyle/>
          <a:p>
            <a:pPr indent="0" marL="0">
              <a:buNone/>
            </a:pPr>
            <a:r>
              <a:rPr lang="en-US" sz="1350" b="1" dirty="0">
                <a:solidFill>
                  <a:srgbClr val="03C39A"/>
                </a:solidFill>
                <a:latin typeface="Calibri" pitchFamily="34" charset="0"/>
                <a:ea typeface="Calibri" pitchFamily="34" charset="-122"/>
                <a:cs typeface="Calibri" pitchFamily="34" charset="-120"/>
              </a:rPr>
              <a:t>Async ingestion</a:t>
            </a:r>
            <a:endParaRPr lang="en-US" sz="1350" dirty="0"/>
          </a:p>
        </p:txBody>
      </p:sp>
      <p:sp>
        <p:nvSpPr>
          <p:cNvPr id="17" name="Text 15"/>
          <p:cNvSpPr/>
          <p:nvPr/>
        </p:nvSpPr>
        <p:spPr>
          <a:xfrm>
            <a:off x="777240" y="5577840"/>
            <a:ext cx="4572000" cy="274320"/>
          </a:xfrm>
          <a:prstGeom prst="rect">
            <a:avLst/>
          </a:prstGeom>
          <a:noFill/>
          <a:ln/>
        </p:spPr>
        <p:txBody>
          <a:bodyPr wrap="square" lIns="0" tIns="0" rIns="0" bIns="0" rtlCol="0" anchor="ctr"/>
          <a:lstStyle/>
          <a:p>
            <a:pPr indent="0" marL="0">
              <a:buNone/>
            </a:pPr>
            <a:r>
              <a:rPr lang="en-US" sz="1200" dirty="0">
                <a:solidFill>
                  <a:srgbClr val="CFE8E6"/>
                </a:solidFill>
                <a:latin typeface="Calibri" pitchFamily="34" charset="0"/>
                <a:ea typeface="Calibri" pitchFamily="34" charset="-122"/>
                <a:cs typeface="Calibri" pitchFamily="34" charset="-120"/>
              </a:rPr>
              <a:t>queue → autoscaled extraction workers</a:t>
            </a:r>
            <a:endParaRPr lang="en-US" sz="1200" dirty="0"/>
          </a:p>
        </p:txBody>
      </p:sp>
      <p:sp>
        <p:nvSpPr>
          <p:cNvPr id="18" name="Shape 16"/>
          <p:cNvSpPr/>
          <p:nvPr/>
        </p:nvSpPr>
        <p:spPr>
          <a:xfrm>
            <a:off x="5852160" y="1783080"/>
            <a:ext cx="2788920" cy="1417320"/>
          </a:xfrm>
          <a:prstGeom prst="roundRect">
            <a:avLst>
              <a:gd name="adj" fmla="val 5806"/>
            </a:avLst>
          </a:prstGeom>
          <a:solidFill>
            <a:srgbClr val="EFF6F6"/>
          </a:solidFill>
          <a:ln/>
          <a:effectLst>
            <a:outerShdw sx="100000" sy="100000" kx="0" ky="0" algn="bl" rotWithShape="0" blurRad="88900" dist="25400" dir="5400000">
              <a:srgbClr val="A9C0C1">
                <a:alpha val="40000"/>
              </a:srgbClr>
            </a:outerShdw>
          </a:effectLst>
        </p:spPr>
      </p:sp>
      <p:sp>
        <p:nvSpPr>
          <p:cNvPr id="19" name="Text 17"/>
          <p:cNvSpPr/>
          <p:nvPr/>
        </p:nvSpPr>
        <p:spPr>
          <a:xfrm>
            <a:off x="6035040" y="1947672"/>
            <a:ext cx="2468880" cy="548640"/>
          </a:xfrm>
          <a:prstGeom prst="rect">
            <a:avLst/>
          </a:prstGeom>
          <a:noFill/>
          <a:ln/>
        </p:spPr>
        <p:txBody>
          <a:bodyPr wrap="square" lIns="0" tIns="0" rIns="0" bIns="0" rtlCol="0" anchor="ctr"/>
          <a:lstStyle/>
          <a:p>
            <a:pPr indent="0" marL="0">
              <a:buNone/>
            </a:pPr>
            <a:r>
              <a:rPr lang="en-US" sz="1450" b="1" dirty="0">
                <a:solidFill>
                  <a:srgbClr val="037A87"/>
                </a:solidFill>
                <a:latin typeface="Cambria" pitchFamily="34" charset="0"/>
                <a:ea typeface="Cambria" pitchFamily="34" charset="-122"/>
                <a:cs typeface="Cambria" pitchFamily="34" charset="-120"/>
              </a:rPr>
              <a:t>No single point of failure</a:t>
            </a:r>
            <a:endParaRPr lang="en-US" sz="1450" dirty="0"/>
          </a:p>
        </p:txBody>
      </p:sp>
      <p:sp>
        <p:nvSpPr>
          <p:cNvPr id="20" name="Text 18"/>
          <p:cNvSpPr/>
          <p:nvPr/>
        </p:nvSpPr>
        <p:spPr>
          <a:xfrm>
            <a:off x="6035040" y="2441448"/>
            <a:ext cx="2468880" cy="658368"/>
          </a:xfrm>
          <a:prstGeom prst="rect">
            <a:avLst/>
          </a:prstGeom>
          <a:noFill/>
          <a:ln/>
        </p:spPr>
        <p:txBody>
          <a:bodyPr wrap="square" lIns="0" tIns="0" rIns="0" bIns="0" rtlCol="0" anchor="ctr"/>
          <a:lstStyle/>
          <a:p>
            <a:pPr indent="0" marL="0">
              <a:buNone/>
            </a:pPr>
            <a:r>
              <a:rPr lang="en-US" sz="1150" dirty="0">
                <a:solidFill>
                  <a:srgbClr val="12333A"/>
                </a:solidFill>
                <a:latin typeface="Calibri" pitchFamily="34" charset="0"/>
                <a:ea typeface="Calibri" pitchFamily="34" charset="-122"/>
                <a:cs typeface="Calibri" pitchFamily="34" charset="-120"/>
              </a:rPr>
              <a:t>≥2 replicas, ≥2 AZs, standby failover, rolling deploys.</a:t>
            </a:r>
            <a:endParaRPr lang="en-US" sz="1150" dirty="0"/>
          </a:p>
        </p:txBody>
      </p:sp>
      <p:sp>
        <p:nvSpPr>
          <p:cNvPr id="21" name="Shape 19"/>
          <p:cNvSpPr/>
          <p:nvPr/>
        </p:nvSpPr>
        <p:spPr>
          <a:xfrm>
            <a:off x="8778240" y="1783080"/>
            <a:ext cx="2788920" cy="1417320"/>
          </a:xfrm>
          <a:prstGeom prst="roundRect">
            <a:avLst>
              <a:gd name="adj" fmla="val 5806"/>
            </a:avLst>
          </a:prstGeom>
          <a:solidFill>
            <a:srgbClr val="EFF6F6"/>
          </a:solidFill>
          <a:ln/>
          <a:effectLst>
            <a:outerShdw sx="100000" sy="100000" kx="0" ky="0" algn="bl" rotWithShape="0" blurRad="88900" dist="25400" dir="5400000">
              <a:srgbClr val="A9C0C1">
                <a:alpha val="40000"/>
              </a:srgbClr>
            </a:outerShdw>
          </a:effectLst>
        </p:spPr>
      </p:sp>
      <p:sp>
        <p:nvSpPr>
          <p:cNvPr id="22" name="Text 20"/>
          <p:cNvSpPr/>
          <p:nvPr/>
        </p:nvSpPr>
        <p:spPr>
          <a:xfrm>
            <a:off x="8961120" y="1947672"/>
            <a:ext cx="2468880" cy="548640"/>
          </a:xfrm>
          <a:prstGeom prst="rect">
            <a:avLst/>
          </a:prstGeom>
          <a:noFill/>
          <a:ln/>
        </p:spPr>
        <p:txBody>
          <a:bodyPr wrap="square" lIns="0" tIns="0" rIns="0" bIns="0" rtlCol="0" anchor="ctr"/>
          <a:lstStyle/>
          <a:p>
            <a:pPr indent="0" marL="0">
              <a:buNone/>
            </a:pPr>
            <a:r>
              <a:rPr lang="en-US" sz="1450" b="1" dirty="0">
                <a:solidFill>
                  <a:srgbClr val="037A87"/>
                </a:solidFill>
                <a:latin typeface="Cambria" pitchFamily="34" charset="0"/>
                <a:ea typeface="Cambria" pitchFamily="34" charset="-122"/>
                <a:cs typeface="Cambria" pitchFamily="34" charset="-120"/>
              </a:rPr>
              <a:t>Stateless services</a:t>
            </a:r>
            <a:endParaRPr lang="en-US" sz="1450" dirty="0"/>
          </a:p>
        </p:txBody>
      </p:sp>
      <p:sp>
        <p:nvSpPr>
          <p:cNvPr id="23" name="Text 21"/>
          <p:cNvSpPr/>
          <p:nvPr/>
        </p:nvSpPr>
        <p:spPr>
          <a:xfrm>
            <a:off x="8961120" y="2441448"/>
            <a:ext cx="2468880" cy="658368"/>
          </a:xfrm>
          <a:prstGeom prst="rect">
            <a:avLst/>
          </a:prstGeom>
          <a:noFill/>
          <a:ln/>
        </p:spPr>
        <p:txBody>
          <a:bodyPr wrap="square" lIns="0" tIns="0" rIns="0" bIns="0" rtlCol="0" anchor="ctr"/>
          <a:lstStyle/>
          <a:p>
            <a:pPr indent="0" marL="0">
              <a:buNone/>
            </a:pPr>
            <a:r>
              <a:rPr lang="en-US" sz="1150" dirty="0">
                <a:solidFill>
                  <a:srgbClr val="12333A"/>
                </a:solidFill>
                <a:latin typeface="Calibri" pitchFamily="34" charset="0"/>
                <a:ea typeface="Calibri" pitchFamily="34" charset="-122"/>
                <a:cs typeface="Calibri" pitchFamily="34" charset="-120"/>
              </a:rPr>
              <a:t>Session/token + DataProtection externalized to a replicated cache.</a:t>
            </a:r>
            <a:endParaRPr lang="en-US" sz="1150" dirty="0"/>
          </a:p>
        </p:txBody>
      </p:sp>
      <p:sp>
        <p:nvSpPr>
          <p:cNvPr id="24" name="Shape 22"/>
          <p:cNvSpPr/>
          <p:nvPr/>
        </p:nvSpPr>
        <p:spPr>
          <a:xfrm>
            <a:off x="5852160" y="3355848"/>
            <a:ext cx="2788920" cy="1417320"/>
          </a:xfrm>
          <a:prstGeom prst="roundRect">
            <a:avLst>
              <a:gd name="adj" fmla="val 5806"/>
            </a:avLst>
          </a:prstGeom>
          <a:solidFill>
            <a:srgbClr val="EFF6F6"/>
          </a:solidFill>
          <a:ln/>
          <a:effectLst>
            <a:outerShdw sx="100000" sy="100000" kx="0" ky="0" algn="bl" rotWithShape="0" blurRad="88900" dist="25400" dir="5400000">
              <a:srgbClr val="A9C0C1">
                <a:alpha val="40000"/>
              </a:srgbClr>
            </a:outerShdw>
          </a:effectLst>
        </p:spPr>
      </p:sp>
      <p:sp>
        <p:nvSpPr>
          <p:cNvPr id="25" name="Text 23"/>
          <p:cNvSpPr/>
          <p:nvPr/>
        </p:nvSpPr>
        <p:spPr>
          <a:xfrm>
            <a:off x="6035040" y="3520440"/>
            <a:ext cx="2468880" cy="548640"/>
          </a:xfrm>
          <a:prstGeom prst="rect">
            <a:avLst/>
          </a:prstGeom>
          <a:noFill/>
          <a:ln/>
        </p:spPr>
        <p:txBody>
          <a:bodyPr wrap="square" lIns="0" tIns="0" rIns="0" bIns="0" rtlCol="0" anchor="ctr"/>
          <a:lstStyle/>
          <a:p>
            <a:pPr indent="0" marL="0">
              <a:buNone/>
            </a:pPr>
            <a:r>
              <a:rPr lang="en-US" sz="1450" b="1" dirty="0">
                <a:solidFill>
                  <a:srgbClr val="037A87"/>
                </a:solidFill>
                <a:latin typeface="Cambria" pitchFamily="34" charset="0"/>
                <a:ea typeface="Cambria" pitchFamily="34" charset="-122"/>
                <a:cs typeface="Cambria" pitchFamily="34" charset="-120"/>
              </a:rPr>
              <a:t>Async, resilient ingestion</a:t>
            </a:r>
            <a:endParaRPr lang="en-US" sz="1450" dirty="0"/>
          </a:p>
        </p:txBody>
      </p:sp>
      <p:sp>
        <p:nvSpPr>
          <p:cNvPr id="26" name="Text 24"/>
          <p:cNvSpPr/>
          <p:nvPr/>
        </p:nvSpPr>
        <p:spPr>
          <a:xfrm>
            <a:off x="6035040" y="4014216"/>
            <a:ext cx="2468880" cy="658368"/>
          </a:xfrm>
          <a:prstGeom prst="rect">
            <a:avLst/>
          </a:prstGeom>
          <a:noFill/>
          <a:ln/>
        </p:spPr>
        <p:txBody>
          <a:bodyPr wrap="square" lIns="0" tIns="0" rIns="0" bIns="0" rtlCol="0" anchor="ctr"/>
          <a:lstStyle/>
          <a:p>
            <a:pPr indent="0" marL="0">
              <a:buNone/>
            </a:pPr>
            <a:r>
              <a:rPr lang="en-US" sz="1150" dirty="0">
                <a:solidFill>
                  <a:srgbClr val="12333A"/>
                </a:solidFill>
                <a:latin typeface="Calibri" pitchFamily="34" charset="0"/>
                <a:ea typeface="Calibri" pitchFamily="34" charset="-122"/>
                <a:cs typeface="Calibri" pitchFamily="34" charset="-120"/>
              </a:rPr>
              <a:t>Queue absorbs spikes; failed work redelivered, never dropped.</a:t>
            </a:r>
            <a:endParaRPr lang="en-US" sz="1150" dirty="0"/>
          </a:p>
        </p:txBody>
      </p:sp>
      <p:sp>
        <p:nvSpPr>
          <p:cNvPr id="27" name="Shape 25"/>
          <p:cNvSpPr/>
          <p:nvPr/>
        </p:nvSpPr>
        <p:spPr>
          <a:xfrm>
            <a:off x="8778240" y="3355848"/>
            <a:ext cx="2788920" cy="1417320"/>
          </a:xfrm>
          <a:prstGeom prst="roundRect">
            <a:avLst>
              <a:gd name="adj" fmla="val 5806"/>
            </a:avLst>
          </a:prstGeom>
          <a:solidFill>
            <a:srgbClr val="EFF6F6"/>
          </a:solidFill>
          <a:ln/>
          <a:effectLst>
            <a:outerShdw sx="100000" sy="100000" kx="0" ky="0" algn="bl" rotWithShape="0" blurRad="88900" dist="25400" dir="5400000">
              <a:srgbClr val="A9C0C1">
                <a:alpha val="40000"/>
              </a:srgbClr>
            </a:outerShdw>
          </a:effectLst>
        </p:spPr>
      </p:sp>
      <p:sp>
        <p:nvSpPr>
          <p:cNvPr id="28" name="Text 26"/>
          <p:cNvSpPr/>
          <p:nvPr/>
        </p:nvSpPr>
        <p:spPr>
          <a:xfrm>
            <a:off x="8961120" y="3520440"/>
            <a:ext cx="2468880" cy="548640"/>
          </a:xfrm>
          <a:prstGeom prst="rect">
            <a:avLst/>
          </a:prstGeom>
          <a:noFill/>
          <a:ln/>
        </p:spPr>
        <p:txBody>
          <a:bodyPr wrap="square" lIns="0" tIns="0" rIns="0" bIns="0" rtlCol="0" anchor="ctr"/>
          <a:lstStyle/>
          <a:p>
            <a:pPr indent="0" marL="0">
              <a:buNone/>
            </a:pPr>
            <a:r>
              <a:rPr lang="en-US" sz="1450" b="1" dirty="0">
                <a:solidFill>
                  <a:srgbClr val="037A87"/>
                </a:solidFill>
                <a:latin typeface="Cambria" pitchFamily="34" charset="0"/>
                <a:ea typeface="Cambria" pitchFamily="34" charset="-122"/>
                <a:cs typeface="Cambria" pitchFamily="34" charset="-120"/>
              </a:rPr>
              <a:t>Cached &amp; fast</a:t>
            </a:r>
            <a:endParaRPr lang="en-US" sz="1450" dirty="0"/>
          </a:p>
        </p:txBody>
      </p:sp>
      <p:sp>
        <p:nvSpPr>
          <p:cNvPr id="29" name="Text 27"/>
          <p:cNvSpPr/>
          <p:nvPr/>
        </p:nvSpPr>
        <p:spPr>
          <a:xfrm>
            <a:off x="8961120" y="4014216"/>
            <a:ext cx="2468880" cy="658368"/>
          </a:xfrm>
          <a:prstGeom prst="rect">
            <a:avLst/>
          </a:prstGeom>
          <a:noFill/>
          <a:ln/>
        </p:spPr>
        <p:txBody>
          <a:bodyPr wrap="square" lIns="0" tIns="0" rIns="0" bIns="0" rtlCol="0" anchor="ctr"/>
          <a:lstStyle/>
          <a:p>
            <a:pPr indent="0" marL="0">
              <a:buNone/>
            </a:pPr>
            <a:r>
              <a:rPr lang="en-US" sz="1150" dirty="0">
                <a:solidFill>
                  <a:srgbClr val="12333A"/>
                </a:solidFill>
                <a:latin typeface="Calibri" pitchFamily="34" charset="0"/>
                <a:ea typeface="Calibri" pitchFamily="34" charset="-122"/>
                <a:cs typeface="Calibri" pitchFamily="34" charset="-120"/>
              </a:rPr>
              <a:t>Retrieval + prompt caching, read replicas, CDN for assets.</a:t>
            </a:r>
            <a:endParaRPr lang="en-US" sz="1150" dirty="0"/>
          </a:p>
        </p:txBody>
      </p:sp>
      <p:sp>
        <p:nvSpPr>
          <p:cNvPr id="30" name="Text 28"/>
          <p:cNvSpPr/>
          <p:nvPr/>
        </p:nvSpPr>
        <p:spPr>
          <a:xfrm>
            <a:off x="548640" y="5989320"/>
            <a:ext cx="11064240" cy="365760"/>
          </a:xfrm>
          <a:prstGeom prst="rect">
            <a:avLst/>
          </a:prstGeom>
          <a:noFill/>
          <a:ln/>
        </p:spPr>
        <p:txBody>
          <a:bodyPr wrap="square" lIns="0" tIns="0" rIns="0" bIns="0" rtlCol="0" anchor="ctr"/>
          <a:lstStyle/>
          <a:p>
            <a:pPr algn="ctr" indent="0" marL="0">
              <a:buNone/>
            </a:pPr>
            <a:r>
              <a:rPr lang="en-US" sz="1250" i="1" dirty="0">
                <a:solidFill>
                  <a:srgbClr val="5C7076"/>
                </a:solidFill>
                <a:latin typeface="Calibri" pitchFamily="34" charset="0"/>
                <a:ea typeface="Calibri" pitchFamily="34" charset="-122"/>
                <a:cs typeface="Calibri" pitchFamily="34" charset="-120"/>
              </a:rPr>
              <a:t>Sprint demos on Railway · the same container image scales out to the AWS target by config, not a rewrite.</a:t>
            </a:r>
            <a:endParaRPr lang="en-US" sz="1250" dirty="0"/>
          </a:p>
        </p:txBody>
      </p:sp>
      <p:sp>
        <p:nvSpPr>
          <p:cNvPr id="32" name="Text 29"/>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5C7076"/>
                </a:solidFill>
                <a:latin typeface="Calibri" pitchFamily="34" charset="0"/>
                <a:ea typeface="Calibri" pitchFamily="34" charset="-122"/>
                <a:cs typeface="Calibri" pitchFamily="34" charset="-120"/>
              </a:rPr>
              <a:t>AgentForge · Week 2 Architecture Defense</a:t>
            </a:r>
            <a:endParaRPr lang="en-US" sz="900" dirty="0"/>
          </a:p>
        </p:txBody>
      </p:sp>
      <p:sp>
        <p:nvSpPr>
          <p:cNvPr id="33" name="Text 30"/>
          <p:cNvSpPr/>
          <p:nvPr/>
        </p:nvSpPr>
        <p:spPr>
          <a:xfrm>
            <a:off x="11247120" y="6473952"/>
            <a:ext cx="411480" cy="274320"/>
          </a:xfrm>
          <a:prstGeom prst="rect">
            <a:avLst/>
          </a:prstGeom>
          <a:noFill/>
          <a:ln/>
        </p:spPr>
        <p:txBody>
          <a:bodyPr wrap="square" lIns="0" tIns="0" rIns="0" bIns="0" rtlCol="0" anchor="ctr"/>
          <a:lstStyle/>
          <a:p>
            <a:pPr algn="r" indent="0" marL="0">
              <a:buNone/>
            </a:pPr>
            <a:r>
              <a:rPr lang="en-US" sz="900" dirty="0">
                <a:solidFill>
                  <a:srgbClr val="5C7076"/>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92608"/>
          </a:xfrm>
          <a:prstGeom prst="rect">
            <a:avLst/>
          </a:prstGeom>
          <a:noFill/>
          <a:ln/>
        </p:spPr>
        <p:txBody>
          <a:bodyPr wrap="square" lIns="0" tIns="0" rIns="0" bIns="0" rtlCol="0" anchor="ctr"/>
          <a:lstStyle/>
          <a:p>
            <a:pPr indent="0" marL="0">
              <a:buNone/>
            </a:pPr>
            <a:r>
              <a:rPr lang="en-US" sz="1250" b="1" spc="200" kern="0" dirty="0">
                <a:solidFill>
                  <a:srgbClr val="037A87"/>
                </a:solidFill>
                <a:latin typeface="Calibri" pitchFamily="34" charset="0"/>
                <a:ea typeface="Calibri" pitchFamily="34" charset="-122"/>
                <a:cs typeface="Calibri" pitchFamily="34" charset="-120"/>
              </a:rPr>
              <a:t>QUALITY, PROVEN</a:t>
            </a:r>
            <a:endParaRPr lang="en-US" sz="1250" dirty="0"/>
          </a:p>
        </p:txBody>
      </p:sp>
      <p:sp>
        <p:nvSpPr>
          <p:cNvPr id="3" name="Text 1"/>
          <p:cNvSpPr/>
          <p:nvPr/>
        </p:nvSpPr>
        <p:spPr>
          <a:xfrm>
            <a:off x="548640" y="676656"/>
            <a:ext cx="11155680" cy="777240"/>
          </a:xfrm>
          <a:prstGeom prst="rect">
            <a:avLst/>
          </a:prstGeom>
          <a:noFill/>
          <a:ln/>
        </p:spPr>
        <p:txBody>
          <a:bodyPr wrap="square" lIns="0" tIns="0" rIns="0" bIns="0" rtlCol="0" anchor="ctr"/>
          <a:lstStyle/>
          <a:p>
            <a:pPr indent="0" marL="0">
              <a:buNone/>
            </a:pPr>
            <a:r>
              <a:rPr lang="en-US" sz="3100" b="1" dirty="0">
                <a:solidFill>
                  <a:srgbClr val="0A2A2F"/>
                </a:solidFill>
                <a:latin typeface="Cambria" pitchFamily="34" charset="0"/>
                <a:ea typeface="Cambria" pitchFamily="34" charset="-122"/>
                <a:cs typeface="Cambria" pitchFamily="34" charset="-120"/>
              </a:rPr>
              <a:t>The hard gate: eval-driven CI</a:t>
            </a:r>
            <a:endParaRPr lang="en-US" sz="3100" dirty="0"/>
          </a:p>
        </p:txBody>
      </p:sp>
      <p:sp>
        <p:nvSpPr>
          <p:cNvPr id="4" name="Shape 2"/>
          <p:cNvSpPr/>
          <p:nvPr/>
        </p:nvSpPr>
        <p:spPr>
          <a:xfrm>
            <a:off x="548640" y="1783080"/>
            <a:ext cx="3566160" cy="1554480"/>
          </a:xfrm>
          <a:prstGeom prst="roundRect">
            <a:avLst>
              <a:gd name="adj" fmla="val 5294"/>
            </a:avLst>
          </a:prstGeom>
          <a:solidFill>
            <a:srgbClr val="EFF6F6"/>
          </a:solidFill>
          <a:ln/>
          <a:effectLst>
            <a:outerShdw sx="100000" sy="100000" kx="0" ky="0" algn="bl" rotWithShape="0" blurRad="88900" dist="25400" dir="5400000">
              <a:srgbClr val="A9C0C1">
                <a:alpha val="40000"/>
              </a:srgbClr>
            </a:outerShdw>
          </a:effectLst>
        </p:spPr>
      </p:sp>
      <p:sp>
        <p:nvSpPr>
          <p:cNvPr id="5" name="Text 3"/>
          <p:cNvSpPr/>
          <p:nvPr/>
        </p:nvSpPr>
        <p:spPr>
          <a:xfrm>
            <a:off x="548640" y="1920240"/>
            <a:ext cx="3566160" cy="777240"/>
          </a:xfrm>
          <a:prstGeom prst="rect">
            <a:avLst/>
          </a:prstGeom>
          <a:noFill/>
          <a:ln/>
        </p:spPr>
        <p:txBody>
          <a:bodyPr wrap="square" lIns="0" tIns="0" rIns="0" bIns="0" rtlCol="0" anchor="ctr"/>
          <a:lstStyle/>
          <a:p>
            <a:pPr algn="ctr" indent="0" marL="0">
              <a:buNone/>
            </a:pPr>
            <a:r>
              <a:rPr lang="en-US" sz="4400" b="1" dirty="0">
                <a:solidFill>
                  <a:srgbClr val="037A87"/>
                </a:solidFill>
                <a:latin typeface="Cambria" pitchFamily="34" charset="0"/>
                <a:ea typeface="Cambria" pitchFamily="34" charset="-122"/>
                <a:cs typeface="Cambria" pitchFamily="34" charset="-120"/>
              </a:rPr>
              <a:t>50</a:t>
            </a:r>
            <a:endParaRPr lang="en-US" sz="4400" dirty="0"/>
          </a:p>
        </p:txBody>
      </p:sp>
      <p:sp>
        <p:nvSpPr>
          <p:cNvPr id="6" name="Text 4"/>
          <p:cNvSpPr/>
          <p:nvPr/>
        </p:nvSpPr>
        <p:spPr>
          <a:xfrm>
            <a:off x="548640" y="2743200"/>
            <a:ext cx="3566160" cy="457200"/>
          </a:xfrm>
          <a:prstGeom prst="rect">
            <a:avLst/>
          </a:prstGeom>
          <a:noFill/>
          <a:ln/>
        </p:spPr>
        <p:txBody>
          <a:bodyPr wrap="square" lIns="0" tIns="0" rIns="0" bIns="0" rtlCol="0" anchor="ctr"/>
          <a:lstStyle/>
          <a:p>
            <a:pPr algn="ctr" indent="0" marL="0">
              <a:buNone/>
            </a:pPr>
            <a:r>
              <a:rPr lang="en-US" sz="1350" dirty="0">
                <a:solidFill>
                  <a:srgbClr val="12333A"/>
                </a:solidFill>
                <a:latin typeface="Calibri" pitchFamily="34" charset="0"/>
                <a:ea typeface="Calibri" pitchFamily="34" charset="-122"/>
                <a:cs typeface="Calibri" pitchFamily="34" charset="-120"/>
              </a:rPr>
              <a:t>synthetic golden cases</a:t>
            </a:r>
            <a:endParaRPr lang="en-US" sz="1350" dirty="0"/>
          </a:p>
        </p:txBody>
      </p:sp>
      <p:sp>
        <p:nvSpPr>
          <p:cNvPr id="7" name="Shape 5"/>
          <p:cNvSpPr/>
          <p:nvPr/>
        </p:nvSpPr>
        <p:spPr>
          <a:xfrm>
            <a:off x="4325112" y="1783080"/>
            <a:ext cx="3566160" cy="1554480"/>
          </a:xfrm>
          <a:prstGeom prst="roundRect">
            <a:avLst>
              <a:gd name="adj" fmla="val 5294"/>
            </a:avLst>
          </a:prstGeom>
          <a:solidFill>
            <a:srgbClr val="EFF6F6"/>
          </a:solidFill>
          <a:ln/>
          <a:effectLst>
            <a:outerShdw sx="100000" sy="100000" kx="0" ky="0" algn="bl" rotWithShape="0" blurRad="88900" dist="25400" dir="5400000">
              <a:srgbClr val="A9C0C1">
                <a:alpha val="40000"/>
              </a:srgbClr>
            </a:outerShdw>
          </a:effectLst>
        </p:spPr>
      </p:sp>
      <p:sp>
        <p:nvSpPr>
          <p:cNvPr id="8" name="Text 6"/>
          <p:cNvSpPr/>
          <p:nvPr/>
        </p:nvSpPr>
        <p:spPr>
          <a:xfrm>
            <a:off x="4325112" y="1920240"/>
            <a:ext cx="3566160" cy="777240"/>
          </a:xfrm>
          <a:prstGeom prst="rect">
            <a:avLst/>
          </a:prstGeom>
          <a:noFill/>
          <a:ln/>
        </p:spPr>
        <p:txBody>
          <a:bodyPr wrap="square" lIns="0" tIns="0" rIns="0" bIns="0" rtlCol="0" anchor="ctr"/>
          <a:lstStyle/>
          <a:p>
            <a:pPr algn="ctr" indent="0" marL="0">
              <a:buNone/>
            </a:pPr>
            <a:r>
              <a:rPr lang="en-US" sz="4400" b="1" dirty="0">
                <a:solidFill>
                  <a:srgbClr val="037A87"/>
                </a:solidFill>
                <a:latin typeface="Cambria" pitchFamily="34" charset="0"/>
                <a:ea typeface="Cambria" pitchFamily="34" charset="-122"/>
                <a:cs typeface="Cambria" pitchFamily="34" charset="-120"/>
              </a:rPr>
              <a:t>5</a:t>
            </a:r>
            <a:endParaRPr lang="en-US" sz="4400" dirty="0"/>
          </a:p>
        </p:txBody>
      </p:sp>
      <p:sp>
        <p:nvSpPr>
          <p:cNvPr id="9" name="Text 7"/>
          <p:cNvSpPr/>
          <p:nvPr/>
        </p:nvSpPr>
        <p:spPr>
          <a:xfrm>
            <a:off x="4325112" y="2743200"/>
            <a:ext cx="3566160" cy="457200"/>
          </a:xfrm>
          <a:prstGeom prst="rect">
            <a:avLst/>
          </a:prstGeom>
          <a:noFill/>
          <a:ln/>
        </p:spPr>
        <p:txBody>
          <a:bodyPr wrap="square" lIns="0" tIns="0" rIns="0" bIns="0" rtlCol="0" anchor="ctr"/>
          <a:lstStyle/>
          <a:p>
            <a:pPr algn="ctr" indent="0" marL="0">
              <a:buNone/>
            </a:pPr>
            <a:r>
              <a:rPr lang="en-US" sz="1350" dirty="0">
                <a:solidFill>
                  <a:srgbClr val="12333A"/>
                </a:solidFill>
                <a:latin typeface="Calibri" pitchFamily="34" charset="0"/>
                <a:ea typeface="Calibri" pitchFamily="34" charset="-122"/>
                <a:cs typeface="Calibri" pitchFamily="34" charset="-120"/>
              </a:rPr>
              <a:t>boolean rubrics</a:t>
            </a:r>
            <a:endParaRPr lang="en-US" sz="1350" dirty="0"/>
          </a:p>
        </p:txBody>
      </p:sp>
      <p:sp>
        <p:nvSpPr>
          <p:cNvPr id="10" name="Shape 8"/>
          <p:cNvSpPr/>
          <p:nvPr/>
        </p:nvSpPr>
        <p:spPr>
          <a:xfrm>
            <a:off x="8101584" y="1783080"/>
            <a:ext cx="3566160" cy="1554480"/>
          </a:xfrm>
          <a:prstGeom prst="roundRect">
            <a:avLst>
              <a:gd name="adj" fmla="val 5294"/>
            </a:avLst>
          </a:prstGeom>
          <a:solidFill>
            <a:srgbClr val="EFF6F6"/>
          </a:solidFill>
          <a:ln/>
          <a:effectLst>
            <a:outerShdw sx="100000" sy="100000" kx="0" ky="0" algn="bl" rotWithShape="0" blurRad="88900" dist="25400" dir="5400000">
              <a:srgbClr val="A9C0C1">
                <a:alpha val="40000"/>
              </a:srgbClr>
            </a:outerShdw>
          </a:effectLst>
        </p:spPr>
      </p:sp>
      <p:sp>
        <p:nvSpPr>
          <p:cNvPr id="11" name="Text 9"/>
          <p:cNvSpPr/>
          <p:nvPr/>
        </p:nvSpPr>
        <p:spPr>
          <a:xfrm>
            <a:off x="8101584" y="1920240"/>
            <a:ext cx="3566160" cy="777240"/>
          </a:xfrm>
          <a:prstGeom prst="rect">
            <a:avLst/>
          </a:prstGeom>
          <a:noFill/>
          <a:ln/>
        </p:spPr>
        <p:txBody>
          <a:bodyPr wrap="square" lIns="0" tIns="0" rIns="0" bIns="0" rtlCol="0" anchor="ctr"/>
          <a:lstStyle/>
          <a:p>
            <a:pPr algn="ctr" indent="0" marL="0">
              <a:buNone/>
            </a:pPr>
            <a:r>
              <a:rPr lang="en-US" sz="4400" b="1" dirty="0">
                <a:solidFill>
                  <a:srgbClr val="037A87"/>
                </a:solidFill>
                <a:latin typeface="Cambria" pitchFamily="34" charset="0"/>
                <a:ea typeface="Cambria" pitchFamily="34" charset="-122"/>
                <a:cs typeface="Cambria" pitchFamily="34" charset="-120"/>
              </a:rPr>
              <a:t>&gt;5%</a:t>
            </a:r>
            <a:endParaRPr lang="en-US" sz="4400" dirty="0"/>
          </a:p>
        </p:txBody>
      </p:sp>
      <p:sp>
        <p:nvSpPr>
          <p:cNvPr id="12" name="Text 10"/>
          <p:cNvSpPr/>
          <p:nvPr/>
        </p:nvSpPr>
        <p:spPr>
          <a:xfrm>
            <a:off x="8101584" y="2743200"/>
            <a:ext cx="3566160" cy="457200"/>
          </a:xfrm>
          <a:prstGeom prst="rect">
            <a:avLst/>
          </a:prstGeom>
          <a:noFill/>
          <a:ln/>
        </p:spPr>
        <p:txBody>
          <a:bodyPr wrap="square" lIns="0" tIns="0" rIns="0" bIns="0" rtlCol="0" anchor="ctr"/>
          <a:lstStyle/>
          <a:p>
            <a:pPr algn="ctr" indent="0" marL="0">
              <a:buNone/>
            </a:pPr>
            <a:r>
              <a:rPr lang="en-US" sz="1350" dirty="0">
                <a:solidFill>
                  <a:srgbClr val="12333A"/>
                </a:solidFill>
                <a:latin typeface="Calibri" pitchFamily="34" charset="0"/>
                <a:ea typeface="Calibri" pitchFamily="34" charset="-122"/>
                <a:cs typeface="Calibri" pitchFamily="34" charset="-120"/>
              </a:rPr>
              <a:t>regression fails the build</a:t>
            </a:r>
            <a:endParaRPr lang="en-US" sz="1350" dirty="0"/>
          </a:p>
        </p:txBody>
      </p:sp>
      <p:sp>
        <p:nvSpPr>
          <p:cNvPr id="13" name="Text 11"/>
          <p:cNvSpPr/>
          <p:nvPr/>
        </p:nvSpPr>
        <p:spPr>
          <a:xfrm>
            <a:off x="548640" y="3703320"/>
            <a:ext cx="10972800" cy="320040"/>
          </a:xfrm>
          <a:prstGeom prst="rect">
            <a:avLst/>
          </a:prstGeom>
          <a:noFill/>
          <a:ln/>
        </p:spPr>
        <p:txBody>
          <a:bodyPr wrap="square" lIns="0" tIns="0" rIns="0" bIns="0" rtlCol="0" anchor="ctr"/>
          <a:lstStyle/>
          <a:p>
            <a:pPr indent="0" marL="0">
              <a:buNone/>
            </a:pPr>
            <a:r>
              <a:rPr lang="en-US" sz="1200" b="1" spc="200" kern="0" dirty="0">
                <a:solidFill>
                  <a:srgbClr val="5C7076"/>
                </a:solidFill>
                <a:latin typeface="Calibri" pitchFamily="34" charset="0"/>
                <a:ea typeface="Calibri" pitchFamily="34" charset="-122"/>
                <a:cs typeface="Calibri" pitchFamily="34" charset="-120"/>
              </a:rPr>
              <a:t>BOOLEAN RUBRICS</a:t>
            </a:r>
            <a:endParaRPr lang="en-US" sz="1200" dirty="0"/>
          </a:p>
        </p:txBody>
      </p:sp>
      <p:sp>
        <p:nvSpPr>
          <p:cNvPr id="14" name="Shape 12"/>
          <p:cNvSpPr/>
          <p:nvPr/>
        </p:nvSpPr>
        <p:spPr>
          <a:xfrm>
            <a:off x="548640" y="4069080"/>
            <a:ext cx="2112264" cy="475488"/>
          </a:xfrm>
          <a:prstGeom prst="roundRect">
            <a:avLst>
              <a:gd name="adj" fmla="val 50000"/>
            </a:avLst>
          </a:prstGeom>
          <a:solidFill>
            <a:srgbClr val="E3F1EF"/>
          </a:solidFill>
          <a:ln w="12700">
            <a:solidFill>
              <a:srgbClr val="03C39A"/>
            </a:solidFill>
            <a:prstDash val="solid"/>
          </a:ln>
        </p:spPr>
      </p:sp>
      <p:sp>
        <p:nvSpPr>
          <p:cNvPr id="15" name="Text 13"/>
          <p:cNvSpPr/>
          <p:nvPr/>
        </p:nvSpPr>
        <p:spPr>
          <a:xfrm>
            <a:off x="548640" y="4069080"/>
            <a:ext cx="2112264" cy="475488"/>
          </a:xfrm>
          <a:prstGeom prst="rect">
            <a:avLst/>
          </a:prstGeom>
          <a:noFill/>
          <a:ln/>
        </p:spPr>
        <p:txBody>
          <a:bodyPr wrap="square" lIns="0" tIns="0" rIns="0" bIns="0" rtlCol="0" anchor="ctr"/>
          <a:lstStyle/>
          <a:p>
            <a:pPr algn="ctr" indent="0" marL="0">
              <a:buNone/>
            </a:pPr>
            <a:r>
              <a:rPr lang="en-US" sz="1150" b="1" dirty="0">
                <a:solidFill>
                  <a:srgbClr val="025965"/>
                </a:solidFill>
                <a:latin typeface="Calibri" pitchFamily="34" charset="0"/>
                <a:ea typeface="Calibri" pitchFamily="34" charset="-122"/>
                <a:cs typeface="Calibri" pitchFamily="34" charset="-120"/>
              </a:rPr>
              <a:t>schema_valid</a:t>
            </a:r>
            <a:endParaRPr lang="en-US" sz="1150" dirty="0"/>
          </a:p>
        </p:txBody>
      </p:sp>
      <p:sp>
        <p:nvSpPr>
          <p:cNvPr id="16" name="Shape 14"/>
          <p:cNvSpPr/>
          <p:nvPr/>
        </p:nvSpPr>
        <p:spPr>
          <a:xfrm>
            <a:off x="2761488" y="4069080"/>
            <a:ext cx="2112264" cy="475488"/>
          </a:xfrm>
          <a:prstGeom prst="roundRect">
            <a:avLst>
              <a:gd name="adj" fmla="val 50000"/>
            </a:avLst>
          </a:prstGeom>
          <a:solidFill>
            <a:srgbClr val="E3F1EF"/>
          </a:solidFill>
          <a:ln w="12700">
            <a:solidFill>
              <a:srgbClr val="03C39A"/>
            </a:solidFill>
            <a:prstDash val="solid"/>
          </a:ln>
        </p:spPr>
      </p:sp>
      <p:sp>
        <p:nvSpPr>
          <p:cNvPr id="17" name="Text 15"/>
          <p:cNvSpPr/>
          <p:nvPr/>
        </p:nvSpPr>
        <p:spPr>
          <a:xfrm>
            <a:off x="2761488" y="4069080"/>
            <a:ext cx="2112264" cy="475488"/>
          </a:xfrm>
          <a:prstGeom prst="rect">
            <a:avLst/>
          </a:prstGeom>
          <a:noFill/>
          <a:ln/>
        </p:spPr>
        <p:txBody>
          <a:bodyPr wrap="square" lIns="0" tIns="0" rIns="0" bIns="0" rtlCol="0" anchor="ctr"/>
          <a:lstStyle/>
          <a:p>
            <a:pPr algn="ctr" indent="0" marL="0">
              <a:buNone/>
            </a:pPr>
            <a:r>
              <a:rPr lang="en-US" sz="1150" b="1" dirty="0">
                <a:solidFill>
                  <a:srgbClr val="025965"/>
                </a:solidFill>
                <a:latin typeface="Calibri" pitchFamily="34" charset="0"/>
                <a:ea typeface="Calibri" pitchFamily="34" charset="-122"/>
                <a:cs typeface="Calibri" pitchFamily="34" charset="-120"/>
              </a:rPr>
              <a:t>citation_present</a:t>
            </a:r>
            <a:endParaRPr lang="en-US" sz="1150" dirty="0"/>
          </a:p>
        </p:txBody>
      </p:sp>
      <p:sp>
        <p:nvSpPr>
          <p:cNvPr id="18" name="Shape 16"/>
          <p:cNvSpPr/>
          <p:nvPr/>
        </p:nvSpPr>
        <p:spPr>
          <a:xfrm>
            <a:off x="4974336" y="4069080"/>
            <a:ext cx="2112264" cy="475488"/>
          </a:xfrm>
          <a:prstGeom prst="roundRect">
            <a:avLst>
              <a:gd name="adj" fmla="val 50000"/>
            </a:avLst>
          </a:prstGeom>
          <a:solidFill>
            <a:srgbClr val="E3F1EF"/>
          </a:solidFill>
          <a:ln w="12700">
            <a:solidFill>
              <a:srgbClr val="03C39A"/>
            </a:solidFill>
            <a:prstDash val="solid"/>
          </a:ln>
        </p:spPr>
      </p:sp>
      <p:sp>
        <p:nvSpPr>
          <p:cNvPr id="19" name="Text 17"/>
          <p:cNvSpPr/>
          <p:nvPr/>
        </p:nvSpPr>
        <p:spPr>
          <a:xfrm>
            <a:off x="4974336" y="4069080"/>
            <a:ext cx="2112264" cy="475488"/>
          </a:xfrm>
          <a:prstGeom prst="rect">
            <a:avLst/>
          </a:prstGeom>
          <a:noFill/>
          <a:ln/>
        </p:spPr>
        <p:txBody>
          <a:bodyPr wrap="square" lIns="0" tIns="0" rIns="0" bIns="0" rtlCol="0" anchor="ctr"/>
          <a:lstStyle/>
          <a:p>
            <a:pPr algn="ctr" indent="0" marL="0">
              <a:buNone/>
            </a:pPr>
            <a:r>
              <a:rPr lang="en-US" sz="1150" b="1" dirty="0">
                <a:solidFill>
                  <a:srgbClr val="025965"/>
                </a:solidFill>
                <a:latin typeface="Calibri" pitchFamily="34" charset="0"/>
                <a:ea typeface="Calibri" pitchFamily="34" charset="-122"/>
                <a:cs typeface="Calibri" pitchFamily="34" charset="-120"/>
              </a:rPr>
              <a:t>factually_consistent</a:t>
            </a:r>
            <a:endParaRPr lang="en-US" sz="1150" dirty="0"/>
          </a:p>
        </p:txBody>
      </p:sp>
      <p:sp>
        <p:nvSpPr>
          <p:cNvPr id="20" name="Shape 18"/>
          <p:cNvSpPr/>
          <p:nvPr/>
        </p:nvSpPr>
        <p:spPr>
          <a:xfrm>
            <a:off x="7187184" y="4069080"/>
            <a:ext cx="2112264" cy="475488"/>
          </a:xfrm>
          <a:prstGeom prst="roundRect">
            <a:avLst>
              <a:gd name="adj" fmla="val 50000"/>
            </a:avLst>
          </a:prstGeom>
          <a:solidFill>
            <a:srgbClr val="E3F1EF"/>
          </a:solidFill>
          <a:ln w="12700">
            <a:solidFill>
              <a:srgbClr val="03C39A"/>
            </a:solidFill>
            <a:prstDash val="solid"/>
          </a:ln>
        </p:spPr>
      </p:sp>
      <p:sp>
        <p:nvSpPr>
          <p:cNvPr id="21" name="Text 19"/>
          <p:cNvSpPr/>
          <p:nvPr/>
        </p:nvSpPr>
        <p:spPr>
          <a:xfrm>
            <a:off x="7187184" y="4069080"/>
            <a:ext cx="2112264" cy="475488"/>
          </a:xfrm>
          <a:prstGeom prst="rect">
            <a:avLst/>
          </a:prstGeom>
          <a:noFill/>
          <a:ln/>
        </p:spPr>
        <p:txBody>
          <a:bodyPr wrap="square" lIns="0" tIns="0" rIns="0" bIns="0" rtlCol="0" anchor="ctr"/>
          <a:lstStyle/>
          <a:p>
            <a:pPr algn="ctr" indent="0" marL="0">
              <a:buNone/>
            </a:pPr>
            <a:r>
              <a:rPr lang="en-US" sz="1150" b="1" dirty="0">
                <a:solidFill>
                  <a:srgbClr val="025965"/>
                </a:solidFill>
                <a:latin typeface="Calibri" pitchFamily="34" charset="0"/>
                <a:ea typeface="Calibri" pitchFamily="34" charset="-122"/>
                <a:cs typeface="Calibri" pitchFamily="34" charset="-120"/>
              </a:rPr>
              <a:t>safe_refusal</a:t>
            </a:r>
            <a:endParaRPr lang="en-US" sz="1150" dirty="0"/>
          </a:p>
        </p:txBody>
      </p:sp>
      <p:sp>
        <p:nvSpPr>
          <p:cNvPr id="22" name="Shape 20"/>
          <p:cNvSpPr/>
          <p:nvPr/>
        </p:nvSpPr>
        <p:spPr>
          <a:xfrm>
            <a:off x="9400032" y="4069080"/>
            <a:ext cx="2112264" cy="475488"/>
          </a:xfrm>
          <a:prstGeom prst="roundRect">
            <a:avLst>
              <a:gd name="adj" fmla="val 50000"/>
            </a:avLst>
          </a:prstGeom>
          <a:solidFill>
            <a:srgbClr val="E3F1EF"/>
          </a:solidFill>
          <a:ln w="12700">
            <a:solidFill>
              <a:srgbClr val="03C39A"/>
            </a:solidFill>
            <a:prstDash val="solid"/>
          </a:ln>
        </p:spPr>
      </p:sp>
      <p:sp>
        <p:nvSpPr>
          <p:cNvPr id="23" name="Text 21"/>
          <p:cNvSpPr/>
          <p:nvPr/>
        </p:nvSpPr>
        <p:spPr>
          <a:xfrm>
            <a:off x="9400032" y="4069080"/>
            <a:ext cx="2112264" cy="475488"/>
          </a:xfrm>
          <a:prstGeom prst="rect">
            <a:avLst/>
          </a:prstGeom>
          <a:noFill/>
          <a:ln/>
        </p:spPr>
        <p:txBody>
          <a:bodyPr wrap="square" lIns="0" tIns="0" rIns="0" bIns="0" rtlCol="0" anchor="ctr"/>
          <a:lstStyle/>
          <a:p>
            <a:pPr algn="ctr" indent="0" marL="0">
              <a:buNone/>
            </a:pPr>
            <a:r>
              <a:rPr lang="en-US" sz="1150" b="1" dirty="0">
                <a:solidFill>
                  <a:srgbClr val="025965"/>
                </a:solidFill>
                <a:latin typeface="Calibri" pitchFamily="34" charset="0"/>
                <a:ea typeface="Calibri" pitchFamily="34" charset="-122"/>
                <a:cs typeface="Calibri" pitchFamily="34" charset="-120"/>
              </a:rPr>
              <a:t>no_phi_in_logs</a:t>
            </a:r>
            <a:endParaRPr lang="en-US" sz="1150" dirty="0"/>
          </a:p>
        </p:txBody>
      </p:sp>
      <p:sp>
        <p:nvSpPr>
          <p:cNvPr id="24" name="Shape 22"/>
          <p:cNvSpPr/>
          <p:nvPr/>
        </p:nvSpPr>
        <p:spPr>
          <a:xfrm>
            <a:off x="548640" y="4892040"/>
            <a:ext cx="11064240" cy="1234440"/>
          </a:xfrm>
          <a:prstGeom prst="roundRect">
            <a:avLst>
              <a:gd name="adj" fmla="val 6667"/>
            </a:avLst>
          </a:prstGeom>
          <a:solidFill>
            <a:srgbClr val="0A2A2F"/>
          </a:solidFill>
          <a:ln/>
          <a:effectLst>
            <a:outerShdw sx="100000" sy="100000" kx="0" ky="0" algn="bl" rotWithShape="0" blurRad="88900" dist="25400" dir="5400000">
              <a:srgbClr val="A9C0C1">
                <a:alpha val="40000"/>
              </a:srgbClr>
            </a:outerShdw>
          </a:effectLst>
        </p:spPr>
      </p:sp>
      <p:sp>
        <p:nvSpPr>
          <p:cNvPr id="25" name="Text 23"/>
          <p:cNvSpPr/>
          <p:nvPr/>
        </p:nvSpPr>
        <p:spPr>
          <a:xfrm>
            <a:off x="868680" y="5029200"/>
            <a:ext cx="10424160" cy="960120"/>
          </a:xfrm>
          <a:prstGeom prst="rect">
            <a:avLst/>
          </a:prstGeom>
          <a:noFill/>
          <a:ln/>
        </p:spPr>
        <p:txBody>
          <a:bodyPr wrap="square" lIns="0" tIns="0" rIns="0" bIns="0" rtlCol="0" anchor="ctr"/>
          <a:lstStyle/>
          <a:p>
            <a:pPr indent="0" marL="0">
              <a:buNone/>
            </a:pPr>
            <a:r>
              <a:rPr lang="en-US" sz="1400" b="1" dirty="0">
                <a:solidFill>
                  <a:srgbClr val="03C39A"/>
                </a:solidFill>
                <a:latin typeface="Calibri" pitchFamily="34" charset="0"/>
                <a:ea typeface="Calibri" pitchFamily="34" charset="-122"/>
                <a:cs typeface="Calibri" pitchFamily="34" charset="-120"/>
              </a:rPr>
              <a:t>Grading injects a regression to confirm the gate blocks it</a:t>
            </a:r>
            <a:pPr indent="0" marL="0">
              <a:buNone/>
            </a:pPr>
            <a:r>
              <a:rPr lang="en-US" sz="1400" dirty="0">
                <a:solidFill>
                  <a:srgbClr val="CFE8E6"/>
                </a:solidFill>
                <a:latin typeface="Calibri" pitchFamily="34" charset="0"/>
                <a:ea typeface="Calibri" pitchFamily="34" charset="-122"/>
                <a:cs typeface="Calibri" pitchFamily="34" charset="-120"/>
              </a:rPr>
              <a:t> — so we build and test the gate first, not just the cases. Deterministic checks where mechanical (schema, citation, PHI); an LLM judge only for consistency and refusal.</a:t>
            </a:r>
            <a:endParaRPr lang="en-US" sz="1400" dirty="0"/>
          </a:p>
        </p:txBody>
      </p:sp>
      <p:sp>
        <p:nvSpPr>
          <p:cNvPr id="27" name="Text 24"/>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5C7076"/>
                </a:solidFill>
                <a:latin typeface="Calibri" pitchFamily="34" charset="0"/>
                <a:ea typeface="Calibri" pitchFamily="34" charset="-122"/>
                <a:cs typeface="Calibri" pitchFamily="34" charset="-120"/>
              </a:rPr>
              <a:t>AgentForge · Week 2 Architecture Defense</a:t>
            </a:r>
            <a:endParaRPr lang="en-US" sz="900" dirty="0"/>
          </a:p>
        </p:txBody>
      </p:sp>
      <p:sp>
        <p:nvSpPr>
          <p:cNvPr id="28" name="Text 25"/>
          <p:cNvSpPr/>
          <p:nvPr/>
        </p:nvSpPr>
        <p:spPr>
          <a:xfrm>
            <a:off x="11247120" y="6473952"/>
            <a:ext cx="411480" cy="274320"/>
          </a:xfrm>
          <a:prstGeom prst="rect">
            <a:avLst/>
          </a:prstGeom>
          <a:noFill/>
          <a:ln/>
        </p:spPr>
        <p:txBody>
          <a:bodyPr wrap="square" lIns="0" tIns="0" rIns="0" bIns="0" rtlCol="0" anchor="ctr"/>
          <a:lstStyle/>
          <a:p>
            <a:pPr algn="r" indent="0" marL="0">
              <a:buNone/>
            </a:pPr>
            <a:r>
              <a:rPr lang="en-US" sz="900" dirty="0">
                <a:solidFill>
                  <a:srgbClr val="5C7076"/>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2A2F"/>
        </a:solidFill>
      </p:bgPr>
    </p:bg>
    <p:spTree>
      <p:nvGrpSpPr>
        <p:cNvPr id="1" name=""/>
        <p:cNvGrpSpPr/>
        <p:nvPr/>
      </p:nvGrpSpPr>
      <p:grpSpPr>
        <a:xfrm>
          <a:off x="0" y="0"/>
          <a:ext cx="0" cy="0"/>
          <a:chOff x="0" y="0"/>
          <a:chExt cx="0" cy="0"/>
        </a:xfrm>
      </p:grpSpPr>
      <p:sp>
        <p:nvSpPr>
          <p:cNvPr id="2" name="Shape 0"/>
          <p:cNvSpPr/>
          <p:nvPr/>
        </p:nvSpPr>
        <p:spPr>
          <a:xfrm>
            <a:off x="9966960" y="4206240"/>
            <a:ext cx="3840480" cy="3840480"/>
          </a:xfrm>
          <a:prstGeom prst="ellipse">
            <a:avLst/>
          </a:prstGeom>
          <a:solidFill>
            <a:srgbClr val="037A87">
              <a:alpha val="20000"/>
            </a:srgbClr>
          </a:solidFill>
          <a:ln/>
        </p:spPr>
      </p:sp>
      <p:sp>
        <p:nvSpPr>
          <p:cNvPr id="3" name="Shape 1"/>
          <p:cNvSpPr/>
          <p:nvPr/>
        </p:nvSpPr>
        <p:spPr>
          <a:xfrm>
            <a:off x="-1188720" y="-1280160"/>
            <a:ext cx="3291840" cy="3291840"/>
          </a:xfrm>
          <a:prstGeom prst="ellipse">
            <a:avLst/>
          </a:prstGeom>
          <a:solidFill>
            <a:srgbClr val="03C39A">
              <a:alpha val="14000"/>
            </a:srgbClr>
          </a:solidFill>
          <a:ln/>
        </p:spPr>
      </p:sp>
      <p:sp>
        <p:nvSpPr>
          <p:cNvPr id="4" name="Text 2"/>
          <p:cNvSpPr/>
          <p:nvPr/>
        </p:nvSpPr>
        <p:spPr>
          <a:xfrm>
            <a:off x="777240" y="640080"/>
            <a:ext cx="10058400" cy="365760"/>
          </a:xfrm>
          <a:prstGeom prst="rect">
            <a:avLst/>
          </a:prstGeom>
          <a:noFill/>
          <a:ln/>
        </p:spPr>
        <p:txBody>
          <a:bodyPr wrap="square" lIns="0" tIns="0" rIns="0" bIns="0" rtlCol="0" anchor="ctr"/>
          <a:lstStyle/>
          <a:p>
            <a:pPr indent="0" marL="0">
              <a:buNone/>
            </a:pPr>
            <a:r>
              <a:rPr lang="en-US" sz="1300" b="1" spc="300" kern="0" dirty="0">
                <a:solidFill>
                  <a:srgbClr val="03C39A"/>
                </a:solidFill>
                <a:latin typeface="Calibri" pitchFamily="34" charset="0"/>
                <a:ea typeface="Calibri" pitchFamily="34" charset="-122"/>
                <a:cs typeface="Calibri" pitchFamily="34" charset="-120"/>
              </a:rPr>
              <a:t>WHAT I'LL DEFEND</a:t>
            </a:r>
            <a:endParaRPr lang="en-US" sz="1300" dirty="0"/>
          </a:p>
        </p:txBody>
      </p:sp>
      <p:sp>
        <p:nvSpPr>
          <p:cNvPr id="5" name="Text 3"/>
          <p:cNvSpPr/>
          <p:nvPr/>
        </p:nvSpPr>
        <p:spPr>
          <a:xfrm>
            <a:off x="777240" y="987552"/>
            <a:ext cx="10058400" cy="82296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Five decisions</a:t>
            </a:r>
            <a:endParaRPr lang="en-US" sz="3600" dirty="0"/>
          </a:p>
        </p:txBody>
      </p:sp>
      <p:sp>
        <p:nvSpPr>
          <p:cNvPr id="6" name="Shape 4"/>
          <p:cNvSpPr/>
          <p:nvPr/>
        </p:nvSpPr>
        <p:spPr>
          <a:xfrm>
            <a:off x="777240" y="2057400"/>
            <a:ext cx="457200" cy="457200"/>
          </a:xfrm>
          <a:prstGeom prst="ellipse">
            <a:avLst/>
          </a:prstGeom>
          <a:solidFill>
            <a:srgbClr val="03C39A"/>
          </a:solidFill>
          <a:ln/>
        </p:spPr>
      </p:sp>
      <p:sp>
        <p:nvSpPr>
          <p:cNvPr id="7" name="Text 5"/>
          <p:cNvSpPr/>
          <p:nvPr/>
        </p:nvSpPr>
        <p:spPr>
          <a:xfrm>
            <a:off x="777240" y="2057400"/>
            <a:ext cx="457200" cy="457200"/>
          </a:xfrm>
          <a:prstGeom prst="rect">
            <a:avLst/>
          </a:prstGeom>
          <a:noFill/>
          <a:ln/>
        </p:spPr>
        <p:txBody>
          <a:bodyPr wrap="square" lIns="0" tIns="0" rIns="0" bIns="0" rtlCol="0" anchor="ctr"/>
          <a:lstStyle/>
          <a:p>
            <a:pPr algn="ctr" indent="0" marL="0">
              <a:buNone/>
            </a:pPr>
            <a:r>
              <a:rPr lang="en-US" sz="1700" b="1" dirty="0">
                <a:solidFill>
                  <a:srgbClr val="0A2A2F"/>
                </a:solidFill>
                <a:latin typeface="Cambria" pitchFamily="34" charset="0"/>
                <a:ea typeface="Cambria" pitchFamily="34" charset="-122"/>
                <a:cs typeface="Cambria" pitchFamily="34" charset="-120"/>
              </a:rPr>
              <a:t>1</a:t>
            </a:r>
            <a:endParaRPr lang="en-US" sz="1700" dirty="0"/>
          </a:p>
        </p:txBody>
      </p:sp>
      <p:sp>
        <p:nvSpPr>
          <p:cNvPr id="8" name="Text 6"/>
          <p:cNvSpPr/>
          <p:nvPr/>
        </p:nvSpPr>
        <p:spPr>
          <a:xfrm>
            <a:off x="1463040" y="2039112"/>
            <a:ext cx="10058400" cy="5029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One service, all-.NET — the Week 1 platform compounds.</a:t>
            </a:r>
            <a:endParaRPr lang="en-US" sz="1600" dirty="0"/>
          </a:p>
        </p:txBody>
      </p:sp>
      <p:sp>
        <p:nvSpPr>
          <p:cNvPr id="9" name="Shape 7"/>
          <p:cNvSpPr/>
          <p:nvPr/>
        </p:nvSpPr>
        <p:spPr>
          <a:xfrm>
            <a:off x="777240" y="2770632"/>
            <a:ext cx="457200" cy="457200"/>
          </a:xfrm>
          <a:prstGeom prst="ellipse">
            <a:avLst/>
          </a:prstGeom>
          <a:solidFill>
            <a:srgbClr val="03C39A"/>
          </a:solidFill>
          <a:ln/>
        </p:spPr>
      </p:sp>
      <p:sp>
        <p:nvSpPr>
          <p:cNvPr id="10" name="Text 8"/>
          <p:cNvSpPr/>
          <p:nvPr/>
        </p:nvSpPr>
        <p:spPr>
          <a:xfrm>
            <a:off x="777240" y="2770632"/>
            <a:ext cx="457200" cy="457200"/>
          </a:xfrm>
          <a:prstGeom prst="rect">
            <a:avLst/>
          </a:prstGeom>
          <a:noFill/>
          <a:ln/>
        </p:spPr>
        <p:txBody>
          <a:bodyPr wrap="square" lIns="0" tIns="0" rIns="0" bIns="0" rtlCol="0" anchor="ctr"/>
          <a:lstStyle/>
          <a:p>
            <a:pPr algn="ctr" indent="0" marL="0">
              <a:buNone/>
            </a:pPr>
            <a:r>
              <a:rPr lang="en-US" sz="1700" b="1" dirty="0">
                <a:solidFill>
                  <a:srgbClr val="0A2A2F"/>
                </a:solidFill>
                <a:latin typeface="Cambria" pitchFamily="34" charset="0"/>
                <a:ea typeface="Cambria" pitchFamily="34" charset="-122"/>
                <a:cs typeface="Cambria" pitchFamily="34" charset="-120"/>
              </a:rPr>
              <a:t>2</a:t>
            </a:r>
            <a:endParaRPr lang="en-US" sz="1700" dirty="0"/>
          </a:p>
        </p:txBody>
      </p:sp>
      <p:sp>
        <p:nvSpPr>
          <p:cNvPr id="11" name="Text 9"/>
          <p:cNvSpPr/>
          <p:nvPr/>
        </p:nvSpPr>
        <p:spPr>
          <a:xfrm>
            <a:off x="1463040" y="2752344"/>
            <a:ext cx="10058400" cy="5029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Write-back authority grounded in the fork — one source of truth per data type.</a:t>
            </a:r>
            <a:endParaRPr lang="en-US" sz="1600" dirty="0"/>
          </a:p>
        </p:txBody>
      </p:sp>
      <p:sp>
        <p:nvSpPr>
          <p:cNvPr id="12" name="Shape 10"/>
          <p:cNvSpPr/>
          <p:nvPr/>
        </p:nvSpPr>
        <p:spPr>
          <a:xfrm>
            <a:off x="777240" y="3483864"/>
            <a:ext cx="457200" cy="457200"/>
          </a:xfrm>
          <a:prstGeom prst="ellipse">
            <a:avLst/>
          </a:prstGeom>
          <a:solidFill>
            <a:srgbClr val="03C39A"/>
          </a:solidFill>
          <a:ln/>
        </p:spPr>
      </p:sp>
      <p:sp>
        <p:nvSpPr>
          <p:cNvPr id="13" name="Text 11"/>
          <p:cNvSpPr/>
          <p:nvPr/>
        </p:nvSpPr>
        <p:spPr>
          <a:xfrm>
            <a:off x="777240" y="3483864"/>
            <a:ext cx="457200" cy="457200"/>
          </a:xfrm>
          <a:prstGeom prst="rect">
            <a:avLst/>
          </a:prstGeom>
          <a:noFill/>
          <a:ln/>
        </p:spPr>
        <p:txBody>
          <a:bodyPr wrap="square" lIns="0" tIns="0" rIns="0" bIns="0" rtlCol="0" anchor="ctr"/>
          <a:lstStyle/>
          <a:p>
            <a:pPr algn="ctr" indent="0" marL="0">
              <a:buNone/>
            </a:pPr>
            <a:r>
              <a:rPr lang="en-US" sz="1700" b="1" dirty="0">
                <a:solidFill>
                  <a:srgbClr val="0A2A2F"/>
                </a:solidFill>
                <a:latin typeface="Cambria" pitchFamily="34" charset="0"/>
                <a:ea typeface="Cambria" pitchFamily="34" charset="-122"/>
                <a:cs typeface="Cambria" pitchFamily="34" charset="-120"/>
              </a:rPr>
              <a:t>3</a:t>
            </a:r>
            <a:endParaRPr lang="en-US" sz="1700" dirty="0"/>
          </a:p>
        </p:txBody>
      </p:sp>
      <p:sp>
        <p:nvSpPr>
          <p:cNvPr id="14" name="Text 12"/>
          <p:cNvSpPr/>
          <p:nvPr/>
        </p:nvSpPr>
        <p:spPr>
          <a:xfrm>
            <a:off x="1463040" y="3465576"/>
            <a:ext cx="10058400" cy="5029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The critic is the Week 1 verification layer, reused as a graph node.</a:t>
            </a:r>
            <a:endParaRPr lang="en-US" sz="1600" dirty="0"/>
          </a:p>
        </p:txBody>
      </p:sp>
      <p:sp>
        <p:nvSpPr>
          <p:cNvPr id="15" name="Shape 13"/>
          <p:cNvSpPr/>
          <p:nvPr/>
        </p:nvSpPr>
        <p:spPr>
          <a:xfrm>
            <a:off x="777240" y="4197096"/>
            <a:ext cx="457200" cy="457200"/>
          </a:xfrm>
          <a:prstGeom prst="ellipse">
            <a:avLst/>
          </a:prstGeom>
          <a:solidFill>
            <a:srgbClr val="03C39A"/>
          </a:solidFill>
          <a:ln/>
        </p:spPr>
      </p:sp>
      <p:sp>
        <p:nvSpPr>
          <p:cNvPr id="16" name="Text 14"/>
          <p:cNvSpPr/>
          <p:nvPr/>
        </p:nvSpPr>
        <p:spPr>
          <a:xfrm>
            <a:off x="777240" y="4197096"/>
            <a:ext cx="457200" cy="457200"/>
          </a:xfrm>
          <a:prstGeom prst="rect">
            <a:avLst/>
          </a:prstGeom>
          <a:noFill/>
          <a:ln/>
        </p:spPr>
        <p:txBody>
          <a:bodyPr wrap="square" lIns="0" tIns="0" rIns="0" bIns="0" rtlCol="0" anchor="ctr"/>
          <a:lstStyle/>
          <a:p>
            <a:pPr algn="ctr" indent="0" marL="0">
              <a:buNone/>
            </a:pPr>
            <a:r>
              <a:rPr lang="en-US" sz="1700" b="1" dirty="0">
                <a:solidFill>
                  <a:srgbClr val="0A2A2F"/>
                </a:solidFill>
                <a:latin typeface="Cambria" pitchFamily="34" charset="0"/>
                <a:ea typeface="Cambria" pitchFamily="34" charset="-122"/>
                <a:cs typeface="Cambria" pitchFamily="34" charset="-120"/>
              </a:rPr>
              <a:t>4</a:t>
            </a:r>
            <a:endParaRPr lang="en-US" sz="1700" dirty="0"/>
          </a:p>
        </p:txBody>
      </p:sp>
      <p:sp>
        <p:nvSpPr>
          <p:cNvPr id="17" name="Text 15"/>
          <p:cNvSpPr/>
          <p:nvPr/>
        </p:nvSpPr>
        <p:spPr>
          <a:xfrm>
            <a:off x="1463040" y="4178808"/>
            <a:ext cx="10058400" cy="5029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Redundant, performant, cloud-native — stateless, Multi-AZ, async ingestion.</a:t>
            </a:r>
            <a:endParaRPr lang="en-US" sz="1600" dirty="0"/>
          </a:p>
        </p:txBody>
      </p:sp>
      <p:sp>
        <p:nvSpPr>
          <p:cNvPr id="18" name="Shape 16"/>
          <p:cNvSpPr/>
          <p:nvPr/>
        </p:nvSpPr>
        <p:spPr>
          <a:xfrm>
            <a:off x="777240" y="4910328"/>
            <a:ext cx="457200" cy="457200"/>
          </a:xfrm>
          <a:prstGeom prst="ellipse">
            <a:avLst/>
          </a:prstGeom>
          <a:solidFill>
            <a:srgbClr val="03C39A"/>
          </a:solidFill>
          <a:ln/>
        </p:spPr>
      </p:sp>
      <p:sp>
        <p:nvSpPr>
          <p:cNvPr id="19" name="Text 17"/>
          <p:cNvSpPr/>
          <p:nvPr/>
        </p:nvSpPr>
        <p:spPr>
          <a:xfrm>
            <a:off x="777240" y="4910328"/>
            <a:ext cx="457200" cy="457200"/>
          </a:xfrm>
          <a:prstGeom prst="rect">
            <a:avLst/>
          </a:prstGeom>
          <a:noFill/>
          <a:ln/>
        </p:spPr>
        <p:txBody>
          <a:bodyPr wrap="square" lIns="0" tIns="0" rIns="0" bIns="0" rtlCol="0" anchor="ctr"/>
          <a:lstStyle/>
          <a:p>
            <a:pPr algn="ctr" indent="0" marL="0">
              <a:buNone/>
            </a:pPr>
            <a:r>
              <a:rPr lang="en-US" sz="1700" b="1" dirty="0">
                <a:solidFill>
                  <a:srgbClr val="0A2A2F"/>
                </a:solidFill>
                <a:latin typeface="Cambria" pitchFamily="34" charset="0"/>
                <a:ea typeface="Cambria" pitchFamily="34" charset="-122"/>
                <a:cs typeface="Cambria" pitchFamily="34" charset="-120"/>
              </a:rPr>
              <a:t>5</a:t>
            </a:r>
            <a:endParaRPr lang="en-US" sz="1700" dirty="0"/>
          </a:p>
        </p:txBody>
      </p:sp>
      <p:sp>
        <p:nvSpPr>
          <p:cNvPr id="20" name="Text 18"/>
          <p:cNvSpPr/>
          <p:nvPr/>
        </p:nvSpPr>
        <p:spPr>
          <a:xfrm>
            <a:off x="1463040" y="4892040"/>
            <a:ext cx="10058400" cy="5029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A CI gate that actually blocks a regression.</a:t>
            </a:r>
            <a:endParaRPr lang="en-US" sz="1600" dirty="0"/>
          </a:p>
        </p:txBody>
      </p:sp>
      <p:sp>
        <p:nvSpPr>
          <p:cNvPr id="21" name="Text 19"/>
          <p:cNvSpPr/>
          <p:nvPr/>
        </p:nvSpPr>
        <p:spPr>
          <a:xfrm>
            <a:off x="777240" y="5989320"/>
            <a:ext cx="10515600" cy="457200"/>
          </a:xfrm>
          <a:prstGeom prst="rect">
            <a:avLst/>
          </a:prstGeom>
          <a:noFill/>
          <a:ln/>
        </p:spPr>
        <p:txBody>
          <a:bodyPr wrap="square" lIns="0" tIns="0" rIns="0" bIns="0" rtlCol="0" anchor="ctr"/>
          <a:lstStyle/>
          <a:p>
            <a:pPr indent="0" marL="0">
              <a:buNone/>
            </a:pPr>
            <a:r>
              <a:rPr lang="en-US" sz="1700" b="1" i="1" dirty="0">
                <a:solidFill>
                  <a:srgbClr val="03C39A"/>
                </a:solidFill>
                <a:latin typeface="Cambria" pitchFamily="34" charset="0"/>
                <a:ea typeface="Cambria" pitchFamily="34" charset="-122"/>
                <a:cs typeface="Cambria" pitchFamily="34" charset="-120"/>
              </a:rPr>
              <a:t>Narrower than the spec. Stronger because of it.</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2026-07-13T18:04:54Z</dcterms:created>
  <dcterms:modified xsi:type="dcterms:W3CDTF">2026-07-13T18:04:54Z</dcterms:modified>
</cp:coreProperties>
</file>